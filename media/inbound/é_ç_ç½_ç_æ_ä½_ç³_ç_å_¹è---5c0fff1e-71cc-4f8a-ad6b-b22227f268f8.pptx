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9"/>
  </p:handoutMasterIdLst>
  <p:sldIdLst>
    <p:sldId id="256" r:id="rId3"/>
    <p:sldId id="704" r:id="rId5"/>
    <p:sldId id="705" r:id="rId6"/>
    <p:sldId id="706" r:id="rId7"/>
    <p:sldId id="707" r:id="rId8"/>
    <p:sldId id="1393" r:id="rId9"/>
    <p:sldId id="1394" r:id="rId10"/>
    <p:sldId id="1395" r:id="rId11"/>
    <p:sldId id="257" r:id="rId12"/>
    <p:sldId id="258" r:id="rId13"/>
    <p:sldId id="708" r:id="rId14"/>
    <p:sldId id="259" r:id="rId15"/>
    <p:sldId id="710" r:id="rId16"/>
    <p:sldId id="711" r:id="rId17"/>
    <p:sldId id="712" r:id="rId18"/>
    <p:sldId id="713" r:id="rId19"/>
    <p:sldId id="714" r:id="rId20"/>
    <p:sldId id="715" r:id="rId21"/>
    <p:sldId id="716" r:id="rId22"/>
    <p:sldId id="717" r:id="rId23"/>
    <p:sldId id="718" r:id="rId24"/>
    <p:sldId id="719" r:id="rId25"/>
    <p:sldId id="720" r:id="rId26"/>
    <p:sldId id="721" r:id="rId27"/>
    <p:sldId id="722" r:id="rId28"/>
    <p:sldId id="723" r:id="rId29"/>
    <p:sldId id="724" r:id="rId30"/>
    <p:sldId id="725" r:id="rId31"/>
    <p:sldId id="726" r:id="rId32"/>
    <p:sldId id="727" r:id="rId33"/>
    <p:sldId id="728" r:id="rId34"/>
    <p:sldId id="730" r:id="rId35"/>
    <p:sldId id="731" r:id="rId36"/>
    <p:sldId id="732" r:id="rId37"/>
    <p:sldId id="733" r:id="rId38"/>
    <p:sldId id="737" r:id="rId39"/>
    <p:sldId id="738" r:id="rId40"/>
    <p:sldId id="739" r:id="rId41"/>
    <p:sldId id="740" r:id="rId42"/>
    <p:sldId id="741" r:id="rId43"/>
    <p:sldId id="744" r:id="rId44"/>
    <p:sldId id="745" r:id="rId45"/>
    <p:sldId id="746" r:id="rId46"/>
    <p:sldId id="747" r:id="rId47"/>
    <p:sldId id="748" r:id="rId48"/>
    <p:sldId id="749" r:id="rId49"/>
    <p:sldId id="755" r:id="rId50"/>
    <p:sldId id="756" r:id="rId51"/>
    <p:sldId id="757" r:id="rId52"/>
    <p:sldId id="1218" r:id="rId53"/>
    <p:sldId id="1292" r:id="rId54"/>
    <p:sldId id="1230" r:id="rId55"/>
    <p:sldId id="1231" r:id="rId56"/>
    <p:sldId id="1232" r:id="rId57"/>
    <p:sldId id="1233" r:id="rId58"/>
    <p:sldId id="1237" r:id="rId59"/>
    <p:sldId id="1238" r:id="rId60"/>
    <p:sldId id="1397" r:id="rId61"/>
    <p:sldId id="1239" r:id="rId62"/>
    <p:sldId id="1240" r:id="rId63"/>
    <p:sldId id="1241" r:id="rId64"/>
    <p:sldId id="1243" r:id="rId65"/>
    <p:sldId id="1293" r:id="rId66"/>
    <p:sldId id="1294" r:id="rId67"/>
    <p:sldId id="1295" r:id="rId68"/>
    <p:sldId id="1296" r:id="rId69"/>
    <p:sldId id="1297" r:id="rId70"/>
    <p:sldId id="1398" r:id="rId71"/>
    <p:sldId id="1299" r:id="rId72"/>
    <p:sldId id="1304" r:id="rId73"/>
    <p:sldId id="1305" r:id="rId74"/>
    <p:sldId id="1306" r:id="rId75"/>
    <p:sldId id="1307" r:id="rId76"/>
    <p:sldId id="1309" r:id="rId77"/>
    <p:sldId id="1400" r:id="rId78"/>
    <p:sldId id="1401" r:id="rId79"/>
    <p:sldId id="1403" r:id="rId80"/>
    <p:sldId id="1330" r:id="rId81"/>
    <p:sldId id="1359" r:id="rId82"/>
    <p:sldId id="1360" r:id="rId83"/>
    <p:sldId id="1361" r:id="rId84"/>
    <p:sldId id="1363" r:id="rId85"/>
    <p:sldId id="1385" r:id="rId86"/>
    <p:sldId id="1387" r:id="rId87"/>
    <p:sldId id="1389" r:id="rId88"/>
  </p:sldIdLst>
  <p:sldSz cx="12192000" cy="6858000"/>
  <p:notesSz cx="6858000" cy="9144000"/>
  <p:custDataLst>
    <p:tags r:id="rId9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导言" id="{41086f0c-d2df-412c-a522-5698c8054346}">
          <p14:sldIdLst>
            <p14:sldId id="256"/>
            <p14:sldId id="704"/>
            <p14:sldId id="705"/>
            <p14:sldId id="706"/>
            <p14:sldId id="707"/>
            <p14:sldId id="1393"/>
            <p14:sldId id="1394"/>
            <p14:sldId id="1395"/>
            <p14:sldId id="257"/>
          </p14:sldIdLst>
        </p14:section>
        <p14:section name="一、认识操作系统" id="{91019c44-a818-4007-97e3-8ddc94e0e715}">
          <p14:sldIdLst>
            <p14:sldId id="258"/>
            <p14:sldId id="708"/>
            <p14:sldId id="259"/>
            <p14:sldId id="710"/>
            <p14:sldId id="711"/>
            <p14:sldId id="712"/>
            <p14:sldId id="713"/>
            <p14:sldId id="714"/>
            <p14:sldId id="715"/>
            <p14:sldId id="716"/>
            <p14:sldId id="717"/>
            <p14:sldId id="718"/>
            <p14:sldId id="719"/>
            <p14:sldId id="720"/>
            <p14:sldId id="721"/>
            <p14:sldId id="722"/>
            <p14:sldId id="723"/>
            <p14:sldId id="724"/>
            <p14:sldId id="725"/>
            <p14:sldId id="726"/>
            <p14:sldId id="727"/>
            <p14:sldId id="728"/>
            <p14:sldId id="730"/>
            <p14:sldId id="731"/>
            <p14:sldId id="732"/>
            <p14:sldId id="733"/>
            <p14:sldId id="737"/>
            <p14:sldId id="738"/>
            <p14:sldId id="739"/>
            <p14:sldId id="740"/>
            <p14:sldId id="741"/>
            <p14:sldId id="744"/>
            <p14:sldId id="745"/>
            <p14:sldId id="746"/>
            <p14:sldId id="747"/>
            <p14:sldId id="748"/>
            <p14:sldId id="749"/>
            <p14:sldId id="755"/>
            <p14:sldId id="756"/>
            <p14:sldId id="757"/>
            <p14:sldId id="1218"/>
            <p14:sldId id="1292"/>
          </p14:sldIdLst>
        </p14:section>
        <p14:section name="二、制作操作系统" id="{66dadf4b-d004-4cbb-b571-f0719b0c6769}">
          <p14:sldIdLst>
            <p14:sldId id="1230"/>
            <p14:sldId id="1231"/>
            <p14:sldId id="1232"/>
            <p14:sldId id="1233"/>
            <p14:sldId id="1237"/>
            <p14:sldId id="1238"/>
            <p14:sldId id="1397"/>
            <p14:sldId id="1239"/>
            <p14:sldId id="1240"/>
            <p14:sldId id="1241"/>
            <p14:sldId id="1243"/>
            <p14:sldId id="1293"/>
            <p14:sldId id="1294"/>
            <p14:sldId id="1295"/>
            <p14:sldId id="1296"/>
            <p14:sldId id="1297"/>
            <p14:sldId id="1398"/>
            <p14:sldId id="1299"/>
            <p14:sldId id="1304"/>
            <p14:sldId id="1305"/>
            <p14:sldId id="1306"/>
            <p14:sldId id="1307"/>
            <p14:sldId id="1309"/>
            <p14:sldId id="1400"/>
            <p14:sldId id="1401"/>
            <p14:sldId id="1403"/>
            <p14:sldId id="1330"/>
          </p14:sldIdLst>
        </p14:section>
        <p14:section name="总结" id="{05a1697c-d199-4107-942e-cce80a61779f}">
          <p14:sldIdLst>
            <p14:sldId id="1359"/>
            <p14:sldId id="1360"/>
            <p14:sldId id="1361"/>
            <p14:sldId id="1363"/>
            <p14:sldId id="1385"/>
            <p14:sldId id="1387"/>
            <p14:sldId id="1389"/>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ng li" initials="pl" lastIdx="1" clrIdx="0"/>
  <p:cmAuthor id="2" name="shixiangyu 12339" initials="s1" lastIdx="0" clrIdx="1"/>
  <p:cmAuthor id="3" name="作者"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A74A773-6059-4204-BF6B-9DAADE4EBD58}" styleName="表样式 1 25">
    <a:wholeTbl>
      <a:tcTxStyle>
        <a:fontRef idx="none">
          <a:srgbClr val="000000"/>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rgbClr val="FFFFFF"/>
          </a:solidFill>
        </a:fill>
      </a:tcStyle>
    </a:wholeTbl>
    <a:band2H>
      <a:tcStyle>
        <a:tcBdr/>
        <a:fill>
          <a:solidFill>
            <a:schemeClr val="accent1">
              <a:lumMod val="10000"/>
              <a:lumOff val="90000"/>
            </a:schemeClr>
          </a:solidFill>
        </a:fill>
      </a:tcStyle>
    </a:band2H>
    <a:band1V>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accent1">
              <a:lumMod val="10000"/>
              <a:lumOff val="90000"/>
            </a:schemeClr>
          </a:solidFill>
        </a:fill>
      </a:tcStyle>
    </a:band1V>
    <a:band2V>
      <a:tcStyle>
        <a:tcBdr>
          <a:left>
            <a:ln w="9525" cmpd="sng">
              <a:solidFill>
                <a:schemeClr val="accent1">
                  <a:lumMod val="40000"/>
                  <a:lumOff val="60000"/>
                </a:schemeClr>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TxStyle b="on">
        <a:fontRef idx="none">
          <a:schemeClr val="accent1"/>
        </a:fontRef>
      </a:tcTxStyle>
      <a:tcStyle>
        <a:tcBdr>
          <a:left>
            <a:ln w="9525" cmpd="sng">
              <a:solidFill>
                <a:schemeClr val="accent1"/>
              </a:solidFill>
              <a:prstDash val="solid"/>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tblStyle>
  <a:tblStyle styleId="{B4426546-50C7-4A87-ACC4-B299252A99B3}" styleName="表样式 1 25">
    <a:wholeTbl>
      <a:tcTxStyle>
        <a:fontRef idx="none">
          <a:srgbClr val="000000"/>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34000"/>
                  <a:lumOff val="66000"/>
                </a:srgbClr>
              </a:solidFill>
              <a:prstDash val="solid"/>
            </a:ln>
          </a:insideH>
          <a:insideV>
            <a:ln w="9525" cmpd="sng">
              <a:solidFill>
                <a:srgbClr val="00B0F0">
                  <a:lumMod val="34000"/>
                  <a:lumOff val="66000"/>
                </a:srgbClr>
              </a:solidFill>
              <a:prstDash val="solid"/>
            </a:ln>
          </a:insideV>
        </a:tcBdr>
        <a:fill>
          <a:solidFill>
            <a:srgbClr val="FFFFFF"/>
          </a:solidFill>
        </a:fill>
      </a:tcStyle>
    </a:wholeTbl>
    <a:band2H>
      <a:tcTxStyle>
        <a:fontRef idx="none">
          <a:srgbClr val="08090C"/>
        </a:fontRef>
      </a:tcTxStyle>
      <a:tcStyle>
        <a:tcBdr/>
        <a:fill>
          <a:solidFill>
            <a:srgbClr val="00B0F0">
              <a:lumMod val="10000"/>
              <a:lumOff val="90000"/>
            </a:srgbClr>
          </a:solidFill>
        </a:fill>
      </a:tcStyle>
    </a:band2H>
    <a:band1V>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w="9525" cmpd="sng">
              <a:solidFill>
                <a:srgbClr val="00B0F0">
                  <a:lumMod val="40000"/>
                  <a:lumOff val="60000"/>
                </a:srgbClr>
              </a:solidFill>
              <a:prstDash val="solid"/>
            </a:ln>
          </a:insideV>
        </a:tcBdr>
        <a:fill>
          <a:solidFill>
            <a:srgbClr val="00B0F0">
              <a:lumMod val="10000"/>
              <a:lumOff val="90000"/>
            </a:srgbClr>
          </a:solidFill>
        </a:fill>
      </a:tcStyle>
    </a:band1V>
    <a:band2V>
      <a:tcStyle>
        <a:tcBdr>
          <a:left>
            <a:ln w="9525" cmpd="sng">
              <a:solidFill>
                <a:srgbClr val="00B0F0">
                  <a:lumMod val="40000"/>
                  <a:lumOff val="60000"/>
                </a:srgbClr>
              </a:solidFill>
              <a:prstDash val="solid"/>
            </a:ln>
          </a:left>
          <a:right>
            <a:ln w="9525" cmpd="sng">
              <a:solidFill>
                <a:srgbClr val="00B0F0">
                  <a:lumMod val="40000"/>
                  <a:lumOff val="60000"/>
                </a:srgbClr>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a:noFill/>
            </a:ln>
          </a:insideV>
        </a:tcBdr>
      </a:tcStyle>
    </a:band2V>
    <a:lastCol>
      <a:tcTxStyle b="on">
        <a:fontRef idx="none">
          <a:srgbClr val="08090C"/>
        </a:fontRef>
      </a:tcTxStyle>
      <a:tcStyle>
        <a:tcBdr>
          <a:left>
            <a:ln w="9525" cmpd="sng">
              <a:solidFill>
                <a:srgbClr val="00B0F0">
                  <a:lumMod val="34000"/>
                  <a:lumOff val="66000"/>
                </a:srgbClr>
              </a:solidFill>
              <a:prstDash val="solid"/>
            </a:ln>
          </a:left>
          <a:right>
            <a:ln w="9525" cmpd="sng">
              <a:solidFill>
                <a:srgbClr val="00B0F0"/>
              </a:solidFill>
              <a:prstDash val="solid"/>
            </a:ln>
          </a:right>
          <a:top>
            <a:ln w="9525" cmpd="sng">
              <a:solidFill>
                <a:srgbClr val="00B0F0">
                  <a:lumMod val="34000"/>
                  <a:lumOff val="66000"/>
                </a:srgbClr>
              </a:solidFill>
              <a:prstDash val="solid"/>
            </a:ln>
          </a:top>
          <a:bottom>
            <a:ln w="9525" cmpd="sng">
              <a:solidFill>
                <a:srgbClr val="00B0F0"/>
              </a:solidFill>
              <a:prstDash val="solid"/>
            </a:ln>
          </a:bottom>
          <a:insideH>
            <a:ln w="9525" cmpd="sng">
              <a:solidFill>
                <a:srgbClr val="00B0F0">
                  <a:lumMod val="34000"/>
                  <a:lumOff val="66000"/>
                </a:srgbClr>
              </a:solidFill>
              <a:prstDash val="solid"/>
            </a:ln>
          </a:insideH>
          <a:insideV>
            <a:ln>
              <a:noFill/>
            </a:ln>
          </a:insideV>
        </a:tcBdr>
        <a:fill>
          <a:solidFill>
            <a:srgbClr val="FFFFFF"/>
          </a:solidFill>
        </a:fill>
      </a:tcStyle>
    </a:lastCol>
    <a:firstCol>
      <a:tcTxStyle b="on">
        <a:fontRef idx="none">
          <a:srgbClr val="08090C"/>
        </a:fontRef>
      </a:tcTxStyle>
      <a:tcStyle>
        <a:tcBdr>
          <a:left>
            <a:ln w="9525" cmpd="sng">
              <a:solidFill>
                <a:srgbClr val="00B0F0"/>
              </a:solidFill>
              <a:prstDash val="solid"/>
            </a:ln>
          </a:left>
          <a:right>
            <a:ln w="9525" cmpd="sng">
              <a:solidFill>
                <a:srgbClr val="00B0F0">
                  <a:lumMod val="34000"/>
                  <a:lumOff val="66000"/>
                </a:srgbClr>
              </a:solidFill>
              <a:prstDash val="solid"/>
            </a:ln>
          </a:right>
          <a:top>
            <a:ln w="9525" cmpd="sng">
              <a:solidFill>
                <a:srgbClr val="00B0F0">
                  <a:lumMod val="34000"/>
                  <a:lumOff val="66000"/>
                </a:srgbClr>
              </a:solidFill>
              <a:prstDash val="solid"/>
            </a:ln>
          </a:top>
          <a:bottom>
            <a:ln w="9525" cmpd="sng">
              <a:solidFill>
                <a:srgbClr val="00B0F0"/>
              </a:solidFill>
              <a:prstDash val="solid"/>
            </a:ln>
          </a:bottom>
          <a:insideH>
            <a:ln w="9525" cmpd="sng">
              <a:solidFill>
                <a:srgbClr val="00B0F0">
                  <a:lumMod val="34000"/>
                  <a:lumOff val="66000"/>
                </a:srgbClr>
              </a:solidFill>
              <a:prstDash val="solid"/>
            </a:ln>
          </a:insideH>
          <a:insideV>
            <a:ln>
              <a:noFill/>
            </a:ln>
          </a:insideV>
        </a:tcBdr>
        <a:fill>
          <a:solidFill>
            <a:srgbClr val="FFFFFF"/>
          </a:solidFill>
        </a:fill>
      </a:tcStyle>
    </a:firstCol>
    <a:lastRow>
      <a:tcTxStyle b="on">
        <a:fontRef idx="none">
          <a:srgbClr val="08090C"/>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lastRow>
    <a:seCell>
      <a:tcStyle>
        <a:tcBdr>
          <a:left>
            <a:ln>
              <a:noFill/>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seCell>
    <a:swCell>
      <a:tcTxStyle b="on">
        <a:fontRef idx="none">
          <a:srgbClr val="00B0F0"/>
        </a:fontRef>
      </a:tcTxStyle>
      <a:tcStyle>
        <a:tcBdr>
          <a:left>
            <a:ln w="9525" cmpd="sng">
              <a:solidFill>
                <a:srgbClr val="00B0F0"/>
              </a:solidFill>
              <a:prstDash val="solid"/>
            </a:ln>
          </a:left>
          <a:right>
            <a:ln>
              <a:noFill/>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swCell>
    <a:firstRow>
      <a:tcTxStyle b="on">
        <a:fontRef idx="none">
          <a:srgbClr val="08090C"/>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lumMod val="34000"/>
                  <a:lumOff val="66000"/>
                </a:srgbClr>
              </a:solidFill>
              <a:prstDash val="solid"/>
            </a:ln>
          </a:bottom>
          <a:insideH>
            <a:ln>
              <a:noFill/>
            </a:ln>
          </a:insideH>
          <a:insideV>
            <a:ln w="9525" cmpd="sng">
              <a:solidFill>
                <a:srgbClr val="FFFFFF"/>
              </a:solidFill>
              <a:prstDash val="solid"/>
            </a:ln>
          </a:insideV>
        </a:tcBdr>
        <a:fill>
          <a:solidFill>
            <a:srgbClr val="00B0F0">
              <a:lumMod val="20000"/>
              <a:lumOff val="8000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225" y="5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4" Type="http://schemas.openxmlformats.org/officeDocument/2006/relationships/tags" Target="tags/tag7.xml"/><Relationship Id="rId93" Type="http://schemas.openxmlformats.org/officeDocument/2006/relationships/commentAuthors" Target="commentAuthors.xml"/><Relationship Id="rId92" Type="http://schemas.openxmlformats.org/officeDocument/2006/relationships/tableStyles" Target="tableStyles.xml"/><Relationship Id="rId91" Type="http://schemas.openxmlformats.org/officeDocument/2006/relationships/viewProps" Target="viewProps.xml"/><Relationship Id="rId90" Type="http://schemas.openxmlformats.org/officeDocument/2006/relationships/presProps" Target="presProps.xml"/><Relationship Id="rId9" Type="http://schemas.openxmlformats.org/officeDocument/2006/relationships/slide" Target="slides/slide6.xml"/><Relationship Id="rId89" Type="http://schemas.openxmlformats.org/officeDocument/2006/relationships/handoutMaster" Target="handoutMasters/handoutMaster1.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61A97CE-7611-4E19-9D13-52C49FE31129}" type="doc">
      <dgm:prSet csTypeId="urn:microsoft.com/office/officeart/2005/8/colors/accent1_2"/>
      <dgm:spPr/>
      <dgm:t>
        <a:bodyPr/>
        <a:p>
          <a:endParaRPr altLang="en-US"/>
        </a:p>
      </dgm:t>
    </dgm:pt>
    <dgm:pt modelId="{D3ED0D72-B0B6-42AE-8D1C-A090165FD4F8}">
      <dgm:prSet phldr="0" custT="0"/>
      <dgm:spPr/>
      <dgm:t>
        <a:bodyPr vert="horz" wrap="square"/>
        <a:p>
          <a:pPr algn="ctr">
            <a:lnSpc>
              <a:spcPct val="100000"/>
            </a:lnSpc>
            <a:spcBef>
              <a:spcPct val="0"/>
            </a:spcBef>
            <a:spcAft>
              <a:spcPct val="35000"/>
            </a:spcAft>
          </a:pPr>
          <a:r>
            <a:rPr lang="zh-CN" b="1" i="0" u="none" baseline="0">
              <a:solidFill>
                <a:srgbClr val="FF0000"/>
              </a:solidFill>
              <a:latin typeface="微软雅黑" panose="020B0503020204020204" pitchFamily="34" charset="-122"/>
              <a:ea typeface="微软雅黑" panose="020B0503020204020204" pitchFamily="34" charset="-122"/>
              <a:rtl val="0"/>
            </a:rPr>
            <a:t>行政子系统</a:t>
          </a:r>
          <a:r>
            <a:rPr lang="zh-CN" altLang="en-US" b="1" i="0" u="none" baseline="0">
              <a:solidFill>
                <a:srgbClr val="FF0000"/>
              </a:solidFill>
              <a:latin typeface="微软雅黑" panose="020B0503020204020204" pitchFamily="34" charset="-122"/>
              <a:ea typeface="微软雅黑" panose="020B0503020204020204" pitchFamily="34" charset="-122"/>
              <a:rtl val="0"/>
            </a:rPr>
            <a:t/>
          </a:r>
          <a:endParaRPr lang="zh-CN" altLang="en-US" b="1" i="0" u="none" baseline="0">
            <a:solidFill>
              <a:srgbClr val="FF0000"/>
            </a:solidFill>
            <a:latin typeface="微软雅黑" panose="020B0503020204020204" pitchFamily="34" charset="-122"/>
            <a:ea typeface="微软雅黑" panose="020B0503020204020204" pitchFamily="34" charset="-122"/>
            <a:rtl val="0"/>
          </a:endParaRPr>
        </a:p>
      </dgm:t>
    </dgm:pt>
    <dgm:pt modelId="{A4F33A58-5FD5-4003-B920-EFFDB5868C79}" cxnId="{A9026254-3923-4770-B3F5-E2445DF0F0B4}" type="parTrans">
      <dgm:prSet/>
      <dgm:spPr/>
    </dgm:pt>
    <dgm:pt modelId="{C3E20CE8-14CB-43AD-8800-A38269CEBC80}" cxnId="{A9026254-3923-4770-B3F5-E2445DF0F0B4}" type="sibTrans">
      <dgm:prSet/>
      <dgm:spPr/>
    </dgm:pt>
    <dgm:pt modelId="{4B1B0835-403A-42A8-93CB-6DCF59A6A409}">
      <dgm:prSet phldr="0" custT="0"/>
      <dgm:spPr/>
      <dgm:t>
        <a:bodyPr vert="horz" wrap="square"/>
        <a:p>
          <a:pPr algn="ctr">
            <a:lnSpc>
              <a:spcPct val="100000"/>
            </a:lnSpc>
            <a:spcBef>
              <a:spcPct val="0"/>
            </a:spcBef>
            <a:spcAft>
              <a:spcPct val="15000"/>
            </a:spcAft>
          </a:pPr>
          <a:r>
            <a:rPr lang="zh-CN" altLang="en-US">
              <a:solidFill>
                <a:srgbClr val="FF0000"/>
              </a:solidFill>
              <a:latin typeface="微软雅黑" panose="020B0503020204020204" pitchFamily="34" charset="-122"/>
              <a:ea typeface="微软雅黑" panose="020B0503020204020204" pitchFamily="34" charset="-122"/>
            </a:rPr>
            <a:t>行政办公</a:t>
          </a:r>
          <a:r>
            <a:rPr lang="zh-CN" altLang="en-US">
              <a:solidFill>
                <a:srgbClr val="FF0000"/>
              </a:solidFill>
              <a:latin typeface="微软雅黑" panose="020B0503020204020204" pitchFamily="34" charset="-122"/>
              <a:ea typeface="微软雅黑" panose="020B0503020204020204" pitchFamily="34" charset="-122"/>
            </a:rPr>
            <a:t/>
          </a:r>
          <a:endParaRPr lang="zh-CN" altLang="en-US">
            <a:solidFill>
              <a:srgbClr val="FF0000"/>
            </a:solidFill>
            <a:latin typeface="微软雅黑" panose="020B0503020204020204" pitchFamily="34" charset="-122"/>
            <a:ea typeface="微软雅黑" panose="020B0503020204020204" pitchFamily="34" charset="-122"/>
          </a:endParaRPr>
        </a:p>
      </dgm:t>
    </dgm:pt>
    <dgm:pt modelId="{F860E925-AE4F-407E-815D-09F75A064B80}" cxnId="{A2A6FE51-4FAC-4BBD-A1B2-17D39B4D3E21}" type="parTrans">
      <dgm:prSet/>
      <dgm:spPr/>
    </dgm:pt>
    <dgm:pt modelId="{C11D9B2E-47A0-4816-B048-C671EE39057D}" cxnId="{A2A6FE51-4FAC-4BBD-A1B2-17D39B4D3E21}" type="sibTrans">
      <dgm:prSet/>
      <dgm:spPr/>
    </dgm:pt>
    <dgm:pt modelId="{E7578B92-2E46-4E80-B4CC-41F8102680CC}">
      <dgm:prSet phldr="0" custT="0"/>
      <dgm:spPr/>
      <dgm:t>
        <a:bodyPr vert="horz" wrap="square"/>
        <a:p>
          <a:pPr algn="ctr">
            <a:lnSpc>
              <a:spcPct val="100000"/>
            </a:lnSpc>
            <a:spcBef>
              <a:spcPct val="0"/>
            </a:spcBef>
            <a:spcAft>
              <a:spcPct val="15000"/>
            </a:spcAft>
          </a:pPr>
          <a:r>
            <a:rPr lang="zh-CN" altLang="en-US">
              <a:solidFill>
                <a:srgbClr val="FF0000"/>
              </a:solidFill>
              <a:latin typeface="微软雅黑" panose="020B0503020204020204" pitchFamily="34" charset="-122"/>
              <a:ea typeface="微软雅黑" panose="020B0503020204020204" pitchFamily="34" charset="-122"/>
            </a:rPr>
            <a:t>人事管理</a:t>
          </a:r>
          <a:r>
            <a:rPr lang="zh-CN" altLang="en-US">
              <a:solidFill>
                <a:srgbClr val="FF0000"/>
              </a:solidFill>
              <a:latin typeface="微软雅黑" panose="020B0503020204020204" pitchFamily="34" charset="-122"/>
              <a:ea typeface="微软雅黑" panose="020B0503020204020204" pitchFamily="34" charset="-122"/>
            </a:rPr>
            <a:t/>
          </a:r>
          <a:endParaRPr lang="zh-CN" altLang="en-US">
            <a:solidFill>
              <a:srgbClr val="FF0000"/>
            </a:solidFill>
            <a:latin typeface="微软雅黑" panose="020B0503020204020204" pitchFamily="34" charset="-122"/>
            <a:ea typeface="微软雅黑" panose="020B0503020204020204" pitchFamily="34" charset="-122"/>
          </a:endParaRPr>
        </a:p>
      </dgm:t>
    </dgm:pt>
    <dgm:pt modelId="{9064C4FD-92C0-4627-B9BD-0E7641466C2D}" cxnId="{AD972C3B-AAE9-49E2-A705-7065CFCE7E01}" type="parTrans">
      <dgm:prSet/>
      <dgm:spPr/>
    </dgm:pt>
    <dgm:pt modelId="{68E8847B-5EE9-4660-AF16-EF5BA8595A77}" cxnId="{AD972C3B-AAE9-49E2-A705-7065CFCE7E01}" type="sibTrans">
      <dgm:prSet/>
      <dgm:spPr/>
    </dgm:pt>
    <dgm:pt modelId="{51DA243B-84DA-4720-BEDC-EE3F6BEA72B8}">
      <dgm:prSet phldr="0" custT="0"/>
      <dgm:spPr/>
      <dgm:t>
        <a:bodyPr vert="horz" wrap="square"/>
        <a:p>
          <a:pPr algn="ctr">
            <a:lnSpc>
              <a:spcPct val="100000"/>
            </a:lnSpc>
            <a:spcBef>
              <a:spcPct val="0"/>
            </a:spcBef>
            <a:spcAft>
              <a:spcPct val="15000"/>
            </a:spcAft>
          </a:pPr>
          <a:r>
            <a:rPr lang="zh-CN" altLang="en-US">
              <a:solidFill>
                <a:srgbClr val="FF0000"/>
              </a:solidFill>
              <a:latin typeface="微软雅黑" panose="020B0503020204020204" pitchFamily="34" charset="-122"/>
              <a:ea typeface="微软雅黑" panose="020B0503020204020204" pitchFamily="34" charset="-122"/>
            </a:rPr>
            <a:t>勤假管理</a:t>
          </a:r>
          <a:r>
            <a:rPr lang="zh-CN" altLang="en-US">
              <a:solidFill>
                <a:srgbClr val="FF0000"/>
              </a:solidFill>
              <a:latin typeface="微软雅黑" panose="020B0503020204020204" pitchFamily="34" charset="-122"/>
              <a:ea typeface="微软雅黑" panose="020B0503020204020204" pitchFamily="34" charset="-122"/>
            </a:rPr>
            <a:t/>
          </a:r>
          <a:endParaRPr lang="zh-CN" altLang="en-US">
            <a:solidFill>
              <a:srgbClr val="FF0000"/>
            </a:solidFill>
            <a:latin typeface="微软雅黑" panose="020B0503020204020204" pitchFamily="34" charset="-122"/>
            <a:ea typeface="微软雅黑" panose="020B0503020204020204" pitchFamily="34" charset="-122"/>
          </a:endParaRPr>
        </a:p>
      </dgm:t>
    </dgm:pt>
    <dgm:pt modelId="{10247670-A229-48B1-A8B7-003E1C091916}" cxnId="{9CB5449A-722D-4BEC-8884-F040764A3BC3}" type="parTrans">
      <dgm:prSet/>
      <dgm:spPr/>
    </dgm:pt>
    <dgm:pt modelId="{BBB2F479-C971-474A-851D-A8D0EE6BCCF6}" cxnId="{9CB5449A-722D-4BEC-8884-F040764A3BC3}" type="sibTrans">
      <dgm:prSet/>
      <dgm:spPr/>
    </dgm:pt>
    <dgm:pt modelId="{2895973B-AD8F-44F2-BC68-5584F23B68E3}">
      <dgm:prSet phldr="0" custT="0"/>
      <dgm:spPr/>
      <dgm:t>
        <a:bodyPr vert="horz" wrap="square"/>
        <a:p>
          <a:pPr algn="ctr">
            <a:lnSpc>
              <a:spcPct val="100000"/>
            </a:lnSpc>
            <a:spcBef>
              <a:spcPct val="0"/>
            </a:spcBef>
            <a:spcAft>
              <a:spcPct val="15000"/>
            </a:spcAft>
          </a:pPr>
          <a:r>
            <a:rPr lang="zh-CN" altLang="en-US">
              <a:solidFill>
                <a:srgbClr val="FF0000"/>
              </a:solidFill>
              <a:latin typeface="微软雅黑" panose="020B0503020204020204" pitchFamily="34" charset="-122"/>
              <a:ea typeface="微软雅黑" panose="020B0503020204020204" pitchFamily="34" charset="-122"/>
              <a:sym typeface="+mn-ea"/>
            </a:rPr>
            <a:t>绩效考核</a:t>
          </a:r>
          <a:r>
            <a:rPr lang="zh-CN" altLang="en-US">
              <a:solidFill>
                <a:srgbClr val="FF0000"/>
              </a:solidFill>
              <a:latin typeface="微软雅黑" panose="020B0503020204020204" pitchFamily="34" charset="-122"/>
              <a:ea typeface="微软雅黑" panose="020B0503020204020204" pitchFamily="34" charset="-122"/>
            </a:rPr>
            <a:t/>
          </a:r>
          <a:endParaRPr lang="zh-CN" altLang="en-US">
            <a:solidFill>
              <a:srgbClr val="FF0000"/>
            </a:solidFill>
            <a:latin typeface="微软雅黑" panose="020B0503020204020204" pitchFamily="34" charset="-122"/>
            <a:ea typeface="微软雅黑" panose="020B0503020204020204" pitchFamily="34" charset="-122"/>
          </a:endParaRPr>
        </a:p>
      </dgm:t>
    </dgm:pt>
    <dgm:pt modelId="{63FE57F7-AC25-4098-B510-0E0F43CDD734}" cxnId="{FBDE2298-151C-4FAB-A9A7-24B23E509EF5}" type="parTrans">
      <dgm:prSet/>
      <dgm:spPr/>
    </dgm:pt>
    <dgm:pt modelId="{59790B82-06BB-4C9B-A534-359CFAC124E8}" cxnId="{FBDE2298-151C-4FAB-A9A7-24B23E509EF5}" type="sibTrans">
      <dgm:prSet/>
      <dgm:spPr/>
    </dgm:pt>
    <dgm:pt modelId="{25751355-AD64-4A51-A8AA-30AAB10381BD}">
      <dgm:prSet phldr="0" custT="0"/>
      <dgm:spPr/>
      <dgm:t>
        <a:bodyPr vert="horz" wrap="square"/>
        <a:p>
          <a:pPr algn="ctr">
            <a:lnSpc>
              <a:spcPct val="100000"/>
            </a:lnSpc>
            <a:spcBef>
              <a:spcPct val="0"/>
            </a:spcBef>
            <a:spcAft>
              <a:spcPct val="15000"/>
            </a:spcAft>
          </a:pPr>
          <a:r>
            <a:rPr lang="zh-CN" altLang="en-US">
              <a:solidFill>
                <a:srgbClr val="FF0000"/>
              </a:solidFill>
              <a:latin typeface="微软雅黑" panose="020B0503020204020204" pitchFamily="34" charset="-122"/>
              <a:ea typeface="微软雅黑" panose="020B0503020204020204" pitchFamily="34" charset="-122"/>
            </a:rPr>
            <a:t>岗</a:t>
          </a:r>
          <a:r>
            <a:rPr lang="zh-CN" altLang="en-US">
              <a:solidFill>
                <a:srgbClr val="FF0000"/>
              </a:solidFill>
              <a:latin typeface="微软雅黑" panose="020B0503020204020204" pitchFamily="34" charset="-122"/>
              <a:ea typeface="微软雅黑" panose="020B0503020204020204" pitchFamily="34" charset="-122"/>
            </a:rPr>
            <a:t>位晋降</a:t>
          </a:r>
          <a:endParaRPr lang="zh-CN" altLang="en-US">
            <a:solidFill>
              <a:srgbClr val="FF0000"/>
            </a:solidFill>
            <a:latin typeface="微软雅黑" panose="020B0503020204020204" pitchFamily="34" charset="-122"/>
            <a:ea typeface="微软雅黑" panose="020B0503020204020204" pitchFamily="34" charset="-122"/>
          </a:endParaRPr>
        </a:p>
      </dgm:t>
    </dgm:pt>
    <dgm:pt modelId="{C3F2EE89-189B-4A63-B215-0263389D6E22}" cxnId="{5DCB185F-5C21-422B-BC38-01045DC9948C}" type="parTrans">
      <dgm:prSet/>
      <dgm:spPr/>
    </dgm:pt>
    <dgm:pt modelId="{F72CBB32-52C4-4645-8092-E8D4733ED9E6}" cxnId="{5DCB185F-5C21-422B-BC38-01045DC9948C}" type="sibTrans">
      <dgm:prSet/>
      <dgm:spPr/>
    </dgm:pt>
    <dgm:pt modelId="{49E75118-76E3-4D84-8ACC-303FF32A0B8E}">
      <dgm:prSet phldr="0" custT="0"/>
      <dgm:spPr/>
      <dgm:t>
        <a:bodyPr vert="horz" wrap="square"/>
        <a:p>
          <a:pPr algn="ctr">
            <a:lnSpc>
              <a:spcPct val="100000"/>
            </a:lnSpc>
            <a:spcBef>
              <a:spcPct val="0"/>
            </a:spcBef>
            <a:spcAft>
              <a:spcPct val="15000"/>
            </a:spcAft>
          </a:pPr>
          <a:r>
            <a:rPr lang="zh-CN" altLang="en-US">
              <a:solidFill>
                <a:srgbClr val="FF0000"/>
              </a:solidFill>
              <a:latin typeface="微软雅黑" panose="020B0503020204020204" pitchFamily="34" charset="-122"/>
              <a:ea typeface="微软雅黑" panose="020B0503020204020204" pitchFamily="34" charset="-122"/>
              <a:sym typeface="+mn-ea"/>
            </a:rPr>
            <a:t>薪酬体系</a:t>
          </a:r>
          <a:r>
            <a:rPr lang="zh-CN" altLang="en-US">
              <a:solidFill>
                <a:srgbClr val="FF0000"/>
              </a:solidFill>
              <a:latin typeface="微软雅黑" panose="020B0503020204020204" pitchFamily="34" charset="-122"/>
              <a:ea typeface="微软雅黑" panose="020B0503020204020204" pitchFamily="34" charset="-122"/>
            </a:rPr>
            <a:t/>
          </a:r>
          <a:endParaRPr lang="zh-CN" altLang="en-US">
            <a:solidFill>
              <a:srgbClr val="FF0000"/>
            </a:solidFill>
            <a:latin typeface="微软雅黑" panose="020B0503020204020204" pitchFamily="34" charset="-122"/>
            <a:ea typeface="微软雅黑" panose="020B0503020204020204" pitchFamily="34" charset="-122"/>
          </a:endParaRPr>
        </a:p>
      </dgm:t>
    </dgm:pt>
    <dgm:pt modelId="{2B7F5C1B-2A17-49CE-9484-2C0E64711C8B}" cxnId="{C680D0DC-4297-4796-A414-92E5D9068F13}" type="parTrans">
      <dgm:prSet/>
      <dgm:spPr/>
    </dgm:pt>
    <dgm:pt modelId="{36574CB1-A751-4BC9-95B9-851C16650F41}" cxnId="{C680D0DC-4297-4796-A414-92E5D9068F13}" type="sibTrans">
      <dgm:prSet/>
      <dgm:spPr/>
    </dgm:pt>
    <dgm:pt modelId="{BBBD7B96-9D49-4831-B807-ABF3553A7460}">
      <dgm:prSet phldr="0" custT="0"/>
      <dgm:spPr/>
      <dgm:t>
        <a:bodyPr vert="horz" wrap="square"/>
        <a:p>
          <a:pPr algn="ctr">
            <a:lnSpc>
              <a:spcPct val="100000"/>
            </a:lnSpc>
            <a:spcBef>
              <a:spcPct val="0"/>
            </a:spcBef>
            <a:spcAft>
              <a:spcPct val="15000"/>
            </a:spcAft>
          </a:pPr>
          <a:r>
            <a:rPr lang="zh-CN" altLang="en-US">
              <a:solidFill>
                <a:srgbClr val="FF0000"/>
              </a:solidFill>
              <a:latin typeface="微软雅黑" panose="020B0503020204020204" pitchFamily="34" charset="-122"/>
              <a:ea typeface="微软雅黑" panose="020B0503020204020204" pitchFamily="34" charset="-122"/>
            </a:rPr>
            <a:t>财务管理</a:t>
          </a:r>
          <a:r>
            <a:rPr lang="zh-CN" altLang="en-US">
              <a:solidFill>
                <a:srgbClr val="FF0000"/>
              </a:solidFill>
              <a:latin typeface="微软雅黑" panose="020B0503020204020204" pitchFamily="34" charset="-122"/>
              <a:ea typeface="微软雅黑" panose="020B0503020204020204" pitchFamily="34" charset="-122"/>
            </a:rPr>
            <a:t/>
          </a:r>
          <a:endParaRPr lang="zh-CN" altLang="en-US">
            <a:solidFill>
              <a:srgbClr val="FF0000"/>
            </a:solidFill>
            <a:latin typeface="微软雅黑" panose="020B0503020204020204" pitchFamily="34" charset="-122"/>
            <a:ea typeface="微软雅黑" panose="020B0503020204020204" pitchFamily="34" charset="-122"/>
          </a:endParaRPr>
        </a:p>
      </dgm:t>
    </dgm:pt>
    <dgm:pt modelId="{2A873640-CEDB-4426-B45D-62BEB44AD6F1}" cxnId="{E8325548-0E1A-4686-85FF-3BF4BBF7DE01}" type="parTrans">
      <dgm:prSet/>
      <dgm:spPr/>
    </dgm:pt>
    <dgm:pt modelId="{0191B9B8-9C2F-40D0-8AD5-1F0361C5F332}" cxnId="{E8325548-0E1A-4686-85FF-3BF4BBF7DE01}" type="sibTrans">
      <dgm:prSet/>
      <dgm:spPr/>
    </dgm:pt>
    <dgm:pt modelId="{66E69150-D29D-4677-9C78-9016A68466DF}">
      <dgm:prSet phldr="0" custT="0"/>
      <dgm:spPr/>
      <dgm:t>
        <a:bodyPr vert="horz" wrap="square"/>
        <a:p>
          <a:pPr algn="ctr">
            <a:lnSpc>
              <a:spcPct val="100000"/>
            </a:lnSpc>
            <a:spcBef>
              <a:spcPct val="0"/>
            </a:spcBef>
            <a:spcAft>
              <a:spcPct val="15000"/>
            </a:spcAft>
          </a:pPr>
          <a:r>
            <a:rPr lang="zh-CN" altLang="en-US">
              <a:solidFill>
                <a:srgbClr val="FF0000"/>
              </a:solidFill>
              <a:latin typeface="微软雅黑" panose="020B0503020204020204" pitchFamily="34" charset="-122"/>
              <a:ea typeface="微软雅黑" panose="020B0503020204020204" pitchFamily="34" charset="-122"/>
            </a:rPr>
            <a:t>法务合规</a:t>
          </a:r>
          <a:r>
            <a:rPr lang="zh-CN" altLang="en-US">
              <a:solidFill>
                <a:srgbClr val="FF0000"/>
              </a:solidFill>
              <a:latin typeface="微软雅黑" panose="020B0503020204020204" pitchFamily="34" charset="-122"/>
              <a:ea typeface="微软雅黑" panose="020B0503020204020204" pitchFamily="34" charset="-122"/>
            </a:rPr>
            <a:t/>
          </a:r>
          <a:endParaRPr lang="zh-CN" altLang="en-US">
            <a:solidFill>
              <a:srgbClr val="FF0000"/>
            </a:solidFill>
            <a:latin typeface="微软雅黑" panose="020B0503020204020204" pitchFamily="34" charset="-122"/>
            <a:ea typeface="微软雅黑" panose="020B0503020204020204" pitchFamily="34" charset="-122"/>
          </a:endParaRPr>
        </a:p>
      </dgm:t>
    </dgm:pt>
    <dgm:pt modelId="{FCDB210B-DF83-4C34-8886-F64F1955D85B}" cxnId="{96E531E0-F2F1-4C6D-BC7C-73C97FC84A3F}" type="parTrans">
      <dgm:prSet/>
      <dgm:spPr/>
    </dgm:pt>
    <dgm:pt modelId="{5A5CFBFC-CA9E-4AAD-81D3-BCCA7766007E}" cxnId="{96E531E0-F2F1-4C6D-BC7C-73C97FC84A3F}" type="sibTrans">
      <dgm:prSet/>
      <dgm:spPr/>
    </dgm:pt>
    <dgm:pt modelId="{45CD01F6-6AE0-4E94-8E3A-FDD2211CA20A}">
      <dgm:prSet phldr="0" custT="0"/>
      <dgm:spPr/>
      <dgm:t>
        <a:bodyPr vert="horz" wrap="square"/>
        <a:p>
          <a:pPr algn="ctr">
            <a:lnSpc>
              <a:spcPct val="100000"/>
            </a:lnSpc>
            <a:spcBef>
              <a:spcPct val="0"/>
            </a:spcBef>
            <a:spcAft>
              <a:spcPct val="35000"/>
            </a:spcAft>
          </a:pPr>
          <a:r>
            <a:rPr lang="zh-CN" b="1" i="0" u="none" baseline="0">
              <a:latin typeface="微软雅黑" panose="020B0503020204020204" pitchFamily="34" charset="-122"/>
              <a:ea typeface="微软雅黑" panose="020B0503020204020204" pitchFamily="34" charset="-122"/>
              <a:cs typeface="微软雅黑" panose="020B0503020204020204" pitchFamily="34" charset="-122"/>
              <a:rtl val="0"/>
            </a:rPr>
            <a:t>培训子系统</a:t>
          </a:r>
          <a:r>
            <a:rPr altLang="en-US">
              <a:latin typeface="微软雅黑" panose="020B0503020204020204" pitchFamily="34" charset="-122"/>
              <a:ea typeface="微软雅黑" panose="020B0503020204020204" pitchFamily="34" charset="-122"/>
              <a:cs typeface="微软雅黑" panose="020B0503020204020204" pitchFamily="34" charset="-122"/>
            </a:rPr>
            <a:t/>
          </a:r>
          <a:endParaRPr altLang="en-US">
            <a:latin typeface="微软雅黑" panose="020B0503020204020204" pitchFamily="34" charset="-122"/>
            <a:ea typeface="微软雅黑" panose="020B0503020204020204" pitchFamily="34" charset="-122"/>
            <a:cs typeface="微软雅黑" panose="020B0503020204020204" pitchFamily="34" charset="-122"/>
          </a:endParaRPr>
        </a:p>
      </dgm:t>
    </dgm:pt>
    <dgm:pt modelId="{925F376F-2C24-419E-B434-AE792D2E94A7}" cxnId="{BDA59EBC-F039-4027-BE97-FD5F0481196C}" type="parTrans">
      <dgm:prSet/>
      <dgm:spPr/>
    </dgm:pt>
    <dgm:pt modelId="{6521A401-94D3-4459-93C4-B6B0A016E6DD}" cxnId="{BDA59EBC-F039-4027-BE97-FD5F0481196C}" type="sibTrans">
      <dgm:prSet/>
      <dgm:spPr/>
    </dgm:pt>
    <dgm:pt modelId="{C9139EB5-98B0-43AE-B9D2-300335EDF52A}">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培训体系</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1FD2586C-3F8F-4A69-8450-1EB1F8D84E53}" cxnId="{6282BAA8-4FAC-4C7D-B3A5-918EA6057B54}" type="parTrans">
      <dgm:prSet/>
      <dgm:spPr/>
    </dgm:pt>
    <dgm:pt modelId="{1C5A3A90-35F2-427F-9F41-A4F8CD82582D}" cxnId="{6282BAA8-4FAC-4C7D-B3A5-918EA6057B54}" type="sibTrans">
      <dgm:prSet/>
      <dgm:spPr/>
    </dgm:pt>
    <dgm:pt modelId="{24EC0F0F-078F-4536-A001-52C8C8416202}">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入职培训</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90127DD9-A260-4571-808C-D8DC03C08D8A}" cxnId="{14F840CC-22CE-4FDE-BD7B-317D747C3012}" type="parTrans">
      <dgm:prSet/>
      <dgm:spPr/>
    </dgm:pt>
    <dgm:pt modelId="{C4022B0E-073F-45BF-BD5E-4980693AEAA5}" cxnId="{14F840CC-22CE-4FDE-BD7B-317D747C3012}" type="sibTrans">
      <dgm:prSet/>
      <dgm:spPr/>
    </dgm:pt>
    <dgm:pt modelId="{C542919F-3BB5-4FCA-BD12-7ED8C3EB4847}">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企业文化</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D74AE2BF-551B-4A8D-97C8-AF0FE9B8D91E}" cxnId="{7983BE61-E3F3-4B78-91EB-93C7E00E943A}" type="parTrans">
      <dgm:prSet/>
      <dgm:spPr/>
    </dgm:pt>
    <dgm:pt modelId="{F5408D27-D1B1-48B3-ACF4-5DF60FA3099F}" cxnId="{7983BE61-E3F3-4B78-91EB-93C7E00E943A}" type="sibTrans">
      <dgm:prSet/>
      <dgm:spPr/>
    </dgm:pt>
    <dgm:pt modelId="{B89BD599-02A6-4469-8E69-188BB3C0443C}">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基本能力</a:t>
          </a:r>
          <a:r>
            <a:rPr lang="zh-CN" b="0" i="0" u="none" baseline="0">
              <a:latin typeface="微软雅黑" panose="020B0503020204020204" pitchFamily="34" charset="-122"/>
              <a:ea typeface="微软雅黑" panose="020B0503020204020204" pitchFamily="34" charset="-122"/>
              <a:rtl val="0"/>
            </a:rPr>
            <a:t/>
          </a:r>
          <a:endParaRPr lang="zh-CN" b="0" i="0" u="none" baseline="0">
            <a:latin typeface="微软雅黑" panose="020B0503020204020204" pitchFamily="34" charset="-122"/>
            <a:ea typeface="微软雅黑" panose="020B0503020204020204" pitchFamily="34" charset="-122"/>
            <a:rtl val="0"/>
          </a:endParaRPr>
        </a:p>
      </dgm:t>
    </dgm:pt>
    <dgm:pt modelId="{FBB08291-DC5A-4718-BFDD-39B982E34471}" cxnId="{3DD848BE-7771-41F8-8ED6-4F6E50E20403}" type="parTrans">
      <dgm:prSet/>
      <dgm:spPr/>
    </dgm:pt>
    <dgm:pt modelId="{4695EF04-B2B1-41E6-AE36-98E01D09BC6D}" cxnId="{3DD848BE-7771-41F8-8ED6-4F6E50E20403}" type="sibTrans">
      <dgm:prSet/>
      <dgm:spPr/>
    </dgm:pt>
    <dgm:pt modelId="{31746FB8-EFDA-4DB7-9A69-9ACA409DB309}">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职业技能</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55DEBC46-B96F-4422-9056-947A9DAB5560}" cxnId="{A7DC40EC-EB85-46C9-B74D-0C4B44549D28}" type="parTrans">
      <dgm:prSet/>
      <dgm:spPr/>
    </dgm:pt>
    <dgm:pt modelId="{34AD3C88-8173-4827-B4A0-4F8F8993D69D}" cxnId="{A7DC40EC-EB85-46C9-B74D-0C4B44549D28}" type="sibTrans">
      <dgm:prSet/>
      <dgm:spPr/>
    </dgm:pt>
    <dgm:pt modelId="{CE15FEFD-2B70-4858-A0F2-AC6839E23753}">
      <dgm:prSet phldr="0" custT="0"/>
      <dgm:spPr/>
      <dgm:t>
        <a:bodyPr vert="horz" wrap="square"/>
        <a:p>
          <a:pPr algn="ctr">
            <a:lnSpc>
              <a:spcPct val="100000"/>
            </a:lnSpc>
            <a:spcBef>
              <a:spcPct val="0"/>
            </a:spcBef>
            <a:spcAft>
              <a:spcPct val="15000"/>
            </a:spcAft>
          </a:pPr>
          <a:r>
            <a:rPr lang="zh-CN">
              <a:latin typeface="微软雅黑" panose="020B0503020204020204" pitchFamily="34" charset="-122"/>
              <a:ea typeface="微软雅黑" panose="020B0503020204020204" pitchFamily="34" charset="-122"/>
              <a:sym typeface="+mn-ea"/>
            </a:rPr>
            <a:t>营销知识</a:t>
          </a:r>
          <a:endParaRPr lang="zh-CN">
            <a:latin typeface="微软雅黑" panose="020B0503020204020204" pitchFamily="34" charset="-122"/>
            <a:ea typeface="微软雅黑" panose="020B0503020204020204" pitchFamily="34" charset="-122"/>
            <a:sym typeface="+mn-ea"/>
          </a:endParaRPr>
        </a:p>
      </dgm:t>
    </dgm:pt>
    <dgm:pt modelId="{8C8F0A53-2CAA-4C9F-A934-52479034DB62}" cxnId="{7955C216-87E3-4F7D-840A-76994178EF0A}" type="parTrans">
      <dgm:prSet/>
      <dgm:spPr/>
    </dgm:pt>
    <dgm:pt modelId="{95FFDE23-FA28-4377-8AB7-6780C33D4A84}" cxnId="{7955C216-87E3-4F7D-840A-76994178EF0A}" type="sibTrans">
      <dgm:prSet/>
      <dgm:spPr/>
    </dgm:pt>
    <dgm:pt modelId="{D6E37AE8-6BBD-41C5-AFBB-4CBD954F4EAF}">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产品技术</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13AE6DC8-1BC2-4CE2-86FF-2367C59B89EF}" cxnId="{7EF0FE77-836D-4C9B-A69A-F60F62FF27CE}" type="parTrans">
      <dgm:prSet/>
      <dgm:spPr/>
    </dgm:pt>
    <dgm:pt modelId="{ED6DA743-79AC-461A-9EAD-3165E41ED2BD}" cxnId="{7EF0FE77-836D-4C9B-A69A-F60F62FF27CE}" type="sibTrans">
      <dgm:prSet/>
      <dgm:spPr/>
    </dgm:pt>
    <dgm:pt modelId="{EF2668A6-F2FF-4090-9684-C427292ED239}">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线上</a:t>
          </a:r>
          <a:r>
            <a:rPr lang="zh-CN" b="0" i="0" u="none" baseline="0">
              <a:latin typeface="微软雅黑" panose="020B0503020204020204" pitchFamily="34" charset="-122"/>
              <a:ea typeface="微软雅黑" panose="020B0503020204020204" pitchFamily="34" charset="-122"/>
              <a:rtl val="0"/>
            </a:rPr>
            <a:t>课程</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18F292A5-1822-43C4-BD94-63BDAA917DA4}" cxnId="{2AD57C88-C928-43FB-959C-F3482E08A74F}" type="parTrans">
      <dgm:prSet/>
      <dgm:spPr/>
    </dgm:pt>
    <dgm:pt modelId="{49636957-338D-4F8F-BCDA-DB6BD69BFB7C}" cxnId="{2AD57C88-C928-43FB-959C-F3482E08A74F}" type="sibTrans">
      <dgm:prSet/>
      <dgm:spPr/>
    </dgm:pt>
    <dgm:pt modelId="{63E93711-9FF5-4E84-A4FC-7A4FCDAA55AD}">
      <dgm:prSet phldr="0" custT="0"/>
      <dgm:spPr/>
      <dgm:t>
        <a:bodyPr vert="horz" wrap="square"/>
        <a:p>
          <a:pPr algn="ctr">
            <a:lnSpc>
              <a:spcPct val="100000"/>
            </a:lnSpc>
            <a:spcBef>
              <a:spcPct val="0"/>
            </a:spcBef>
            <a:spcAft>
              <a:spcPct val="35000"/>
            </a:spcAft>
          </a:pPr>
          <a:r>
            <a:rPr lang="zh-CN" b="1" i="0" u="none" baseline="0">
              <a:latin typeface="微软雅黑" panose="020B0503020204020204" pitchFamily="34" charset="-122"/>
              <a:ea typeface="微软雅黑" panose="020B0503020204020204" pitchFamily="34" charset="-122"/>
              <a:cs typeface="微软雅黑" panose="020B0503020204020204" pitchFamily="34" charset="-122"/>
              <a:rtl val="0"/>
            </a:rPr>
            <a:t>服务子系统</a:t>
          </a:r>
          <a:r>
            <a:rPr altLang="en-US">
              <a:latin typeface="微软雅黑" panose="020B0503020204020204" pitchFamily="34" charset="-122"/>
              <a:ea typeface="微软雅黑" panose="020B0503020204020204" pitchFamily="34" charset="-122"/>
              <a:cs typeface="微软雅黑" panose="020B0503020204020204" pitchFamily="34" charset="-122"/>
            </a:rPr>
            <a:t/>
          </a:r>
          <a:endParaRPr altLang="en-US">
            <a:latin typeface="微软雅黑" panose="020B0503020204020204" pitchFamily="34" charset="-122"/>
            <a:ea typeface="微软雅黑" panose="020B0503020204020204" pitchFamily="34" charset="-122"/>
            <a:cs typeface="微软雅黑" panose="020B0503020204020204" pitchFamily="34" charset="-122"/>
          </a:endParaRPr>
        </a:p>
      </dgm:t>
    </dgm:pt>
    <dgm:pt modelId="{393D24EE-7B3A-4E66-A46B-DF04C4B4C72B}" cxnId="{4719A3A0-2D62-4FA6-B0F1-151173422F31}" type="parTrans">
      <dgm:prSet/>
      <dgm:spPr/>
    </dgm:pt>
    <dgm:pt modelId="{97CC500E-B6EE-4269-B1D8-A855718B1B21}" cxnId="{4719A3A0-2D62-4FA6-B0F1-151173422F31}" type="sibTrans">
      <dgm:prSet/>
      <dgm:spPr/>
    </dgm:pt>
    <dgm:pt modelId="{168B080E-7C6E-4FC3-8F6A-69F11C96824C}">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服务产品</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3B72D541-DAF8-4C72-BC66-6EE49DBC705A}" cxnId="{31ED8488-0246-4E0C-BA8E-E4726C8BDE2E}" type="parTrans">
      <dgm:prSet/>
      <dgm:spPr/>
    </dgm:pt>
    <dgm:pt modelId="{5230C123-1C72-4966-A3B7-8ED461A07DAE}" cxnId="{31ED8488-0246-4E0C-BA8E-E4726C8BDE2E}" type="sibTrans">
      <dgm:prSet/>
      <dgm:spPr/>
    </dgm:pt>
    <dgm:pt modelId="{38550054-F1D4-465F-B8FB-D9CC1B26D516}">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服务标准</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E4B7C2F1-B10D-45C8-9645-EEDF80FA754F}" cxnId="{E1BC265E-2561-45B0-87EF-B4A6A0679070}" type="parTrans">
      <dgm:prSet/>
      <dgm:spPr/>
    </dgm:pt>
    <dgm:pt modelId="{0B2E70EE-350D-431F-A5D6-D2BB4DFA7499}" cxnId="{E1BC265E-2561-45B0-87EF-B4A6A0679070}" type="sibTrans">
      <dgm:prSet/>
      <dgm:spPr/>
    </dgm:pt>
    <dgm:pt modelId="{33E79BF2-352A-47EE-BD59-8284C95D9C3E}">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服务质量</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6024CA2E-8779-4210-97E2-5BF73F916F03}" cxnId="{A2969597-7333-4964-9CF0-ACE6DB2C82BF}" type="parTrans">
      <dgm:prSet/>
      <dgm:spPr/>
    </dgm:pt>
    <dgm:pt modelId="{C4289377-0B05-4869-B07E-F1F9E83F1148}" cxnId="{A2969597-7333-4964-9CF0-ACE6DB2C82BF}" type="sibTrans">
      <dgm:prSet/>
      <dgm:spPr/>
    </dgm:pt>
    <dgm:pt modelId="{11CE2481-A0DF-48CE-BFC3-EF7413DEC662}">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服务优化</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24C4523D-F07B-456C-B9FF-8D73DA52FE4C}" cxnId="{B5C4A99D-AE1C-48ED-BEA4-8AD0D062BE79}" type="parTrans">
      <dgm:prSet/>
      <dgm:spPr/>
    </dgm:pt>
    <dgm:pt modelId="{1F46E794-6E97-44C4-ACDD-E9E805312222}" cxnId="{B5C4A99D-AE1C-48ED-BEA4-8AD0D062BE79}" type="sibTrans">
      <dgm:prSet/>
      <dgm:spPr/>
    </dgm:pt>
    <dgm:pt modelId="{F68AA8B9-528C-4494-A00D-857CFDEF4348}">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产品调试</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18DC343F-59D4-49DB-9BCF-FE2E33EF601D}" cxnId="{AD78358C-43E5-4C1C-8AB7-9843E6699136}" type="parTrans">
      <dgm:prSet/>
      <dgm:spPr/>
    </dgm:pt>
    <dgm:pt modelId="{311253B8-FA1A-45F2-871B-FEFF5789EFE8}" cxnId="{AD78358C-43E5-4C1C-8AB7-9843E6699136}" type="sibTrans">
      <dgm:prSet/>
      <dgm:spPr/>
    </dgm:pt>
    <dgm:pt modelId="{F12F1A09-41A8-44BB-96F5-308EE81D0492}">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维保处理</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D68CFA24-F15A-4932-A800-DD778D541010}" cxnId="{F000AB10-5245-4DE5-B04F-113BCD293C8B}" type="parTrans">
      <dgm:prSet/>
      <dgm:spPr/>
    </dgm:pt>
    <dgm:pt modelId="{8D522412-3A86-4D4F-A817-1413C4CD06B1}" cxnId="{F000AB10-5245-4DE5-B04F-113BCD293C8B}" type="sibTrans">
      <dgm:prSet/>
      <dgm:spPr/>
    </dgm:pt>
    <dgm:pt modelId="{B854FB7C-E092-4D6E-80D7-2396CBE73DEC}">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施工服务</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484A49B2-EC6E-4C42-A7E7-4DBBB87E52D6}" cxnId="{A71FD01B-67CD-4A2D-AE8F-22D5C4118074}" type="parTrans">
      <dgm:prSet/>
      <dgm:spPr/>
    </dgm:pt>
    <dgm:pt modelId="{BF9DFB32-0FE5-4369-861F-2F613FEABA2E}" cxnId="{A71FD01B-67CD-4A2D-AE8F-22D5C4118074}" type="sibTrans">
      <dgm:prSet/>
      <dgm:spPr/>
    </dgm:pt>
    <dgm:pt modelId="{605B6C36-C3D2-4790-965D-E88123BFAAFB}">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运维服务</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678C19BD-D8E0-4686-BADA-37FCCA820BB4}" cxnId="{5E5B7B4B-CFED-4D8B-93D3-207878125B6A}" type="parTrans">
      <dgm:prSet/>
      <dgm:spPr/>
    </dgm:pt>
    <dgm:pt modelId="{9BBCE215-6221-4E67-8120-AEE600FA4906}" cxnId="{5E5B7B4B-CFED-4D8B-93D3-207878125B6A}" type="sibTrans">
      <dgm:prSet/>
      <dgm:spPr/>
    </dgm:pt>
    <dgm:pt modelId="{8954BC34-54AB-4EF8-9EF0-EE3D925E484E}">
      <dgm:prSet phldr="0" custT="0"/>
      <dgm:spPr/>
      <dgm:t>
        <a:bodyPr vert="horz" wrap="square"/>
        <a:p>
          <a:pPr algn="ctr">
            <a:lnSpc>
              <a:spcPct val="100000"/>
            </a:lnSpc>
            <a:spcBef>
              <a:spcPct val="0"/>
            </a:spcBef>
            <a:spcAft>
              <a:spcPct val="35000"/>
            </a:spcAft>
          </a:pPr>
          <a:r>
            <a:rPr lang="zh-CN" b="1" i="0" u="none" baseline="0">
              <a:solidFill>
                <a:srgbClr val="FF0000"/>
              </a:solidFill>
              <a:latin typeface="微软雅黑" panose="020B0503020204020204" pitchFamily="34" charset="-122"/>
              <a:ea typeface="微软雅黑" panose="020B0503020204020204" pitchFamily="34" charset="-122"/>
              <a:cs typeface="微软雅黑" panose="020B0503020204020204" pitchFamily="34" charset="-122"/>
              <a:rtl val="0"/>
            </a:rPr>
            <a:t>营销子系统</a:t>
          </a:r>
          <a:r>
            <a:rPr lang="zh-CN" altLang="en-US" b="1" i="0" u="none" baseline="0">
              <a:solidFill>
                <a:srgbClr val="FF0000"/>
              </a:solidFill>
              <a:latin typeface="微软雅黑" panose="020B0503020204020204" pitchFamily="34" charset="-122"/>
              <a:ea typeface="微软雅黑" panose="020B0503020204020204" pitchFamily="34" charset="-122"/>
              <a:cs typeface="微软雅黑" panose="020B0503020204020204" pitchFamily="34" charset="-122"/>
              <a:rtl val="0"/>
            </a:rPr>
            <a:t/>
          </a:r>
          <a:endParaRPr lang="zh-CN" altLang="en-US" b="1" i="0" u="none" baseline="0">
            <a:solidFill>
              <a:srgbClr val="FF0000"/>
            </a:solidFill>
            <a:latin typeface="微软雅黑" panose="020B0503020204020204" pitchFamily="34" charset="-122"/>
            <a:ea typeface="微软雅黑" panose="020B0503020204020204" pitchFamily="34" charset="-122"/>
            <a:cs typeface="微软雅黑" panose="020B0503020204020204" pitchFamily="34" charset="-122"/>
            <a:rtl val="0"/>
          </a:endParaRPr>
        </a:p>
      </dgm:t>
    </dgm:pt>
    <dgm:pt modelId="{DE61C446-D23D-481D-BB14-9872EDCDA46D}" cxnId="{BEB6DD15-E0DD-48CE-9C9F-526B0E976483}" type="parTrans">
      <dgm:prSet/>
      <dgm:spPr/>
    </dgm:pt>
    <dgm:pt modelId="{97AA5A42-6CDD-4C62-9B9C-DFD2CDE6C888}" cxnId="{BEB6DD15-E0DD-48CE-9C9F-526B0E976483}" type="sibTrans">
      <dgm:prSet/>
      <dgm:spPr/>
    </dgm:pt>
    <dgm:pt modelId="{B3DC8AA8-777B-4317-8107-FF14853113C3}">
      <dgm:prSet phldr="0" custT="0"/>
      <dgm:spPr/>
      <dgm:t>
        <a:bodyPr vert="horz" wrap="square"/>
        <a:p>
          <a:pPr algn="ctr">
            <a:lnSpc>
              <a:spcPct val="100000"/>
            </a:lnSpc>
            <a:spcBef>
              <a:spcPct val="0"/>
            </a:spcBef>
            <a:spcAft>
              <a:spcPct val="15000"/>
            </a:spcAft>
          </a:pPr>
          <a:r>
            <a:rPr lang="zh-CN" b="0" i="0" u="none" baseline="0">
              <a:solidFill>
                <a:srgbClr val="FF0000"/>
              </a:solidFill>
              <a:latin typeface="微软雅黑" panose="020B0503020204020204" pitchFamily="34" charset="-122"/>
              <a:ea typeface="微软雅黑" panose="020B0503020204020204" pitchFamily="34" charset="-122"/>
              <a:rtl val="0"/>
            </a:rPr>
            <a:t>线索管理</a:t>
          </a:r>
          <a:r>
            <a:rPr altLang="en-US">
              <a:solidFill>
                <a:srgbClr val="FF0000"/>
              </a:solidFill>
              <a:latin typeface="微软雅黑" panose="020B0503020204020204" pitchFamily="34" charset="-122"/>
              <a:ea typeface="微软雅黑" panose="020B0503020204020204" pitchFamily="34" charset="-122"/>
            </a:rPr>
            <a:t/>
          </a:r>
          <a:endParaRPr altLang="en-US">
            <a:solidFill>
              <a:srgbClr val="FF0000"/>
            </a:solidFill>
            <a:latin typeface="微软雅黑" panose="020B0503020204020204" pitchFamily="34" charset="-122"/>
            <a:ea typeface="微软雅黑" panose="020B0503020204020204" pitchFamily="34" charset="-122"/>
          </a:endParaRPr>
        </a:p>
      </dgm:t>
    </dgm:pt>
    <dgm:pt modelId="{A86D9ACB-5B13-4F8D-8271-2EF4D1E61DDD}" cxnId="{C0EBD4AA-9689-4CA9-9056-3CED1E572A45}" type="parTrans">
      <dgm:prSet/>
      <dgm:spPr/>
    </dgm:pt>
    <dgm:pt modelId="{3A87FD3B-4BBB-4526-A6F9-83B9B876A765}" cxnId="{C0EBD4AA-9689-4CA9-9056-3CED1E572A45}" type="sibTrans">
      <dgm:prSet/>
      <dgm:spPr/>
    </dgm:pt>
    <dgm:pt modelId="{554410FD-DB63-4CD4-AB9E-A4E4B107B4DE}">
      <dgm:prSet phldr="0" custT="0"/>
      <dgm:spPr/>
      <dgm:t>
        <a:bodyPr vert="horz" wrap="square"/>
        <a:p>
          <a:pPr algn="ctr">
            <a:lnSpc>
              <a:spcPct val="100000"/>
            </a:lnSpc>
            <a:spcBef>
              <a:spcPct val="0"/>
            </a:spcBef>
            <a:spcAft>
              <a:spcPct val="15000"/>
            </a:spcAft>
          </a:pPr>
          <a:r>
            <a:rPr lang="zh-CN" b="0" i="0" u="none" baseline="0">
              <a:solidFill>
                <a:srgbClr val="FF0000"/>
              </a:solidFill>
              <a:latin typeface="微软雅黑" panose="020B0503020204020204" pitchFamily="34" charset="-122"/>
              <a:ea typeface="微软雅黑" panose="020B0503020204020204" pitchFamily="34" charset="-122"/>
              <a:rtl val="0"/>
            </a:rPr>
            <a:t>客户管理</a:t>
          </a:r>
          <a:r>
            <a:rPr altLang="en-US">
              <a:solidFill>
                <a:srgbClr val="FF0000"/>
              </a:solidFill>
              <a:latin typeface="微软雅黑" panose="020B0503020204020204" pitchFamily="34" charset="-122"/>
              <a:ea typeface="微软雅黑" panose="020B0503020204020204" pitchFamily="34" charset="-122"/>
            </a:rPr>
            <a:t/>
          </a:r>
          <a:endParaRPr altLang="en-US">
            <a:solidFill>
              <a:srgbClr val="FF0000"/>
            </a:solidFill>
            <a:latin typeface="微软雅黑" panose="020B0503020204020204" pitchFamily="34" charset="-122"/>
            <a:ea typeface="微软雅黑" panose="020B0503020204020204" pitchFamily="34" charset="-122"/>
          </a:endParaRPr>
        </a:p>
      </dgm:t>
    </dgm:pt>
    <dgm:pt modelId="{A33AB1EF-08BC-441C-98F2-7226D5FCD941}" cxnId="{F77D72AB-8D81-41BA-B5BF-DFAB3C58AFD7}" type="parTrans">
      <dgm:prSet/>
      <dgm:spPr/>
    </dgm:pt>
    <dgm:pt modelId="{0D160EFA-6B03-48FB-9A31-E0E381FEF923}" cxnId="{F77D72AB-8D81-41BA-B5BF-DFAB3C58AFD7}" type="sibTrans">
      <dgm:prSet/>
      <dgm:spPr/>
    </dgm:pt>
    <dgm:pt modelId="{A77BB3E8-DEE5-41C2-89F5-24E4B96AF9E1}">
      <dgm:prSet phldr="0" custT="0"/>
      <dgm:spPr/>
      <dgm:t>
        <a:bodyPr vert="horz" wrap="square"/>
        <a:p>
          <a:pPr algn="ctr">
            <a:lnSpc>
              <a:spcPct val="100000"/>
            </a:lnSpc>
            <a:spcBef>
              <a:spcPct val="0"/>
            </a:spcBef>
            <a:spcAft>
              <a:spcPct val="15000"/>
            </a:spcAft>
          </a:pPr>
          <a:r>
            <a:rPr lang="zh-CN" b="0" i="0" u="none" baseline="0">
              <a:solidFill>
                <a:srgbClr val="FF0000"/>
              </a:solidFill>
              <a:latin typeface="微软雅黑" panose="020B0503020204020204" pitchFamily="34" charset="-122"/>
              <a:ea typeface="微软雅黑" panose="020B0503020204020204" pitchFamily="34" charset="-122"/>
              <a:rtl val="0"/>
            </a:rPr>
            <a:t>供应管理</a:t>
          </a:r>
          <a:r>
            <a:rPr altLang="en-US">
              <a:solidFill>
                <a:srgbClr val="FF0000"/>
              </a:solidFill>
              <a:latin typeface="微软雅黑" panose="020B0503020204020204" pitchFamily="34" charset="-122"/>
              <a:ea typeface="微软雅黑" panose="020B0503020204020204" pitchFamily="34" charset="-122"/>
            </a:rPr>
            <a:t/>
          </a:r>
          <a:endParaRPr altLang="en-US">
            <a:solidFill>
              <a:srgbClr val="FF0000"/>
            </a:solidFill>
            <a:latin typeface="微软雅黑" panose="020B0503020204020204" pitchFamily="34" charset="-122"/>
            <a:ea typeface="微软雅黑" panose="020B0503020204020204" pitchFamily="34" charset="-122"/>
          </a:endParaRPr>
        </a:p>
      </dgm:t>
    </dgm:pt>
    <dgm:pt modelId="{17728739-CDA6-4C6C-B2FD-49EAD70E467A}" cxnId="{66F40B9A-6EAE-4435-B053-E906473BE0E9}" type="parTrans">
      <dgm:prSet/>
      <dgm:spPr/>
    </dgm:pt>
    <dgm:pt modelId="{71CEBE1B-2B85-45FA-AEF6-CDAA7803E9C5}" cxnId="{66F40B9A-6EAE-4435-B053-E906473BE0E9}" type="sibTrans">
      <dgm:prSet/>
      <dgm:spPr/>
    </dgm:pt>
    <dgm:pt modelId="{A5E4192A-9A44-4B47-BDEE-AB1DC2C7F98D}">
      <dgm:prSet phldr="0" custT="0"/>
      <dgm:spPr/>
      <dgm:t>
        <a:bodyPr vert="horz" wrap="square"/>
        <a:p>
          <a:pPr algn="ctr">
            <a:lnSpc>
              <a:spcPct val="100000"/>
            </a:lnSpc>
            <a:spcBef>
              <a:spcPct val="0"/>
            </a:spcBef>
            <a:spcAft>
              <a:spcPct val="15000"/>
            </a:spcAft>
          </a:pPr>
          <a:r>
            <a:rPr lang="zh-CN" b="0" i="0" u="none" baseline="0">
              <a:solidFill>
                <a:srgbClr val="FF0000"/>
              </a:solidFill>
              <a:latin typeface="微软雅黑" panose="020B0503020204020204" pitchFamily="34" charset="-122"/>
              <a:ea typeface="微软雅黑" panose="020B0503020204020204" pitchFamily="34" charset="-122"/>
              <a:rtl val="0"/>
            </a:rPr>
            <a:t>项目管理</a:t>
          </a:r>
          <a:r>
            <a:rPr altLang="en-US">
              <a:solidFill>
                <a:srgbClr val="FF0000"/>
              </a:solidFill>
              <a:latin typeface="微软雅黑" panose="020B0503020204020204" pitchFamily="34" charset="-122"/>
              <a:ea typeface="微软雅黑" panose="020B0503020204020204" pitchFamily="34" charset="-122"/>
            </a:rPr>
            <a:t/>
          </a:r>
          <a:endParaRPr altLang="en-US">
            <a:solidFill>
              <a:srgbClr val="FF0000"/>
            </a:solidFill>
            <a:latin typeface="微软雅黑" panose="020B0503020204020204" pitchFamily="34" charset="-122"/>
            <a:ea typeface="微软雅黑" panose="020B0503020204020204" pitchFamily="34" charset="-122"/>
          </a:endParaRPr>
        </a:p>
      </dgm:t>
    </dgm:pt>
    <dgm:pt modelId="{10E36B83-2AA7-46EE-88D8-705671E7FC02}" cxnId="{66A4B0F1-AAAC-45C2-8101-798113179A4C}" type="parTrans">
      <dgm:prSet/>
      <dgm:spPr/>
    </dgm:pt>
    <dgm:pt modelId="{AF0D2DB6-D66E-4A0F-B185-BA69E66D9481}" cxnId="{66A4B0F1-AAAC-45C2-8101-798113179A4C}" type="sibTrans">
      <dgm:prSet/>
      <dgm:spPr/>
    </dgm:pt>
    <dgm:pt modelId="{AA6AE992-4D68-407B-9597-56DED99832E7}">
      <dgm:prSet phldr="0" custT="0"/>
      <dgm:spPr/>
      <dgm:t>
        <a:bodyPr vert="horz" wrap="square"/>
        <a:p>
          <a:pPr algn="ctr">
            <a:lnSpc>
              <a:spcPct val="100000"/>
            </a:lnSpc>
            <a:spcBef>
              <a:spcPct val="0"/>
            </a:spcBef>
            <a:spcAft>
              <a:spcPct val="15000"/>
            </a:spcAft>
          </a:pPr>
          <a:r>
            <a:rPr lang="zh-CN" b="0" i="0" u="none" baseline="0">
              <a:solidFill>
                <a:srgbClr val="FF0000"/>
              </a:solidFill>
              <a:latin typeface="微软雅黑" panose="020B0503020204020204" pitchFamily="34" charset="-122"/>
              <a:ea typeface="微软雅黑" panose="020B0503020204020204" pitchFamily="34" charset="-122"/>
              <a:rtl val="0"/>
            </a:rPr>
            <a:t>报价管理</a:t>
          </a:r>
          <a:r>
            <a:rPr altLang="en-US">
              <a:solidFill>
                <a:srgbClr val="FF0000"/>
              </a:solidFill>
              <a:latin typeface="微软雅黑" panose="020B0503020204020204" pitchFamily="34" charset="-122"/>
              <a:ea typeface="微软雅黑" panose="020B0503020204020204" pitchFamily="34" charset="-122"/>
            </a:rPr>
            <a:t/>
          </a:r>
          <a:endParaRPr altLang="en-US">
            <a:solidFill>
              <a:srgbClr val="FF0000"/>
            </a:solidFill>
            <a:latin typeface="微软雅黑" panose="020B0503020204020204" pitchFamily="34" charset="-122"/>
            <a:ea typeface="微软雅黑" panose="020B0503020204020204" pitchFamily="34" charset="-122"/>
          </a:endParaRPr>
        </a:p>
      </dgm:t>
    </dgm:pt>
    <dgm:pt modelId="{CE7C7403-DCA6-4E31-A2B1-CDEEEA72E81C}" cxnId="{0D76E898-112D-409D-8AB7-6AEB8F50386C}" type="parTrans">
      <dgm:prSet/>
      <dgm:spPr/>
    </dgm:pt>
    <dgm:pt modelId="{73772DDF-93EC-4BCB-A0D8-30C7F017C55E}" cxnId="{0D76E898-112D-409D-8AB7-6AEB8F50386C}" type="sibTrans">
      <dgm:prSet/>
      <dgm:spPr/>
    </dgm:pt>
    <dgm:pt modelId="{B9290961-694F-4E3E-AF80-FFDD81F53460}">
      <dgm:prSet phldr="0" custT="0"/>
      <dgm:spPr/>
      <dgm:t>
        <a:bodyPr vert="horz" wrap="square"/>
        <a:p>
          <a:pPr algn="ctr">
            <a:lnSpc>
              <a:spcPct val="100000"/>
            </a:lnSpc>
            <a:spcBef>
              <a:spcPct val="0"/>
            </a:spcBef>
            <a:spcAft>
              <a:spcPct val="15000"/>
            </a:spcAft>
          </a:pPr>
          <a:r>
            <a:rPr lang="zh-CN" b="0" i="0" u="none" baseline="0">
              <a:solidFill>
                <a:srgbClr val="FF0000"/>
              </a:solidFill>
              <a:latin typeface="微软雅黑" panose="020B0503020204020204" pitchFamily="34" charset="-122"/>
              <a:ea typeface="微软雅黑" panose="020B0503020204020204" pitchFamily="34" charset="-122"/>
              <a:rtl val="0"/>
            </a:rPr>
            <a:t>销售管理</a:t>
          </a:r>
          <a:r>
            <a:rPr altLang="en-US">
              <a:solidFill>
                <a:srgbClr val="FF0000"/>
              </a:solidFill>
              <a:latin typeface="微软雅黑" panose="020B0503020204020204" pitchFamily="34" charset="-122"/>
              <a:ea typeface="微软雅黑" panose="020B0503020204020204" pitchFamily="34" charset="-122"/>
            </a:rPr>
            <a:t/>
          </a:r>
          <a:endParaRPr altLang="en-US">
            <a:solidFill>
              <a:srgbClr val="FF0000"/>
            </a:solidFill>
            <a:latin typeface="微软雅黑" panose="020B0503020204020204" pitchFamily="34" charset="-122"/>
            <a:ea typeface="微软雅黑" panose="020B0503020204020204" pitchFamily="34" charset="-122"/>
          </a:endParaRPr>
        </a:p>
      </dgm:t>
    </dgm:pt>
    <dgm:pt modelId="{3401DD8C-583F-490B-AF14-D28CC8760FE3}" cxnId="{233A991D-0C8A-46EA-B6E4-125D3DFDA3E7}" type="parTrans">
      <dgm:prSet/>
      <dgm:spPr/>
    </dgm:pt>
    <dgm:pt modelId="{ACD245AB-3BF8-4CCC-8F8C-321A5060A631}" cxnId="{233A991D-0C8A-46EA-B6E4-125D3DFDA3E7}" type="sibTrans">
      <dgm:prSet/>
      <dgm:spPr/>
    </dgm:pt>
    <dgm:pt modelId="{9F31DE42-3170-45AD-95A8-C5609B16ADBA}">
      <dgm:prSet phldr="0" custT="0"/>
      <dgm:spPr/>
      <dgm:t>
        <a:bodyPr vert="horz" wrap="square"/>
        <a:p>
          <a:pPr algn="ctr">
            <a:lnSpc>
              <a:spcPct val="100000"/>
            </a:lnSpc>
            <a:spcBef>
              <a:spcPct val="0"/>
            </a:spcBef>
            <a:spcAft>
              <a:spcPct val="15000"/>
            </a:spcAft>
          </a:pPr>
          <a:r>
            <a:rPr lang="zh-CN" b="0" i="0" u="none" baseline="0">
              <a:solidFill>
                <a:srgbClr val="FF0000"/>
              </a:solidFill>
              <a:latin typeface="微软雅黑" panose="020B0503020204020204" pitchFamily="34" charset="-122"/>
              <a:ea typeface="微软雅黑" panose="020B0503020204020204" pitchFamily="34" charset="-122"/>
              <a:rtl val="0"/>
            </a:rPr>
            <a:t>采购管理</a:t>
          </a:r>
          <a:r>
            <a:rPr altLang="en-US">
              <a:solidFill>
                <a:srgbClr val="FF0000"/>
              </a:solidFill>
              <a:latin typeface="微软雅黑" panose="020B0503020204020204" pitchFamily="34" charset="-122"/>
              <a:ea typeface="微软雅黑" panose="020B0503020204020204" pitchFamily="34" charset="-122"/>
            </a:rPr>
            <a:t/>
          </a:r>
          <a:endParaRPr altLang="en-US">
            <a:solidFill>
              <a:srgbClr val="FF0000"/>
            </a:solidFill>
            <a:latin typeface="微软雅黑" panose="020B0503020204020204" pitchFamily="34" charset="-122"/>
            <a:ea typeface="微软雅黑" panose="020B0503020204020204" pitchFamily="34" charset="-122"/>
          </a:endParaRPr>
        </a:p>
      </dgm:t>
    </dgm:pt>
    <dgm:pt modelId="{26387394-25AE-40A2-9EF1-2E72EA4BD878}" cxnId="{2F6B8522-F9DD-41BE-AB3E-5E6E8EB53E24}" type="parTrans">
      <dgm:prSet/>
      <dgm:spPr/>
    </dgm:pt>
    <dgm:pt modelId="{CC77F9F7-3DB3-4EE2-9B31-950A7A9005DE}" cxnId="{2F6B8522-F9DD-41BE-AB3E-5E6E8EB53E24}" type="sibTrans">
      <dgm:prSet/>
      <dgm:spPr/>
    </dgm:pt>
    <dgm:pt modelId="{D4CA9E56-923A-4D20-8B00-7E6C175AC0CF}">
      <dgm:prSet phldr="0" custT="0"/>
      <dgm:spPr/>
      <dgm:t>
        <a:bodyPr vert="horz" wrap="square"/>
        <a:p>
          <a:pPr algn="ctr">
            <a:lnSpc>
              <a:spcPct val="100000"/>
            </a:lnSpc>
            <a:spcBef>
              <a:spcPct val="0"/>
            </a:spcBef>
            <a:spcAft>
              <a:spcPct val="15000"/>
            </a:spcAft>
          </a:pPr>
          <a:r>
            <a:rPr lang="zh-CN" b="0" i="0" u="none" baseline="0">
              <a:solidFill>
                <a:srgbClr val="FF0000"/>
              </a:solidFill>
              <a:latin typeface="微软雅黑" panose="020B0503020204020204" pitchFamily="34" charset="-122"/>
              <a:ea typeface="微软雅黑" panose="020B0503020204020204" pitchFamily="34" charset="-122"/>
              <a:rtl val="0"/>
            </a:rPr>
            <a:t>提成管理</a:t>
          </a:r>
          <a:r>
            <a:rPr lang="zh-CN" altLang="en-US" b="0" i="0" u="none" baseline="0">
              <a:solidFill>
                <a:srgbClr val="FF0000"/>
              </a:solidFill>
              <a:latin typeface="微软雅黑" panose="020B0503020204020204" pitchFamily="34" charset="-122"/>
              <a:ea typeface="微软雅黑" panose="020B0503020204020204" pitchFamily="34" charset="-122"/>
              <a:rtl val="0"/>
            </a:rPr>
            <a:t/>
          </a:r>
          <a:endParaRPr lang="zh-CN" altLang="en-US" b="0" i="0" u="none" baseline="0">
            <a:solidFill>
              <a:srgbClr val="FF0000"/>
            </a:solidFill>
            <a:latin typeface="微软雅黑" panose="020B0503020204020204" pitchFamily="34" charset="-122"/>
            <a:ea typeface="微软雅黑" panose="020B0503020204020204" pitchFamily="34" charset="-122"/>
            <a:rtl val="0"/>
          </a:endParaRPr>
        </a:p>
      </dgm:t>
    </dgm:pt>
    <dgm:pt modelId="{4D67074C-5B5F-4295-948B-E5A143736BE3}" cxnId="{F274E582-78A3-4609-B0CA-B1954D0B03ED}" type="parTrans">
      <dgm:prSet/>
      <dgm:spPr/>
    </dgm:pt>
    <dgm:pt modelId="{D7F60287-FD49-4053-A616-5D93B04C5D83}" cxnId="{F274E582-78A3-4609-B0CA-B1954D0B03ED}" type="sibTrans">
      <dgm:prSet/>
      <dgm:spPr/>
    </dgm:pt>
    <dgm:pt modelId="{C43A955B-45CF-401D-874F-D8DEFC21FF6F}">
      <dgm:prSet phldr="0" custT="0"/>
      <dgm:spPr/>
      <dgm:t>
        <a:bodyPr vert="horz" wrap="square"/>
        <a:p>
          <a:pPr algn="ctr">
            <a:lnSpc>
              <a:spcPct val="100000"/>
            </a:lnSpc>
            <a:spcBef>
              <a:spcPct val="0"/>
            </a:spcBef>
            <a:spcAft>
              <a:spcPct val="35000"/>
            </a:spcAft>
          </a:pPr>
          <a:r>
            <a:rPr lang="zh-CN" b="1" i="0" u="none" baseline="0">
              <a:latin typeface="微软雅黑" panose="020B0503020204020204" pitchFamily="34" charset="-122"/>
              <a:ea typeface="微软雅黑" panose="020B0503020204020204" pitchFamily="34" charset="-122"/>
              <a:cs typeface="微软雅黑" panose="020B0503020204020204" pitchFamily="34" charset="-122"/>
              <a:rtl val="0"/>
            </a:rPr>
            <a:t>产品子系统</a:t>
          </a:r>
          <a:r>
            <a:rPr altLang="en-US">
              <a:latin typeface="微软雅黑" panose="020B0503020204020204" pitchFamily="34" charset="-122"/>
              <a:ea typeface="微软雅黑" panose="020B0503020204020204" pitchFamily="34" charset="-122"/>
              <a:cs typeface="微软雅黑" panose="020B0503020204020204" pitchFamily="34" charset="-122"/>
            </a:rPr>
            <a:t/>
          </a:r>
          <a:endParaRPr altLang="en-US">
            <a:latin typeface="微软雅黑" panose="020B0503020204020204" pitchFamily="34" charset="-122"/>
            <a:ea typeface="微软雅黑" panose="020B0503020204020204" pitchFamily="34" charset="-122"/>
            <a:cs typeface="微软雅黑" panose="020B0503020204020204" pitchFamily="34" charset="-122"/>
          </a:endParaRPr>
        </a:p>
      </dgm:t>
    </dgm:pt>
    <dgm:pt modelId="{17BBE79B-19E4-4812-BE26-D193D61D6F51}" cxnId="{ED308178-17FE-426C-91BC-C7AABAABE46B}" type="parTrans">
      <dgm:prSet/>
      <dgm:spPr/>
    </dgm:pt>
    <dgm:pt modelId="{DB93E3F2-A36B-422C-9304-06E309DB430B}" cxnId="{ED308178-17FE-426C-91BC-C7AABAABE46B}" type="sibTrans">
      <dgm:prSet/>
      <dgm:spPr/>
    </dgm:pt>
    <dgm:pt modelId="{0F37D284-88B4-49B9-8064-1C9F7ADBB81C}">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研发管理</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43FC3452-F3F1-4EEF-8A92-54DC3A253F3D}" cxnId="{1A6DF455-CD77-488E-872C-B47FC83562D3}" type="parTrans">
      <dgm:prSet/>
      <dgm:spPr/>
    </dgm:pt>
    <dgm:pt modelId="{B26431AD-523F-4A38-9005-D4A4B03DEE72}" cxnId="{1A6DF455-CD77-488E-872C-B47FC83562D3}" type="sibTrans">
      <dgm:prSet/>
      <dgm:spPr/>
    </dgm:pt>
    <dgm:pt modelId="{2E2C08F8-FEDB-4423-9386-96F13D765E21}">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制造管理</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3BEDA3E6-A027-4F12-9671-F4ED9F95F27D}" cxnId="{FED4EBDA-3460-49B4-B067-CD5CFA58F12B}" type="parTrans">
      <dgm:prSet/>
      <dgm:spPr/>
    </dgm:pt>
    <dgm:pt modelId="{D9B36BB8-39B3-446E-8890-BAB98A489276}" cxnId="{FED4EBDA-3460-49B4-B067-CD5CFA58F12B}" type="sibTrans">
      <dgm:prSet/>
      <dgm:spPr/>
    </dgm:pt>
    <dgm:pt modelId="{CEA7D63C-6610-42FA-B31F-5E6C1042DF05}">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质量管理</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E9A65DE0-DB70-4DE3-B918-5E19F6178482}" cxnId="{341B55EC-7B4C-4B13-9D46-E957D54338C6}" type="parTrans">
      <dgm:prSet/>
      <dgm:spPr/>
    </dgm:pt>
    <dgm:pt modelId="{D737AB52-45D8-46F6-9C9B-47BD07B3882E}" cxnId="{341B55EC-7B4C-4B13-9D46-E957D54338C6}" type="sibTrans">
      <dgm:prSet/>
      <dgm:spPr/>
    </dgm:pt>
    <dgm:pt modelId="{A0B29EAA-3AF5-4129-BD7F-6147B5346BFF}">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原料管理</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7A8D8B88-7327-4EB9-9C4B-B47854C77639}" cxnId="{A033C53C-A4CE-4813-A6CE-43EF85658D2F}" type="parTrans">
      <dgm:prSet/>
      <dgm:spPr/>
    </dgm:pt>
    <dgm:pt modelId="{2FEFA59B-2555-448F-8783-D4024DEDF819}" cxnId="{A033C53C-A4CE-4813-A6CE-43EF85658D2F}" type="sibTrans">
      <dgm:prSet/>
      <dgm:spPr/>
    </dgm:pt>
    <dgm:pt modelId="{26C1538C-A245-4197-A020-C5EEAD393FF0}">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数据管理</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F157462A-448F-49C6-8CF3-7B06ABCFD6FE}" cxnId="{338252A5-6337-4B53-9FE4-E380B886EEA7}" type="parTrans">
      <dgm:prSet/>
      <dgm:spPr/>
    </dgm:pt>
    <dgm:pt modelId="{54944049-DFB4-4143-A3FA-3A5E65878803}" cxnId="{338252A5-6337-4B53-9FE4-E380B886EEA7}" type="sibTrans">
      <dgm:prSet/>
      <dgm:spPr/>
    </dgm:pt>
    <dgm:pt modelId="{EF38E5B2-A5A9-4A22-AED8-27ECF56F5D2F}">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仓储管理</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B70B2C01-E7EA-4B13-BDDA-F60D1DF8CDFD}" cxnId="{CB03A807-1D8B-4633-8E2F-FC3B4CC9CC4A}" type="parTrans">
      <dgm:prSet/>
      <dgm:spPr/>
    </dgm:pt>
    <dgm:pt modelId="{D55E0091-387C-4C95-9086-BB663BFCA0D3}" cxnId="{CB03A807-1D8B-4633-8E2F-FC3B4CC9CC4A}" type="sibTrans">
      <dgm:prSet/>
      <dgm:spPr/>
    </dgm:pt>
    <dgm:pt modelId="{CC73AF3A-1C88-42D6-B363-875467595C15}">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物流管理</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02EBE06A-CD5F-44D9-BFA5-27CFDBA095D9}" cxnId="{D5A91B6B-16D1-4403-B51B-D7C7BEFDA7A3}" type="parTrans">
      <dgm:prSet/>
      <dgm:spPr/>
    </dgm:pt>
    <dgm:pt modelId="{942017F7-0A4A-443B-9E67-1D278B0A6BCC}" cxnId="{D5A91B6B-16D1-4403-B51B-D7C7BEFDA7A3}" type="sibTrans">
      <dgm:prSet/>
      <dgm:spPr/>
    </dgm:pt>
    <dgm:pt modelId="{B9EF3ACE-22CF-4871-B627-0781169C179F}">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合规管控</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0EA82AF4-BC1A-42D3-BAAC-769E357B2346}" cxnId="{512D7135-7C80-4EFF-B29B-3343EB1C48AD}" type="parTrans">
      <dgm:prSet/>
      <dgm:spPr/>
    </dgm:pt>
    <dgm:pt modelId="{378F7866-3C90-4936-8213-FCEEF035F44F}" cxnId="{512D7135-7C80-4EFF-B29B-3343EB1C48AD}" type="sibTrans">
      <dgm:prSet/>
      <dgm:spPr/>
    </dgm:pt>
    <dgm:pt modelId="{26777E3F-EEF7-4F2D-9A39-9FA0D0B87A98}" type="pres">
      <dgm:prSet presAssocID="{561A97CE-7611-4E19-9D13-52C49FE31129}" presName="Name0" presStyleCnt="0">
        <dgm:presLayoutVars>
          <dgm:dir/>
          <dgm:animLvl val="lvl"/>
          <dgm:resizeHandles val="exact"/>
        </dgm:presLayoutVars>
      </dgm:prSet>
      <dgm:spPr/>
    </dgm:pt>
    <dgm:pt modelId="{B8341C85-7917-4EDF-AF27-06AB374E44A9}" type="pres">
      <dgm:prSet presAssocID="{D3ED0D72-B0B6-42AE-8D1C-A090165FD4F8}" presName="composite" presStyleCnt="0"/>
      <dgm:spPr/>
    </dgm:pt>
    <dgm:pt modelId="{515925E7-FBCD-41FE-9702-F2A4CC072A45}" type="pres">
      <dgm:prSet presAssocID="{D3ED0D72-B0B6-42AE-8D1C-A090165FD4F8}" presName="parTx" presStyleLbl="alignNode1" presStyleIdx="0" presStyleCnt="5">
        <dgm:presLayoutVars>
          <dgm:chMax val="0"/>
          <dgm:chPref val="0"/>
          <dgm:bulletEnabled val="1"/>
        </dgm:presLayoutVars>
      </dgm:prSet>
      <dgm:spPr/>
    </dgm:pt>
    <dgm:pt modelId="{C8BEC413-B3E9-4D39-A8A6-53389136125B}" type="pres">
      <dgm:prSet presAssocID="{D3ED0D72-B0B6-42AE-8D1C-A090165FD4F8}" presName="desTx" presStyleLbl="alignAccFollowNode1" presStyleIdx="0" presStyleCnt="5">
        <dgm:presLayoutVars>
          <dgm:bulletEnabled val="1"/>
        </dgm:presLayoutVars>
      </dgm:prSet>
      <dgm:spPr/>
    </dgm:pt>
    <dgm:pt modelId="{4B4F8505-834A-4442-93AA-E2B69BE40546}" type="pres">
      <dgm:prSet presAssocID="{C3E20CE8-14CB-43AD-8800-A38269CEBC80}" presName="space" presStyleCnt="0"/>
      <dgm:spPr/>
    </dgm:pt>
    <dgm:pt modelId="{397DBDDF-0205-46C1-B7A5-4AE6728AFD78}" type="pres">
      <dgm:prSet presAssocID="{45CD01F6-6AE0-4E94-8E3A-FDD2211CA20A}" presName="composite" presStyleCnt="0"/>
      <dgm:spPr/>
    </dgm:pt>
    <dgm:pt modelId="{70690FA0-EFE8-4F05-8254-1A155749C517}" type="pres">
      <dgm:prSet presAssocID="{45CD01F6-6AE0-4E94-8E3A-FDD2211CA20A}" presName="parTx" presStyleLbl="alignNode1" presStyleIdx="1" presStyleCnt="5">
        <dgm:presLayoutVars>
          <dgm:chMax val="0"/>
          <dgm:chPref val="0"/>
          <dgm:bulletEnabled val="1"/>
        </dgm:presLayoutVars>
      </dgm:prSet>
      <dgm:spPr/>
    </dgm:pt>
    <dgm:pt modelId="{493C2F3E-66B3-44BC-894F-566B240D60A3}" type="pres">
      <dgm:prSet presAssocID="{45CD01F6-6AE0-4E94-8E3A-FDD2211CA20A}" presName="desTx" presStyleLbl="alignAccFollowNode1" presStyleIdx="1" presStyleCnt="5">
        <dgm:presLayoutVars>
          <dgm:bulletEnabled val="1"/>
        </dgm:presLayoutVars>
      </dgm:prSet>
      <dgm:spPr/>
    </dgm:pt>
    <dgm:pt modelId="{207D2397-07C1-4CD9-AA8A-9271912C739B}" type="pres">
      <dgm:prSet presAssocID="{6521A401-94D3-4459-93C4-B6B0A016E6DD}" presName="space" presStyleCnt="0"/>
      <dgm:spPr/>
    </dgm:pt>
    <dgm:pt modelId="{E4A51903-4340-43DF-BFBE-D536F5FC6FAC}" type="pres">
      <dgm:prSet presAssocID="{63E93711-9FF5-4E84-A4FC-7A4FCDAA55AD}" presName="composite" presStyleCnt="0"/>
      <dgm:spPr/>
    </dgm:pt>
    <dgm:pt modelId="{844D9D57-F880-4954-8B8C-44AB1BF2442F}" type="pres">
      <dgm:prSet presAssocID="{63E93711-9FF5-4E84-A4FC-7A4FCDAA55AD}" presName="parTx" presStyleLbl="alignNode1" presStyleIdx="2" presStyleCnt="5">
        <dgm:presLayoutVars>
          <dgm:chMax val="0"/>
          <dgm:chPref val="0"/>
          <dgm:bulletEnabled val="1"/>
        </dgm:presLayoutVars>
      </dgm:prSet>
      <dgm:spPr/>
    </dgm:pt>
    <dgm:pt modelId="{D2D42066-3C3F-4F89-8570-BECFC0F488E9}" type="pres">
      <dgm:prSet presAssocID="{63E93711-9FF5-4E84-A4FC-7A4FCDAA55AD}" presName="desTx" presStyleLbl="alignAccFollowNode1" presStyleIdx="2" presStyleCnt="5">
        <dgm:presLayoutVars>
          <dgm:bulletEnabled val="1"/>
        </dgm:presLayoutVars>
      </dgm:prSet>
      <dgm:spPr/>
    </dgm:pt>
    <dgm:pt modelId="{C0C9E200-A15F-4658-A846-C60779B0AC3A}" type="pres">
      <dgm:prSet presAssocID="{97CC500E-B6EE-4269-B1D8-A855718B1B21}" presName="space" presStyleCnt="0"/>
      <dgm:spPr/>
    </dgm:pt>
    <dgm:pt modelId="{6FEA3AC9-0666-4177-A448-604B7E601051}" type="pres">
      <dgm:prSet presAssocID="{8954BC34-54AB-4EF8-9EF0-EE3D925E484E}" presName="composite" presStyleCnt="0"/>
      <dgm:spPr/>
    </dgm:pt>
    <dgm:pt modelId="{ADF19733-9696-44D8-95A4-31580CFDD99D}" type="pres">
      <dgm:prSet presAssocID="{8954BC34-54AB-4EF8-9EF0-EE3D925E484E}" presName="parTx" presStyleLbl="alignNode1" presStyleIdx="3" presStyleCnt="5">
        <dgm:presLayoutVars>
          <dgm:chMax val="0"/>
          <dgm:chPref val="0"/>
          <dgm:bulletEnabled val="1"/>
        </dgm:presLayoutVars>
      </dgm:prSet>
      <dgm:spPr/>
    </dgm:pt>
    <dgm:pt modelId="{7F3F4794-9143-4A56-AB69-1AD274B3E080}" type="pres">
      <dgm:prSet presAssocID="{8954BC34-54AB-4EF8-9EF0-EE3D925E484E}" presName="desTx" presStyleLbl="alignAccFollowNode1" presStyleIdx="3" presStyleCnt="5">
        <dgm:presLayoutVars>
          <dgm:bulletEnabled val="1"/>
        </dgm:presLayoutVars>
      </dgm:prSet>
      <dgm:spPr/>
    </dgm:pt>
    <dgm:pt modelId="{4CEB42CB-D594-473B-B019-AA550368D4CE}" type="pres">
      <dgm:prSet presAssocID="{97AA5A42-6CDD-4C62-9B9C-DFD2CDE6C888}" presName="space" presStyleCnt="0"/>
      <dgm:spPr/>
    </dgm:pt>
    <dgm:pt modelId="{A3B47532-0901-4B5A-8BED-3EEBA6178E19}" type="pres">
      <dgm:prSet presAssocID="{C43A955B-45CF-401D-874F-D8DEFC21FF6F}" presName="composite" presStyleCnt="0"/>
      <dgm:spPr/>
    </dgm:pt>
    <dgm:pt modelId="{C13A39B6-750E-448A-9446-EEA107BE74F3}" type="pres">
      <dgm:prSet presAssocID="{C43A955B-45CF-401D-874F-D8DEFC21FF6F}" presName="parTx" presStyleLbl="alignNode1" presStyleIdx="4" presStyleCnt="5">
        <dgm:presLayoutVars>
          <dgm:chMax val="0"/>
          <dgm:chPref val="0"/>
          <dgm:bulletEnabled val="1"/>
        </dgm:presLayoutVars>
      </dgm:prSet>
      <dgm:spPr/>
    </dgm:pt>
    <dgm:pt modelId="{9396F0D2-E30F-45F6-8CE4-4D8CCC0D727C}" type="pres">
      <dgm:prSet presAssocID="{C43A955B-45CF-401D-874F-D8DEFC21FF6F}" presName="desTx" presStyleLbl="alignAccFollowNode1" presStyleIdx="4" presStyleCnt="5">
        <dgm:presLayoutVars>
          <dgm:bulletEnabled val="1"/>
        </dgm:presLayoutVars>
      </dgm:prSet>
      <dgm:spPr/>
    </dgm:pt>
  </dgm:ptLst>
  <dgm:cxnLst>
    <dgm:cxn modelId="{A9026254-3923-4770-B3F5-E2445DF0F0B4}" srcId="{561A97CE-7611-4E19-9D13-52C49FE31129}" destId="{D3ED0D72-B0B6-42AE-8D1C-A090165FD4F8}" srcOrd="0" destOrd="0" parTransId="{A4F33A58-5FD5-4003-B920-EFFDB5868C79}" sibTransId="{C3E20CE8-14CB-43AD-8800-A38269CEBC80}"/>
    <dgm:cxn modelId="{A2A6FE51-4FAC-4BBD-A1B2-17D39B4D3E21}" srcId="{D3ED0D72-B0B6-42AE-8D1C-A090165FD4F8}" destId="{4B1B0835-403A-42A8-93CB-6DCF59A6A409}" srcOrd="0" destOrd="0" parTransId="{F860E925-AE4F-407E-815D-09F75A064B80}" sibTransId="{C11D9B2E-47A0-4816-B048-C671EE39057D}"/>
    <dgm:cxn modelId="{AD972C3B-AAE9-49E2-A705-7065CFCE7E01}" srcId="{D3ED0D72-B0B6-42AE-8D1C-A090165FD4F8}" destId="{E7578B92-2E46-4E80-B4CC-41F8102680CC}" srcOrd="1" destOrd="0" parTransId="{9064C4FD-92C0-4627-B9BD-0E7641466C2D}" sibTransId="{68E8847B-5EE9-4660-AF16-EF5BA8595A77}"/>
    <dgm:cxn modelId="{9CB5449A-722D-4BEC-8884-F040764A3BC3}" srcId="{D3ED0D72-B0B6-42AE-8D1C-A090165FD4F8}" destId="{51DA243B-84DA-4720-BEDC-EE3F6BEA72B8}" srcOrd="2" destOrd="0" parTransId="{10247670-A229-48B1-A8B7-003E1C091916}" sibTransId="{BBB2F479-C971-474A-851D-A8D0EE6BCCF6}"/>
    <dgm:cxn modelId="{FBDE2298-151C-4FAB-A9A7-24B23E509EF5}" srcId="{D3ED0D72-B0B6-42AE-8D1C-A090165FD4F8}" destId="{2895973B-AD8F-44F2-BC68-5584F23B68E3}" srcOrd="3" destOrd="0" parTransId="{63FE57F7-AC25-4098-B510-0E0F43CDD734}" sibTransId="{59790B82-06BB-4C9B-A534-359CFAC124E8}"/>
    <dgm:cxn modelId="{5DCB185F-5C21-422B-BC38-01045DC9948C}" srcId="{D3ED0D72-B0B6-42AE-8D1C-A090165FD4F8}" destId="{25751355-AD64-4A51-A8AA-30AAB10381BD}" srcOrd="4" destOrd="0" parTransId="{C3F2EE89-189B-4A63-B215-0263389D6E22}" sibTransId="{F72CBB32-52C4-4645-8092-E8D4733ED9E6}"/>
    <dgm:cxn modelId="{C680D0DC-4297-4796-A414-92E5D9068F13}" srcId="{D3ED0D72-B0B6-42AE-8D1C-A090165FD4F8}" destId="{49E75118-76E3-4D84-8ACC-303FF32A0B8E}" srcOrd="5" destOrd="0" parTransId="{2B7F5C1B-2A17-49CE-9484-2C0E64711C8B}" sibTransId="{36574CB1-A751-4BC9-95B9-851C16650F41}"/>
    <dgm:cxn modelId="{E8325548-0E1A-4686-85FF-3BF4BBF7DE01}" srcId="{D3ED0D72-B0B6-42AE-8D1C-A090165FD4F8}" destId="{BBBD7B96-9D49-4831-B807-ABF3553A7460}" srcOrd="6" destOrd="0" parTransId="{2A873640-CEDB-4426-B45D-62BEB44AD6F1}" sibTransId="{0191B9B8-9C2F-40D0-8AD5-1F0361C5F332}"/>
    <dgm:cxn modelId="{96E531E0-F2F1-4C6D-BC7C-73C97FC84A3F}" srcId="{D3ED0D72-B0B6-42AE-8D1C-A090165FD4F8}" destId="{66E69150-D29D-4677-9C78-9016A68466DF}" srcOrd="7" destOrd="0" parTransId="{FCDB210B-DF83-4C34-8886-F64F1955D85B}" sibTransId="{5A5CFBFC-CA9E-4AAD-81D3-BCCA7766007E}"/>
    <dgm:cxn modelId="{BDA59EBC-F039-4027-BE97-FD5F0481196C}" srcId="{561A97CE-7611-4E19-9D13-52C49FE31129}" destId="{45CD01F6-6AE0-4E94-8E3A-FDD2211CA20A}" srcOrd="1" destOrd="0" parTransId="{925F376F-2C24-419E-B434-AE792D2E94A7}" sibTransId="{6521A401-94D3-4459-93C4-B6B0A016E6DD}"/>
    <dgm:cxn modelId="{6282BAA8-4FAC-4C7D-B3A5-918EA6057B54}" srcId="{45CD01F6-6AE0-4E94-8E3A-FDD2211CA20A}" destId="{C9139EB5-98B0-43AE-B9D2-300335EDF52A}" srcOrd="0" destOrd="1" parTransId="{1FD2586C-3F8F-4A69-8450-1EB1F8D84E53}" sibTransId="{1C5A3A90-35F2-427F-9F41-A4F8CD82582D}"/>
    <dgm:cxn modelId="{14F840CC-22CE-4FDE-BD7B-317D747C3012}" srcId="{45CD01F6-6AE0-4E94-8E3A-FDD2211CA20A}" destId="{24EC0F0F-078F-4536-A001-52C8C8416202}" srcOrd="1" destOrd="1" parTransId="{90127DD9-A260-4571-808C-D8DC03C08D8A}" sibTransId="{C4022B0E-073F-45BF-BD5E-4980693AEAA5}"/>
    <dgm:cxn modelId="{7983BE61-E3F3-4B78-91EB-93C7E00E943A}" srcId="{45CD01F6-6AE0-4E94-8E3A-FDD2211CA20A}" destId="{C542919F-3BB5-4FCA-BD12-7ED8C3EB4847}" srcOrd="2" destOrd="1" parTransId="{D74AE2BF-551B-4A8D-97C8-AF0FE9B8D91E}" sibTransId="{F5408D27-D1B1-48B3-ACF4-5DF60FA3099F}"/>
    <dgm:cxn modelId="{3DD848BE-7771-41F8-8ED6-4F6E50E20403}" srcId="{45CD01F6-6AE0-4E94-8E3A-FDD2211CA20A}" destId="{B89BD599-02A6-4469-8E69-188BB3C0443C}" srcOrd="3" destOrd="1" parTransId="{FBB08291-DC5A-4718-BFDD-39B982E34471}" sibTransId="{4695EF04-B2B1-41E6-AE36-98E01D09BC6D}"/>
    <dgm:cxn modelId="{A7DC40EC-EB85-46C9-B74D-0C4B44549D28}" srcId="{45CD01F6-6AE0-4E94-8E3A-FDD2211CA20A}" destId="{31746FB8-EFDA-4DB7-9A69-9ACA409DB309}" srcOrd="4" destOrd="1" parTransId="{55DEBC46-B96F-4422-9056-947A9DAB5560}" sibTransId="{34AD3C88-8173-4827-B4A0-4F8F8993D69D}"/>
    <dgm:cxn modelId="{7955C216-87E3-4F7D-840A-76994178EF0A}" srcId="{45CD01F6-6AE0-4E94-8E3A-FDD2211CA20A}" destId="{CE15FEFD-2B70-4858-A0F2-AC6839E23753}" srcOrd="5" destOrd="1" parTransId="{8C8F0A53-2CAA-4C9F-A934-52479034DB62}" sibTransId="{95FFDE23-FA28-4377-8AB7-6780C33D4A84}"/>
    <dgm:cxn modelId="{7EF0FE77-836D-4C9B-A69A-F60F62FF27CE}" srcId="{45CD01F6-6AE0-4E94-8E3A-FDD2211CA20A}" destId="{D6E37AE8-6BBD-41C5-AFBB-4CBD954F4EAF}" srcOrd="6" destOrd="1" parTransId="{13AE6DC8-1BC2-4CE2-86FF-2367C59B89EF}" sibTransId="{ED6DA743-79AC-461A-9EAD-3165E41ED2BD}"/>
    <dgm:cxn modelId="{2AD57C88-C928-43FB-959C-F3482E08A74F}" srcId="{45CD01F6-6AE0-4E94-8E3A-FDD2211CA20A}" destId="{EF2668A6-F2FF-4090-9684-C427292ED239}" srcOrd="7" destOrd="1" parTransId="{18F292A5-1822-43C4-BD94-63BDAA917DA4}" sibTransId="{49636957-338D-4F8F-BCDA-DB6BD69BFB7C}"/>
    <dgm:cxn modelId="{4719A3A0-2D62-4FA6-B0F1-151173422F31}" srcId="{561A97CE-7611-4E19-9D13-52C49FE31129}" destId="{63E93711-9FF5-4E84-A4FC-7A4FCDAA55AD}" srcOrd="2" destOrd="0" parTransId="{393D24EE-7B3A-4E66-A46B-DF04C4B4C72B}" sibTransId="{97CC500E-B6EE-4269-B1D8-A855718B1B21}"/>
    <dgm:cxn modelId="{31ED8488-0246-4E0C-BA8E-E4726C8BDE2E}" srcId="{63E93711-9FF5-4E84-A4FC-7A4FCDAA55AD}" destId="{168B080E-7C6E-4FC3-8F6A-69F11C96824C}" srcOrd="0" destOrd="2" parTransId="{3B72D541-DAF8-4C72-BC66-6EE49DBC705A}" sibTransId="{5230C123-1C72-4966-A3B7-8ED461A07DAE}"/>
    <dgm:cxn modelId="{E1BC265E-2561-45B0-87EF-B4A6A0679070}" srcId="{63E93711-9FF5-4E84-A4FC-7A4FCDAA55AD}" destId="{38550054-F1D4-465F-B8FB-D9CC1B26D516}" srcOrd="1" destOrd="2" parTransId="{E4B7C2F1-B10D-45C8-9645-EEDF80FA754F}" sibTransId="{0B2E70EE-350D-431F-A5D6-D2BB4DFA7499}"/>
    <dgm:cxn modelId="{A2969597-7333-4964-9CF0-ACE6DB2C82BF}" srcId="{63E93711-9FF5-4E84-A4FC-7A4FCDAA55AD}" destId="{33E79BF2-352A-47EE-BD59-8284C95D9C3E}" srcOrd="2" destOrd="2" parTransId="{6024CA2E-8779-4210-97E2-5BF73F916F03}" sibTransId="{C4289377-0B05-4869-B07E-F1F9E83F1148}"/>
    <dgm:cxn modelId="{B5C4A99D-AE1C-48ED-BEA4-8AD0D062BE79}" srcId="{63E93711-9FF5-4E84-A4FC-7A4FCDAA55AD}" destId="{11CE2481-A0DF-48CE-BFC3-EF7413DEC662}" srcOrd="3" destOrd="2" parTransId="{24C4523D-F07B-456C-B9FF-8D73DA52FE4C}" sibTransId="{1F46E794-6E97-44C4-ACDD-E9E805312222}"/>
    <dgm:cxn modelId="{AD78358C-43E5-4C1C-8AB7-9843E6699136}" srcId="{63E93711-9FF5-4E84-A4FC-7A4FCDAA55AD}" destId="{F68AA8B9-528C-4494-A00D-857CFDEF4348}" srcOrd="4" destOrd="2" parTransId="{18DC343F-59D4-49DB-9BCF-FE2E33EF601D}" sibTransId="{311253B8-FA1A-45F2-871B-FEFF5789EFE8}"/>
    <dgm:cxn modelId="{F000AB10-5245-4DE5-B04F-113BCD293C8B}" srcId="{63E93711-9FF5-4E84-A4FC-7A4FCDAA55AD}" destId="{F12F1A09-41A8-44BB-96F5-308EE81D0492}" srcOrd="5" destOrd="2" parTransId="{D68CFA24-F15A-4932-A800-DD778D541010}" sibTransId="{8D522412-3A86-4D4F-A817-1413C4CD06B1}"/>
    <dgm:cxn modelId="{A71FD01B-67CD-4A2D-AE8F-22D5C4118074}" srcId="{63E93711-9FF5-4E84-A4FC-7A4FCDAA55AD}" destId="{B854FB7C-E092-4D6E-80D7-2396CBE73DEC}" srcOrd="6" destOrd="2" parTransId="{484A49B2-EC6E-4C42-A7E7-4DBBB87E52D6}" sibTransId="{BF9DFB32-0FE5-4369-861F-2F613FEABA2E}"/>
    <dgm:cxn modelId="{5E5B7B4B-CFED-4D8B-93D3-207878125B6A}" srcId="{63E93711-9FF5-4E84-A4FC-7A4FCDAA55AD}" destId="{605B6C36-C3D2-4790-965D-E88123BFAAFB}" srcOrd="7" destOrd="2" parTransId="{678C19BD-D8E0-4686-BADA-37FCCA820BB4}" sibTransId="{9BBCE215-6221-4E67-8120-AEE600FA4906}"/>
    <dgm:cxn modelId="{BEB6DD15-E0DD-48CE-9C9F-526B0E976483}" srcId="{561A97CE-7611-4E19-9D13-52C49FE31129}" destId="{8954BC34-54AB-4EF8-9EF0-EE3D925E484E}" srcOrd="3" destOrd="0" parTransId="{DE61C446-D23D-481D-BB14-9872EDCDA46D}" sibTransId="{97AA5A42-6CDD-4C62-9B9C-DFD2CDE6C888}"/>
    <dgm:cxn modelId="{C0EBD4AA-9689-4CA9-9056-3CED1E572A45}" srcId="{8954BC34-54AB-4EF8-9EF0-EE3D925E484E}" destId="{B3DC8AA8-777B-4317-8107-FF14853113C3}" srcOrd="0" destOrd="3" parTransId="{A86D9ACB-5B13-4F8D-8271-2EF4D1E61DDD}" sibTransId="{3A87FD3B-4BBB-4526-A6F9-83B9B876A765}"/>
    <dgm:cxn modelId="{F77D72AB-8D81-41BA-B5BF-DFAB3C58AFD7}" srcId="{8954BC34-54AB-4EF8-9EF0-EE3D925E484E}" destId="{554410FD-DB63-4CD4-AB9E-A4E4B107B4DE}" srcOrd="1" destOrd="3" parTransId="{A33AB1EF-08BC-441C-98F2-7226D5FCD941}" sibTransId="{0D160EFA-6B03-48FB-9A31-E0E381FEF923}"/>
    <dgm:cxn modelId="{66F40B9A-6EAE-4435-B053-E906473BE0E9}" srcId="{8954BC34-54AB-4EF8-9EF0-EE3D925E484E}" destId="{A77BB3E8-DEE5-41C2-89F5-24E4B96AF9E1}" srcOrd="2" destOrd="3" parTransId="{17728739-CDA6-4C6C-B2FD-49EAD70E467A}" sibTransId="{71CEBE1B-2B85-45FA-AEF6-CDAA7803E9C5}"/>
    <dgm:cxn modelId="{66A4B0F1-AAAC-45C2-8101-798113179A4C}" srcId="{8954BC34-54AB-4EF8-9EF0-EE3D925E484E}" destId="{A5E4192A-9A44-4B47-BDEE-AB1DC2C7F98D}" srcOrd="3" destOrd="3" parTransId="{10E36B83-2AA7-46EE-88D8-705671E7FC02}" sibTransId="{AF0D2DB6-D66E-4A0F-B185-BA69E66D9481}"/>
    <dgm:cxn modelId="{0D76E898-112D-409D-8AB7-6AEB8F50386C}" srcId="{8954BC34-54AB-4EF8-9EF0-EE3D925E484E}" destId="{AA6AE992-4D68-407B-9597-56DED99832E7}" srcOrd="4" destOrd="3" parTransId="{CE7C7403-DCA6-4E31-A2B1-CDEEEA72E81C}" sibTransId="{73772DDF-93EC-4BCB-A0D8-30C7F017C55E}"/>
    <dgm:cxn modelId="{233A991D-0C8A-46EA-B6E4-125D3DFDA3E7}" srcId="{8954BC34-54AB-4EF8-9EF0-EE3D925E484E}" destId="{B9290961-694F-4E3E-AF80-FFDD81F53460}" srcOrd="5" destOrd="3" parTransId="{3401DD8C-583F-490B-AF14-D28CC8760FE3}" sibTransId="{ACD245AB-3BF8-4CCC-8F8C-321A5060A631}"/>
    <dgm:cxn modelId="{2F6B8522-F9DD-41BE-AB3E-5E6E8EB53E24}" srcId="{8954BC34-54AB-4EF8-9EF0-EE3D925E484E}" destId="{9F31DE42-3170-45AD-95A8-C5609B16ADBA}" srcOrd="6" destOrd="3" parTransId="{26387394-25AE-40A2-9EF1-2E72EA4BD878}" sibTransId="{CC77F9F7-3DB3-4EE2-9B31-950A7A9005DE}"/>
    <dgm:cxn modelId="{F274E582-78A3-4609-B0CA-B1954D0B03ED}" srcId="{8954BC34-54AB-4EF8-9EF0-EE3D925E484E}" destId="{D4CA9E56-923A-4D20-8B00-7E6C175AC0CF}" srcOrd="7" destOrd="3" parTransId="{4D67074C-5B5F-4295-948B-E5A143736BE3}" sibTransId="{D7F60287-FD49-4053-A616-5D93B04C5D83}"/>
    <dgm:cxn modelId="{ED308178-17FE-426C-91BC-C7AABAABE46B}" srcId="{561A97CE-7611-4E19-9D13-52C49FE31129}" destId="{C43A955B-45CF-401D-874F-D8DEFC21FF6F}" srcOrd="4" destOrd="0" parTransId="{17BBE79B-19E4-4812-BE26-D193D61D6F51}" sibTransId="{DB93E3F2-A36B-422C-9304-06E309DB430B}"/>
    <dgm:cxn modelId="{1A6DF455-CD77-488E-872C-B47FC83562D3}" srcId="{C43A955B-45CF-401D-874F-D8DEFC21FF6F}" destId="{0F37D284-88B4-49B9-8064-1C9F7ADBB81C}" srcOrd="0" destOrd="4" parTransId="{43FC3452-F3F1-4EEF-8A92-54DC3A253F3D}" sibTransId="{B26431AD-523F-4A38-9005-D4A4B03DEE72}"/>
    <dgm:cxn modelId="{FED4EBDA-3460-49B4-B067-CD5CFA58F12B}" srcId="{C43A955B-45CF-401D-874F-D8DEFC21FF6F}" destId="{2E2C08F8-FEDB-4423-9386-96F13D765E21}" srcOrd="1" destOrd="4" parTransId="{3BEDA3E6-A027-4F12-9671-F4ED9F95F27D}" sibTransId="{D9B36BB8-39B3-446E-8890-BAB98A489276}"/>
    <dgm:cxn modelId="{341B55EC-7B4C-4B13-9D46-E957D54338C6}" srcId="{C43A955B-45CF-401D-874F-D8DEFC21FF6F}" destId="{CEA7D63C-6610-42FA-B31F-5E6C1042DF05}" srcOrd="2" destOrd="4" parTransId="{E9A65DE0-DB70-4DE3-B918-5E19F6178482}" sibTransId="{D737AB52-45D8-46F6-9C9B-47BD07B3882E}"/>
    <dgm:cxn modelId="{A033C53C-A4CE-4813-A6CE-43EF85658D2F}" srcId="{C43A955B-45CF-401D-874F-D8DEFC21FF6F}" destId="{A0B29EAA-3AF5-4129-BD7F-6147B5346BFF}" srcOrd="3" destOrd="4" parTransId="{7A8D8B88-7327-4EB9-9C4B-B47854C77639}" sibTransId="{2FEFA59B-2555-448F-8783-D4024DEDF819}"/>
    <dgm:cxn modelId="{338252A5-6337-4B53-9FE4-E380B886EEA7}" srcId="{C43A955B-45CF-401D-874F-D8DEFC21FF6F}" destId="{26C1538C-A245-4197-A020-C5EEAD393FF0}" srcOrd="4" destOrd="4" parTransId="{F157462A-448F-49C6-8CF3-7B06ABCFD6FE}" sibTransId="{54944049-DFB4-4143-A3FA-3A5E65878803}"/>
    <dgm:cxn modelId="{CB03A807-1D8B-4633-8E2F-FC3B4CC9CC4A}" srcId="{C43A955B-45CF-401D-874F-D8DEFC21FF6F}" destId="{EF38E5B2-A5A9-4A22-AED8-27ECF56F5D2F}" srcOrd="5" destOrd="4" parTransId="{B70B2C01-E7EA-4B13-BDDA-F60D1DF8CDFD}" sibTransId="{D55E0091-387C-4C95-9086-BB663BFCA0D3}"/>
    <dgm:cxn modelId="{D5A91B6B-16D1-4403-B51B-D7C7BEFDA7A3}" srcId="{C43A955B-45CF-401D-874F-D8DEFC21FF6F}" destId="{CC73AF3A-1C88-42D6-B363-875467595C15}" srcOrd="6" destOrd="4" parTransId="{02EBE06A-CD5F-44D9-BFA5-27CFDBA095D9}" sibTransId="{942017F7-0A4A-443B-9E67-1D278B0A6BCC}"/>
    <dgm:cxn modelId="{512D7135-7C80-4EFF-B29B-3343EB1C48AD}" srcId="{C43A955B-45CF-401D-874F-D8DEFC21FF6F}" destId="{B9EF3ACE-22CF-4871-B627-0781169C179F}" srcOrd="7" destOrd="4" parTransId="{0EA82AF4-BC1A-42D3-BAAC-769E357B2346}" sibTransId="{378F7866-3C90-4936-8213-FCEEF035F44F}"/>
    <dgm:cxn modelId="{9F61D57F-A3D4-4C53-8810-C2A21390FF08}" type="presOf" srcId="{561A97CE-7611-4E19-9D13-52C49FE31129}" destId="{26777E3F-EEF7-4F2D-9A39-9FA0D0B87A98}" srcOrd="0" destOrd="0" presId="urn:microsoft.com/office/officeart/2005/8/layout/hList1"/>
    <dgm:cxn modelId="{0022C8C5-E4A9-4B15-B35F-F6EB3DF08C77}" type="presParOf" srcId="{26777E3F-EEF7-4F2D-9A39-9FA0D0B87A98}" destId="{B8341C85-7917-4EDF-AF27-06AB374E44A9}" srcOrd="0" destOrd="0" presId="urn:microsoft.com/office/officeart/2005/8/layout/hList1"/>
    <dgm:cxn modelId="{4648DE34-48F7-4E2A-9E4D-67A9C13669E1}" type="presParOf" srcId="{B8341C85-7917-4EDF-AF27-06AB374E44A9}" destId="{515925E7-FBCD-41FE-9702-F2A4CC072A45}" srcOrd="0" destOrd="0" presId="urn:microsoft.com/office/officeart/2005/8/layout/hList1"/>
    <dgm:cxn modelId="{070DBAB0-537B-460A-B5BA-3C1C5645ED56}" type="presOf" srcId="{D3ED0D72-B0B6-42AE-8D1C-A090165FD4F8}" destId="{515925E7-FBCD-41FE-9702-F2A4CC072A45}" srcOrd="0" destOrd="0" presId="urn:microsoft.com/office/officeart/2005/8/layout/hList1"/>
    <dgm:cxn modelId="{046B141D-BC1D-4332-AECA-CF0AE777929E}" type="presParOf" srcId="{B8341C85-7917-4EDF-AF27-06AB374E44A9}" destId="{C8BEC413-B3E9-4D39-A8A6-53389136125B}" srcOrd="1" destOrd="0" presId="urn:microsoft.com/office/officeart/2005/8/layout/hList1"/>
    <dgm:cxn modelId="{0DD6FEA2-75C5-45B1-BA6A-C17C9EF334A6}" type="presOf" srcId="{4B1B0835-403A-42A8-93CB-6DCF59A6A409}" destId="{C8BEC413-B3E9-4D39-A8A6-53389136125B}" srcOrd="0" destOrd="0" presId="urn:microsoft.com/office/officeart/2005/8/layout/hList1"/>
    <dgm:cxn modelId="{0B0B2B2A-9972-4FDF-9F74-546ECC1EC71A}" type="presOf" srcId="{E7578B92-2E46-4E80-B4CC-41F8102680CC}" destId="{C8BEC413-B3E9-4D39-A8A6-53389136125B}" srcOrd="0" destOrd="1" presId="urn:microsoft.com/office/officeart/2005/8/layout/hList1"/>
    <dgm:cxn modelId="{39D632E2-DA1A-4BB9-A68E-9441371F62FA}" type="presOf" srcId="{51DA243B-84DA-4720-BEDC-EE3F6BEA72B8}" destId="{C8BEC413-B3E9-4D39-A8A6-53389136125B}" srcOrd="0" destOrd="2" presId="urn:microsoft.com/office/officeart/2005/8/layout/hList1"/>
    <dgm:cxn modelId="{8A910981-BC72-40A0-B74F-43B9FF9CA448}" type="presOf" srcId="{2895973B-AD8F-44F2-BC68-5584F23B68E3}" destId="{C8BEC413-B3E9-4D39-A8A6-53389136125B}" srcOrd="0" destOrd="3" presId="urn:microsoft.com/office/officeart/2005/8/layout/hList1"/>
    <dgm:cxn modelId="{0EBF79B1-B498-40D3-AB54-A37474F9F7A6}" type="presOf" srcId="{25751355-AD64-4A51-A8AA-30AAB10381BD}" destId="{C8BEC413-B3E9-4D39-A8A6-53389136125B}" srcOrd="0" destOrd="4" presId="urn:microsoft.com/office/officeart/2005/8/layout/hList1"/>
    <dgm:cxn modelId="{EF2BB2A8-393C-414F-A1DC-D4CCDD433D0B}" type="presOf" srcId="{49E75118-76E3-4D84-8ACC-303FF32A0B8E}" destId="{C8BEC413-B3E9-4D39-A8A6-53389136125B}" srcOrd="0" destOrd="5" presId="urn:microsoft.com/office/officeart/2005/8/layout/hList1"/>
    <dgm:cxn modelId="{49FBF698-B922-47A3-BEA0-2C541E61EB3E}" type="presOf" srcId="{BBBD7B96-9D49-4831-B807-ABF3553A7460}" destId="{C8BEC413-B3E9-4D39-A8A6-53389136125B}" srcOrd="0" destOrd="6" presId="urn:microsoft.com/office/officeart/2005/8/layout/hList1"/>
    <dgm:cxn modelId="{38E41795-3F59-4E43-B1AA-0A7DE7A62326}" type="presOf" srcId="{66E69150-D29D-4677-9C78-9016A68466DF}" destId="{C8BEC413-B3E9-4D39-A8A6-53389136125B}" srcOrd="0" destOrd="7" presId="urn:microsoft.com/office/officeart/2005/8/layout/hList1"/>
    <dgm:cxn modelId="{D4716B66-AED4-4EAB-A1CB-BE0D1876DCCD}" type="presParOf" srcId="{26777E3F-EEF7-4F2D-9A39-9FA0D0B87A98}" destId="{4B4F8505-834A-4442-93AA-E2B69BE40546}" srcOrd="1" destOrd="0" presId="urn:microsoft.com/office/officeart/2005/8/layout/hList1"/>
    <dgm:cxn modelId="{C436519E-17D8-4AA9-B872-7E0792392E86}" type="presParOf" srcId="{26777E3F-EEF7-4F2D-9A39-9FA0D0B87A98}" destId="{397DBDDF-0205-46C1-B7A5-4AE6728AFD78}" srcOrd="2" destOrd="0" presId="urn:microsoft.com/office/officeart/2005/8/layout/hList1"/>
    <dgm:cxn modelId="{2F105070-05A2-40EB-9DE7-2FF4D5FCB5BD}" type="presParOf" srcId="{397DBDDF-0205-46C1-B7A5-4AE6728AFD78}" destId="{70690FA0-EFE8-4F05-8254-1A155749C517}" srcOrd="0" destOrd="2" presId="urn:microsoft.com/office/officeart/2005/8/layout/hList1"/>
    <dgm:cxn modelId="{8B057736-8703-484F-ADC7-DAC2037AD421}" type="presOf" srcId="{45CD01F6-6AE0-4E94-8E3A-FDD2211CA20A}" destId="{70690FA0-EFE8-4F05-8254-1A155749C517}" srcOrd="0" destOrd="0" presId="urn:microsoft.com/office/officeart/2005/8/layout/hList1"/>
    <dgm:cxn modelId="{2B6AA818-BB28-4472-A06E-4F482847B5EB}" type="presParOf" srcId="{397DBDDF-0205-46C1-B7A5-4AE6728AFD78}" destId="{493C2F3E-66B3-44BC-894F-566B240D60A3}" srcOrd="1" destOrd="2" presId="urn:microsoft.com/office/officeart/2005/8/layout/hList1"/>
    <dgm:cxn modelId="{47C6B09D-1FC3-4325-9156-B399C4AE7878}" type="presOf" srcId="{C9139EB5-98B0-43AE-B9D2-300335EDF52A}" destId="{493C2F3E-66B3-44BC-894F-566B240D60A3}" srcOrd="0" destOrd="0" presId="urn:microsoft.com/office/officeart/2005/8/layout/hList1"/>
    <dgm:cxn modelId="{A988C5B7-3049-478D-8FF5-BE4F05F53ABA}" type="presOf" srcId="{24EC0F0F-078F-4536-A001-52C8C8416202}" destId="{493C2F3E-66B3-44BC-894F-566B240D60A3}" srcOrd="0" destOrd="1" presId="urn:microsoft.com/office/officeart/2005/8/layout/hList1"/>
    <dgm:cxn modelId="{C0563BE3-3AA6-451C-AFEE-1F090A99546B}" type="presOf" srcId="{C542919F-3BB5-4FCA-BD12-7ED8C3EB4847}" destId="{493C2F3E-66B3-44BC-894F-566B240D60A3}" srcOrd="0" destOrd="2" presId="urn:microsoft.com/office/officeart/2005/8/layout/hList1"/>
    <dgm:cxn modelId="{4CCA8378-E749-4BB7-9076-86E8EF98099D}" type="presOf" srcId="{B89BD599-02A6-4469-8E69-188BB3C0443C}" destId="{493C2F3E-66B3-44BC-894F-566B240D60A3}" srcOrd="0" destOrd="3" presId="urn:microsoft.com/office/officeart/2005/8/layout/hList1"/>
    <dgm:cxn modelId="{554AF945-2BEA-4413-9D8D-349B7642E2B2}" type="presOf" srcId="{31746FB8-EFDA-4DB7-9A69-9ACA409DB309}" destId="{493C2F3E-66B3-44BC-894F-566B240D60A3}" srcOrd="0" destOrd="4" presId="urn:microsoft.com/office/officeart/2005/8/layout/hList1"/>
    <dgm:cxn modelId="{96843BC8-198C-4A9C-9D98-89FCB404C341}" type="presOf" srcId="{CE15FEFD-2B70-4858-A0F2-AC6839E23753}" destId="{493C2F3E-66B3-44BC-894F-566B240D60A3}" srcOrd="0" destOrd="5" presId="urn:microsoft.com/office/officeart/2005/8/layout/hList1"/>
    <dgm:cxn modelId="{EC1D3E39-C8C5-4C86-876E-7F1907320BD8}" type="presOf" srcId="{D6E37AE8-6BBD-41C5-AFBB-4CBD954F4EAF}" destId="{493C2F3E-66B3-44BC-894F-566B240D60A3}" srcOrd="0" destOrd="6" presId="urn:microsoft.com/office/officeart/2005/8/layout/hList1"/>
    <dgm:cxn modelId="{23FDCEE6-2775-4F7B-BB0B-6E7F8514A78D}" type="presOf" srcId="{EF2668A6-F2FF-4090-9684-C427292ED239}" destId="{493C2F3E-66B3-44BC-894F-566B240D60A3}" srcOrd="0" destOrd="7" presId="urn:microsoft.com/office/officeart/2005/8/layout/hList1"/>
    <dgm:cxn modelId="{DAEE8A35-6E74-4F85-8C30-C176B087011A}" type="presParOf" srcId="{26777E3F-EEF7-4F2D-9A39-9FA0D0B87A98}" destId="{207D2397-07C1-4CD9-AA8A-9271912C739B}" srcOrd="3" destOrd="0" presId="urn:microsoft.com/office/officeart/2005/8/layout/hList1"/>
    <dgm:cxn modelId="{C2E190D1-772A-49A3-933A-4C042BDF2215}" type="presParOf" srcId="{26777E3F-EEF7-4F2D-9A39-9FA0D0B87A98}" destId="{E4A51903-4340-43DF-BFBE-D536F5FC6FAC}" srcOrd="4" destOrd="0" presId="urn:microsoft.com/office/officeart/2005/8/layout/hList1"/>
    <dgm:cxn modelId="{A88887DA-AFA7-4530-B692-37873A0F0792}" type="presParOf" srcId="{E4A51903-4340-43DF-BFBE-D536F5FC6FAC}" destId="{844D9D57-F880-4954-8B8C-44AB1BF2442F}" srcOrd="0" destOrd="4" presId="urn:microsoft.com/office/officeart/2005/8/layout/hList1"/>
    <dgm:cxn modelId="{491F2D50-F873-48E7-B7A1-0B5C1BEE8900}" type="presOf" srcId="{63E93711-9FF5-4E84-A4FC-7A4FCDAA55AD}" destId="{844D9D57-F880-4954-8B8C-44AB1BF2442F}" srcOrd="0" destOrd="0" presId="urn:microsoft.com/office/officeart/2005/8/layout/hList1"/>
    <dgm:cxn modelId="{9CBDEBC0-55CF-4F27-8DB1-5243472F103B}" type="presParOf" srcId="{E4A51903-4340-43DF-BFBE-D536F5FC6FAC}" destId="{D2D42066-3C3F-4F89-8570-BECFC0F488E9}" srcOrd="1" destOrd="4" presId="urn:microsoft.com/office/officeart/2005/8/layout/hList1"/>
    <dgm:cxn modelId="{B8F5E1A6-4BC7-4943-9EFB-E6EE5D6BC171}" type="presOf" srcId="{168B080E-7C6E-4FC3-8F6A-69F11C96824C}" destId="{D2D42066-3C3F-4F89-8570-BECFC0F488E9}" srcOrd="0" destOrd="0" presId="urn:microsoft.com/office/officeart/2005/8/layout/hList1"/>
    <dgm:cxn modelId="{FCCD9EED-AC18-4C1A-AFC9-39921CD1E2BC}" type="presOf" srcId="{38550054-F1D4-465F-B8FB-D9CC1B26D516}" destId="{D2D42066-3C3F-4F89-8570-BECFC0F488E9}" srcOrd="0" destOrd="1" presId="urn:microsoft.com/office/officeart/2005/8/layout/hList1"/>
    <dgm:cxn modelId="{C5A0F375-249A-45DE-932A-037E3491C02F}" type="presOf" srcId="{33E79BF2-352A-47EE-BD59-8284C95D9C3E}" destId="{D2D42066-3C3F-4F89-8570-BECFC0F488E9}" srcOrd="0" destOrd="2" presId="urn:microsoft.com/office/officeart/2005/8/layout/hList1"/>
    <dgm:cxn modelId="{2194769A-45B7-4639-86EB-3F242C38E809}" type="presOf" srcId="{11CE2481-A0DF-48CE-BFC3-EF7413DEC662}" destId="{D2D42066-3C3F-4F89-8570-BECFC0F488E9}" srcOrd="0" destOrd="3" presId="urn:microsoft.com/office/officeart/2005/8/layout/hList1"/>
    <dgm:cxn modelId="{4033C8E2-5D7F-48FA-B085-9F64B58604BC}" type="presOf" srcId="{F68AA8B9-528C-4494-A00D-857CFDEF4348}" destId="{D2D42066-3C3F-4F89-8570-BECFC0F488E9}" srcOrd="0" destOrd="4" presId="urn:microsoft.com/office/officeart/2005/8/layout/hList1"/>
    <dgm:cxn modelId="{32D32BDF-88B4-4B05-A98E-4CDCCD1071A7}" type="presOf" srcId="{F12F1A09-41A8-44BB-96F5-308EE81D0492}" destId="{D2D42066-3C3F-4F89-8570-BECFC0F488E9}" srcOrd="0" destOrd="5" presId="urn:microsoft.com/office/officeart/2005/8/layout/hList1"/>
    <dgm:cxn modelId="{9EA8785C-A315-4555-8A7A-D2341BDE585A}" type="presOf" srcId="{B854FB7C-E092-4D6E-80D7-2396CBE73DEC}" destId="{D2D42066-3C3F-4F89-8570-BECFC0F488E9}" srcOrd="0" destOrd="6" presId="urn:microsoft.com/office/officeart/2005/8/layout/hList1"/>
    <dgm:cxn modelId="{F23FD259-ED69-4A09-B451-0D17A86FAAA0}" type="presOf" srcId="{605B6C36-C3D2-4790-965D-E88123BFAAFB}" destId="{D2D42066-3C3F-4F89-8570-BECFC0F488E9}" srcOrd="0" destOrd="7" presId="urn:microsoft.com/office/officeart/2005/8/layout/hList1"/>
    <dgm:cxn modelId="{C5C44AEF-7F77-4AC5-9906-71A9FAF37C4C}" type="presParOf" srcId="{26777E3F-EEF7-4F2D-9A39-9FA0D0B87A98}" destId="{C0C9E200-A15F-4658-A846-C60779B0AC3A}" srcOrd="5" destOrd="0" presId="urn:microsoft.com/office/officeart/2005/8/layout/hList1"/>
    <dgm:cxn modelId="{44C39AA2-C6C2-4825-B009-D8BD04264D06}" type="presParOf" srcId="{26777E3F-EEF7-4F2D-9A39-9FA0D0B87A98}" destId="{6FEA3AC9-0666-4177-A448-604B7E601051}" srcOrd="6" destOrd="0" presId="urn:microsoft.com/office/officeart/2005/8/layout/hList1"/>
    <dgm:cxn modelId="{A05016B6-A6BB-4FDF-A725-CFCC4B2708A8}" type="presParOf" srcId="{6FEA3AC9-0666-4177-A448-604B7E601051}" destId="{ADF19733-9696-44D8-95A4-31580CFDD99D}" srcOrd="0" destOrd="6" presId="urn:microsoft.com/office/officeart/2005/8/layout/hList1"/>
    <dgm:cxn modelId="{D680A85D-124A-4258-8602-0F91D09B1777}" type="presOf" srcId="{8954BC34-54AB-4EF8-9EF0-EE3D925E484E}" destId="{ADF19733-9696-44D8-95A4-31580CFDD99D}" srcOrd="0" destOrd="0" presId="urn:microsoft.com/office/officeart/2005/8/layout/hList1"/>
    <dgm:cxn modelId="{39747E54-6656-495F-8550-0D399E44F2DA}" type="presParOf" srcId="{6FEA3AC9-0666-4177-A448-604B7E601051}" destId="{7F3F4794-9143-4A56-AB69-1AD274B3E080}" srcOrd="1" destOrd="6" presId="urn:microsoft.com/office/officeart/2005/8/layout/hList1"/>
    <dgm:cxn modelId="{E33A744C-4811-4424-B826-34890ED08247}" type="presOf" srcId="{B3DC8AA8-777B-4317-8107-FF14853113C3}" destId="{7F3F4794-9143-4A56-AB69-1AD274B3E080}" srcOrd="0" destOrd="0" presId="urn:microsoft.com/office/officeart/2005/8/layout/hList1"/>
    <dgm:cxn modelId="{B5A62265-E08E-4D4D-9D40-B61445FE1405}" type="presOf" srcId="{554410FD-DB63-4CD4-AB9E-A4E4B107B4DE}" destId="{7F3F4794-9143-4A56-AB69-1AD274B3E080}" srcOrd="0" destOrd="1" presId="urn:microsoft.com/office/officeart/2005/8/layout/hList1"/>
    <dgm:cxn modelId="{34721F7F-D4D9-49F2-92C9-C3D98C0975E3}" type="presOf" srcId="{A77BB3E8-DEE5-41C2-89F5-24E4B96AF9E1}" destId="{7F3F4794-9143-4A56-AB69-1AD274B3E080}" srcOrd="0" destOrd="2" presId="urn:microsoft.com/office/officeart/2005/8/layout/hList1"/>
    <dgm:cxn modelId="{BE2A4C81-1028-4ACB-81EC-CE20A2E11261}" type="presOf" srcId="{A5E4192A-9A44-4B47-BDEE-AB1DC2C7F98D}" destId="{7F3F4794-9143-4A56-AB69-1AD274B3E080}" srcOrd="0" destOrd="3" presId="urn:microsoft.com/office/officeart/2005/8/layout/hList1"/>
    <dgm:cxn modelId="{8BEA24B9-8E82-4DA2-90F8-1D5928DC4A28}" type="presOf" srcId="{AA6AE992-4D68-407B-9597-56DED99832E7}" destId="{7F3F4794-9143-4A56-AB69-1AD274B3E080}" srcOrd="0" destOrd="4" presId="urn:microsoft.com/office/officeart/2005/8/layout/hList1"/>
    <dgm:cxn modelId="{388B1806-82A4-4677-A0C5-0FAEAE83C3DF}" type="presOf" srcId="{B9290961-694F-4E3E-AF80-FFDD81F53460}" destId="{7F3F4794-9143-4A56-AB69-1AD274B3E080}" srcOrd="0" destOrd="5" presId="urn:microsoft.com/office/officeart/2005/8/layout/hList1"/>
    <dgm:cxn modelId="{C5D10B8F-CF05-44A2-98AB-A9F0B356B9A1}" type="presOf" srcId="{9F31DE42-3170-45AD-95A8-C5609B16ADBA}" destId="{7F3F4794-9143-4A56-AB69-1AD274B3E080}" srcOrd="0" destOrd="6" presId="urn:microsoft.com/office/officeart/2005/8/layout/hList1"/>
    <dgm:cxn modelId="{8E313E4E-675C-4555-AB5D-EDECE4C9ED64}" type="presOf" srcId="{D4CA9E56-923A-4D20-8B00-7E6C175AC0CF}" destId="{7F3F4794-9143-4A56-AB69-1AD274B3E080}" srcOrd="0" destOrd="7" presId="urn:microsoft.com/office/officeart/2005/8/layout/hList1"/>
    <dgm:cxn modelId="{31249CEC-CFCB-4383-BFA3-82117C26CE64}" type="presParOf" srcId="{26777E3F-EEF7-4F2D-9A39-9FA0D0B87A98}" destId="{4CEB42CB-D594-473B-B019-AA550368D4CE}" srcOrd="7" destOrd="0" presId="urn:microsoft.com/office/officeart/2005/8/layout/hList1"/>
    <dgm:cxn modelId="{512842DE-1271-4999-8220-AA721BE90958}" type="presParOf" srcId="{26777E3F-EEF7-4F2D-9A39-9FA0D0B87A98}" destId="{A3B47532-0901-4B5A-8BED-3EEBA6178E19}" srcOrd="8" destOrd="0" presId="urn:microsoft.com/office/officeart/2005/8/layout/hList1"/>
    <dgm:cxn modelId="{EEFEC7C0-94E5-40FA-9DB4-5EF4C9ADC5B3}" type="presParOf" srcId="{A3B47532-0901-4B5A-8BED-3EEBA6178E19}" destId="{C13A39B6-750E-448A-9446-EEA107BE74F3}" srcOrd="0" destOrd="8" presId="urn:microsoft.com/office/officeart/2005/8/layout/hList1"/>
    <dgm:cxn modelId="{8F8E6CA6-D064-48AA-801E-6820026795B5}" type="presOf" srcId="{C43A955B-45CF-401D-874F-D8DEFC21FF6F}" destId="{C13A39B6-750E-448A-9446-EEA107BE74F3}" srcOrd="0" destOrd="0" presId="urn:microsoft.com/office/officeart/2005/8/layout/hList1"/>
    <dgm:cxn modelId="{D623EBAA-6B09-4F5A-B562-64B431A97868}" type="presParOf" srcId="{A3B47532-0901-4B5A-8BED-3EEBA6178E19}" destId="{9396F0D2-E30F-45F6-8CE4-4D8CCC0D727C}" srcOrd="1" destOrd="8" presId="urn:microsoft.com/office/officeart/2005/8/layout/hList1"/>
    <dgm:cxn modelId="{DC044E73-5860-47C1-AB57-0CFA550BBADB}" type="presOf" srcId="{0F37D284-88B4-49B9-8064-1C9F7ADBB81C}" destId="{9396F0D2-E30F-45F6-8CE4-4D8CCC0D727C}" srcOrd="0" destOrd="0" presId="urn:microsoft.com/office/officeart/2005/8/layout/hList1"/>
    <dgm:cxn modelId="{AF3D3CD1-A623-4DEB-9022-DE432E8CF328}" type="presOf" srcId="{2E2C08F8-FEDB-4423-9386-96F13D765E21}" destId="{9396F0D2-E30F-45F6-8CE4-4D8CCC0D727C}" srcOrd="0" destOrd="1" presId="urn:microsoft.com/office/officeart/2005/8/layout/hList1"/>
    <dgm:cxn modelId="{53FDD8CA-7C5D-4447-81B3-3EE73759983C}" type="presOf" srcId="{CEA7D63C-6610-42FA-B31F-5E6C1042DF05}" destId="{9396F0D2-E30F-45F6-8CE4-4D8CCC0D727C}" srcOrd="0" destOrd="2" presId="urn:microsoft.com/office/officeart/2005/8/layout/hList1"/>
    <dgm:cxn modelId="{3486CAE9-5079-47AA-9712-64BD57E9E6E9}" type="presOf" srcId="{A0B29EAA-3AF5-4129-BD7F-6147B5346BFF}" destId="{9396F0D2-E30F-45F6-8CE4-4D8CCC0D727C}" srcOrd="0" destOrd="3" presId="urn:microsoft.com/office/officeart/2005/8/layout/hList1"/>
    <dgm:cxn modelId="{9246A2D9-FF54-447C-A748-369BF6B4D928}" type="presOf" srcId="{26C1538C-A245-4197-A020-C5EEAD393FF0}" destId="{9396F0D2-E30F-45F6-8CE4-4D8CCC0D727C}" srcOrd="0" destOrd="4" presId="urn:microsoft.com/office/officeart/2005/8/layout/hList1"/>
    <dgm:cxn modelId="{7CB0DC3C-762A-4985-8735-D8CFA8097AD1}" type="presOf" srcId="{EF38E5B2-A5A9-4A22-AED8-27ECF56F5D2F}" destId="{9396F0D2-E30F-45F6-8CE4-4D8CCC0D727C}" srcOrd="0" destOrd="5" presId="urn:microsoft.com/office/officeart/2005/8/layout/hList1"/>
    <dgm:cxn modelId="{6D0C9F70-E32B-4917-BB7D-F0E0C5303D25}" type="presOf" srcId="{CC73AF3A-1C88-42D6-B363-875467595C15}" destId="{9396F0D2-E30F-45F6-8CE4-4D8CCC0D727C}" srcOrd="0" destOrd="6" presId="urn:microsoft.com/office/officeart/2005/8/layout/hList1"/>
    <dgm:cxn modelId="{6C3B52BC-E199-488F-A14C-DA01686F2D8B}" type="presOf" srcId="{B9EF3ACE-22CF-4871-B627-0781169C179F}" destId="{9396F0D2-E30F-45F6-8CE4-4D8CCC0D727C}" srcOrd="0" destOrd="7" presId="urn:microsoft.com/office/officeart/2005/8/layout/hList1"/>
  </dgm:cxnLst>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61A97CE-7611-4E19-9D13-52C49FE31129}" type="doc">
      <dgm:prSet csTypeId="urn:microsoft.com/office/officeart/2005/8/colors/accent1_2"/>
      <dgm:spPr/>
      <dgm:t>
        <a:bodyPr/>
        <a:p>
          <a:endParaRPr altLang="en-US"/>
        </a:p>
      </dgm:t>
    </dgm:pt>
    <dgm:pt modelId="{D3ED0D72-B0B6-42AE-8D1C-A090165FD4F8}">
      <dgm:prSet phldr="0" custT="0"/>
      <dgm:spPr/>
      <dgm:t>
        <a:bodyPr vert="horz" wrap="square"/>
        <a:p>
          <a:pPr algn="ctr">
            <a:lnSpc>
              <a:spcPct val="100000"/>
            </a:lnSpc>
            <a:spcBef>
              <a:spcPct val="0"/>
            </a:spcBef>
            <a:spcAft>
              <a:spcPct val="35000"/>
            </a:spcAft>
          </a:pPr>
          <a:r>
            <a:rPr lang="zh-CN" b="1" i="0" u="none" baseline="0">
              <a:solidFill>
                <a:srgbClr val="FF0000"/>
              </a:solidFill>
              <a:latin typeface="微软雅黑" panose="020B0503020204020204" pitchFamily="34" charset="-122"/>
              <a:ea typeface="微软雅黑" panose="020B0503020204020204" pitchFamily="34" charset="-122"/>
              <a:rtl val="0"/>
            </a:rPr>
            <a:t>行政子系统</a:t>
          </a:r>
          <a:r>
            <a:rPr lang="zh-CN" altLang="en-US" b="1" i="0" u="none" baseline="0">
              <a:solidFill>
                <a:srgbClr val="FF0000"/>
              </a:solidFill>
              <a:latin typeface="微软雅黑" panose="020B0503020204020204" pitchFamily="34" charset="-122"/>
              <a:ea typeface="微软雅黑" panose="020B0503020204020204" pitchFamily="34" charset="-122"/>
              <a:rtl val="0"/>
            </a:rPr>
            <a:t/>
          </a:r>
          <a:endParaRPr lang="zh-CN" altLang="en-US" b="1" i="0" u="none" baseline="0">
            <a:solidFill>
              <a:srgbClr val="FF0000"/>
            </a:solidFill>
            <a:latin typeface="微软雅黑" panose="020B0503020204020204" pitchFamily="34" charset="-122"/>
            <a:ea typeface="微软雅黑" panose="020B0503020204020204" pitchFamily="34" charset="-122"/>
            <a:rtl val="0"/>
          </a:endParaRPr>
        </a:p>
      </dgm:t>
    </dgm:pt>
    <dgm:pt modelId="{A4F33A58-5FD5-4003-B920-EFFDB5868C79}" cxnId="{96502633-14A8-4D73-A33C-8546C1138D3A}" type="parTrans">
      <dgm:prSet/>
      <dgm:spPr/>
    </dgm:pt>
    <dgm:pt modelId="{C3E20CE8-14CB-43AD-8800-A38269CEBC80}" cxnId="{96502633-14A8-4D73-A33C-8546C1138D3A}" type="sibTrans">
      <dgm:prSet/>
      <dgm:spPr/>
    </dgm:pt>
    <dgm:pt modelId="{4B1B0835-403A-42A8-93CB-6DCF59A6A409}">
      <dgm:prSet phldr="0" custT="0"/>
      <dgm:spPr/>
      <dgm:t>
        <a:bodyPr vert="horz" wrap="square"/>
        <a:p>
          <a:pPr algn="ctr">
            <a:lnSpc>
              <a:spcPct val="100000"/>
            </a:lnSpc>
            <a:spcBef>
              <a:spcPct val="0"/>
            </a:spcBef>
            <a:spcAft>
              <a:spcPct val="15000"/>
            </a:spcAft>
          </a:pPr>
          <a:r>
            <a:rPr lang="zh-CN" altLang="en-US">
              <a:solidFill>
                <a:srgbClr val="FF0000"/>
              </a:solidFill>
              <a:latin typeface="微软雅黑" panose="020B0503020204020204" pitchFamily="34" charset="-122"/>
              <a:ea typeface="微软雅黑" panose="020B0503020204020204" pitchFamily="34" charset="-122"/>
            </a:rPr>
            <a:t>行政办公</a:t>
          </a:r>
          <a:r>
            <a:rPr lang="zh-CN" altLang="en-US">
              <a:solidFill>
                <a:srgbClr val="FF0000"/>
              </a:solidFill>
              <a:latin typeface="微软雅黑" panose="020B0503020204020204" pitchFamily="34" charset="-122"/>
              <a:ea typeface="微软雅黑" panose="020B0503020204020204" pitchFamily="34" charset="-122"/>
            </a:rPr>
            <a:t/>
          </a:r>
          <a:endParaRPr lang="zh-CN" altLang="en-US">
            <a:solidFill>
              <a:srgbClr val="FF0000"/>
            </a:solidFill>
            <a:latin typeface="微软雅黑" panose="020B0503020204020204" pitchFamily="34" charset="-122"/>
            <a:ea typeface="微软雅黑" panose="020B0503020204020204" pitchFamily="34" charset="-122"/>
          </a:endParaRPr>
        </a:p>
      </dgm:t>
    </dgm:pt>
    <dgm:pt modelId="{F860E925-AE4F-407E-815D-09F75A064B80}" cxnId="{0ED3C539-E79D-4190-ABFF-77AC7E130D7B}" type="parTrans">
      <dgm:prSet/>
      <dgm:spPr/>
    </dgm:pt>
    <dgm:pt modelId="{C11D9B2E-47A0-4816-B048-C671EE39057D}" cxnId="{0ED3C539-E79D-4190-ABFF-77AC7E130D7B}" type="sibTrans">
      <dgm:prSet/>
      <dgm:spPr/>
    </dgm:pt>
    <dgm:pt modelId="{3FA67284-8DDE-4610-97AC-BD83953F9BFC}">
      <dgm:prSet phldr="0" custT="0"/>
      <dgm:spPr/>
      <dgm:t>
        <a:bodyPr vert="horz" wrap="square"/>
        <a:p>
          <a:pPr algn="ctr">
            <a:lnSpc>
              <a:spcPct val="100000"/>
            </a:lnSpc>
            <a:spcBef>
              <a:spcPct val="0"/>
            </a:spcBef>
            <a:spcAft>
              <a:spcPct val="15000"/>
            </a:spcAft>
          </a:pPr>
          <a:r>
            <a:rPr lang="zh-CN" altLang="en-US">
              <a:solidFill>
                <a:srgbClr val="FF0000"/>
              </a:solidFill>
              <a:latin typeface="微软雅黑" panose="020B0503020204020204" pitchFamily="34" charset="-122"/>
              <a:ea typeface="微软雅黑" panose="020B0503020204020204" pitchFamily="34" charset="-122"/>
            </a:rPr>
            <a:t>人事管理</a:t>
          </a:r>
          <a:r>
            <a:rPr lang="zh-CN" altLang="en-US">
              <a:solidFill>
                <a:srgbClr val="FF0000"/>
              </a:solidFill>
              <a:latin typeface="微软雅黑" panose="020B0503020204020204" pitchFamily="34" charset="-122"/>
              <a:ea typeface="微软雅黑" panose="020B0503020204020204" pitchFamily="34" charset="-122"/>
            </a:rPr>
            <a:t/>
          </a:r>
          <a:endParaRPr lang="zh-CN" altLang="en-US">
            <a:solidFill>
              <a:srgbClr val="FF0000"/>
            </a:solidFill>
            <a:latin typeface="微软雅黑" panose="020B0503020204020204" pitchFamily="34" charset="-122"/>
            <a:ea typeface="微软雅黑" panose="020B0503020204020204" pitchFamily="34" charset="-122"/>
          </a:endParaRPr>
        </a:p>
      </dgm:t>
    </dgm:pt>
    <dgm:pt modelId="{1EAF25F2-C8CE-4165-8642-03F96DF48672}" cxnId="{3C690087-493E-4F6B-8F20-4CA2A07151C8}" type="parTrans">
      <dgm:prSet/>
      <dgm:spPr/>
    </dgm:pt>
    <dgm:pt modelId="{BF285310-E4B7-49B0-9C33-6890D1835F02}" cxnId="{3C690087-493E-4F6B-8F20-4CA2A07151C8}" type="sibTrans">
      <dgm:prSet/>
      <dgm:spPr/>
    </dgm:pt>
    <dgm:pt modelId="{D3E7FF59-0F27-4D69-ABEE-CBEE959179F6}">
      <dgm:prSet phldr="0" custT="0"/>
      <dgm:spPr/>
      <dgm:t>
        <a:bodyPr vert="horz" wrap="square"/>
        <a:p>
          <a:pPr algn="ctr">
            <a:lnSpc>
              <a:spcPct val="100000"/>
            </a:lnSpc>
            <a:spcBef>
              <a:spcPct val="0"/>
            </a:spcBef>
            <a:spcAft>
              <a:spcPct val="15000"/>
            </a:spcAft>
          </a:pPr>
          <a:r>
            <a:rPr lang="zh-CN" altLang="en-US">
              <a:solidFill>
                <a:srgbClr val="FF0000"/>
              </a:solidFill>
              <a:latin typeface="微软雅黑" panose="020B0503020204020204" pitchFamily="34" charset="-122"/>
              <a:ea typeface="微软雅黑" panose="020B0503020204020204" pitchFamily="34" charset="-122"/>
            </a:rPr>
            <a:t>勤假管理</a:t>
          </a:r>
          <a:r>
            <a:rPr lang="zh-CN" altLang="en-US">
              <a:solidFill>
                <a:srgbClr val="FF0000"/>
              </a:solidFill>
              <a:latin typeface="微软雅黑" panose="020B0503020204020204" pitchFamily="34" charset="-122"/>
              <a:ea typeface="微软雅黑" panose="020B0503020204020204" pitchFamily="34" charset="-122"/>
            </a:rPr>
            <a:t/>
          </a:r>
          <a:endParaRPr lang="zh-CN" altLang="en-US">
            <a:solidFill>
              <a:srgbClr val="FF0000"/>
            </a:solidFill>
            <a:latin typeface="微软雅黑" panose="020B0503020204020204" pitchFamily="34" charset="-122"/>
            <a:ea typeface="微软雅黑" panose="020B0503020204020204" pitchFamily="34" charset="-122"/>
          </a:endParaRPr>
        </a:p>
      </dgm:t>
    </dgm:pt>
    <dgm:pt modelId="{2094F8DF-3633-49A6-9AB1-A198B7CCF9ED}" cxnId="{5281F84A-E7F2-4AD9-A7B7-1CA8294131B8}" type="parTrans">
      <dgm:prSet/>
      <dgm:spPr/>
    </dgm:pt>
    <dgm:pt modelId="{EA5321DC-6FE0-40BE-A703-419E89C07913}" cxnId="{5281F84A-E7F2-4AD9-A7B7-1CA8294131B8}" type="sibTrans">
      <dgm:prSet/>
      <dgm:spPr/>
    </dgm:pt>
    <dgm:pt modelId="{D638EA0B-E6AA-48C0-9F4A-2B750766DF7B}">
      <dgm:prSet phldr="0" custT="0"/>
      <dgm:spPr/>
      <dgm:t>
        <a:bodyPr vert="horz" wrap="square"/>
        <a:p>
          <a:pPr algn="ctr">
            <a:lnSpc>
              <a:spcPct val="100000"/>
            </a:lnSpc>
            <a:spcBef>
              <a:spcPct val="0"/>
            </a:spcBef>
            <a:spcAft>
              <a:spcPct val="15000"/>
            </a:spcAft>
          </a:pPr>
          <a:r>
            <a:rPr lang="zh-CN" altLang="en-US">
              <a:solidFill>
                <a:srgbClr val="FF0000"/>
              </a:solidFill>
              <a:latin typeface="微软雅黑" panose="020B0503020204020204" pitchFamily="34" charset="-122"/>
              <a:ea typeface="微软雅黑" panose="020B0503020204020204" pitchFamily="34" charset="-122"/>
            </a:rPr>
            <a:t>薪酬体系</a:t>
          </a:r>
          <a:r>
            <a:rPr lang="zh-CN" altLang="en-US">
              <a:solidFill>
                <a:srgbClr val="FF0000"/>
              </a:solidFill>
              <a:latin typeface="微软雅黑" panose="020B0503020204020204" pitchFamily="34" charset="-122"/>
              <a:ea typeface="微软雅黑" panose="020B0503020204020204" pitchFamily="34" charset="-122"/>
            </a:rPr>
            <a:t/>
          </a:r>
          <a:endParaRPr lang="zh-CN" altLang="en-US">
            <a:solidFill>
              <a:srgbClr val="FF0000"/>
            </a:solidFill>
            <a:latin typeface="微软雅黑" panose="020B0503020204020204" pitchFamily="34" charset="-122"/>
            <a:ea typeface="微软雅黑" panose="020B0503020204020204" pitchFamily="34" charset="-122"/>
          </a:endParaRPr>
        </a:p>
      </dgm:t>
    </dgm:pt>
    <dgm:pt modelId="{860DF397-E122-40CA-A026-2503E026FEAF}" cxnId="{581FEBAE-2FB7-47E3-A3E4-CB6281C1C573}" type="parTrans">
      <dgm:prSet/>
      <dgm:spPr/>
    </dgm:pt>
    <dgm:pt modelId="{15635D49-08DC-4856-B724-3749C5D6D574}" cxnId="{581FEBAE-2FB7-47E3-A3E4-CB6281C1C573}" type="sibTrans">
      <dgm:prSet/>
      <dgm:spPr/>
    </dgm:pt>
    <dgm:pt modelId="{0A19013C-204F-4B8E-9668-DCE0A7022B24}">
      <dgm:prSet phldr="0" custT="0"/>
      <dgm:spPr/>
      <dgm:t>
        <a:bodyPr vert="horz" wrap="square"/>
        <a:p>
          <a:pPr algn="ctr">
            <a:lnSpc>
              <a:spcPct val="100000"/>
            </a:lnSpc>
            <a:spcBef>
              <a:spcPct val="0"/>
            </a:spcBef>
            <a:spcAft>
              <a:spcPct val="15000"/>
            </a:spcAft>
          </a:pPr>
          <a:r>
            <a:rPr lang="zh-CN" altLang="en-US">
              <a:solidFill>
                <a:srgbClr val="FF0000"/>
              </a:solidFill>
              <a:latin typeface="微软雅黑" panose="020B0503020204020204" pitchFamily="34" charset="-122"/>
              <a:ea typeface="微软雅黑" panose="020B0503020204020204" pitchFamily="34" charset="-122"/>
              <a:sym typeface="+mn-ea"/>
            </a:rPr>
            <a:t>绩效考核</a:t>
          </a:r>
          <a:r>
            <a:rPr lang="zh-CN" altLang="en-US">
              <a:solidFill>
                <a:srgbClr val="FF0000"/>
              </a:solidFill>
              <a:latin typeface="微软雅黑" panose="020B0503020204020204" pitchFamily="34" charset="-122"/>
              <a:ea typeface="微软雅黑" panose="020B0503020204020204" pitchFamily="34" charset="-122"/>
            </a:rPr>
            <a:t/>
          </a:r>
          <a:endParaRPr lang="zh-CN" altLang="en-US">
            <a:solidFill>
              <a:srgbClr val="FF0000"/>
            </a:solidFill>
            <a:latin typeface="微软雅黑" panose="020B0503020204020204" pitchFamily="34" charset="-122"/>
            <a:ea typeface="微软雅黑" panose="020B0503020204020204" pitchFamily="34" charset="-122"/>
          </a:endParaRPr>
        </a:p>
      </dgm:t>
    </dgm:pt>
    <dgm:pt modelId="{998442C5-DF59-42AC-8FFC-B08673DA205D}" cxnId="{645D1A0E-3000-425A-BA74-6EA0A71DC27B}" type="parTrans">
      <dgm:prSet/>
      <dgm:spPr/>
    </dgm:pt>
    <dgm:pt modelId="{3AD41268-64D6-4808-8E10-E0D26192881E}" cxnId="{645D1A0E-3000-425A-BA74-6EA0A71DC27B}" type="sibTrans">
      <dgm:prSet/>
      <dgm:spPr/>
    </dgm:pt>
    <dgm:pt modelId="{0EDC83E4-D755-4C9A-BA6B-B073FBB59C7C}">
      <dgm:prSet phldr="0" custT="0"/>
      <dgm:spPr/>
      <dgm:t>
        <a:bodyPr vert="horz" wrap="square"/>
        <a:p>
          <a:pPr algn="ctr">
            <a:lnSpc>
              <a:spcPct val="100000"/>
            </a:lnSpc>
            <a:spcBef>
              <a:spcPct val="0"/>
            </a:spcBef>
            <a:spcAft>
              <a:spcPct val="15000"/>
            </a:spcAft>
          </a:pPr>
          <a:r>
            <a:rPr lang="zh-CN" altLang="en-US">
              <a:solidFill>
                <a:srgbClr val="FF0000"/>
              </a:solidFill>
              <a:latin typeface="微软雅黑" panose="020B0503020204020204" pitchFamily="34" charset="-122"/>
              <a:ea typeface="微软雅黑" panose="020B0503020204020204" pitchFamily="34" charset="-122"/>
            </a:rPr>
            <a:t>职位晋降</a:t>
          </a:r>
          <a:r>
            <a:rPr lang="zh-CN" altLang="en-US">
              <a:solidFill>
                <a:srgbClr val="FF0000"/>
              </a:solidFill>
              <a:latin typeface="微软雅黑" panose="020B0503020204020204" pitchFamily="34" charset="-122"/>
              <a:ea typeface="微软雅黑" panose="020B0503020204020204" pitchFamily="34" charset="-122"/>
            </a:rPr>
            <a:t/>
          </a:r>
          <a:endParaRPr lang="zh-CN" altLang="en-US">
            <a:solidFill>
              <a:srgbClr val="FF0000"/>
            </a:solidFill>
            <a:latin typeface="微软雅黑" panose="020B0503020204020204" pitchFamily="34" charset="-122"/>
            <a:ea typeface="微软雅黑" panose="020B0503020204020204" pitchFamily="34" charset="-122"/>
          </a:endParaRPr>
        </a:p>
      </dgm:t>
    </dgm:pt>
    <dgm:pt modelId="{E4C0F057-7EC6-435C-9BDF-166AF33110FD}" cxnId="{D66EB0AC-8026-449C-9C10-88EF83FDB59C}" type="parTrans">
      <dgm:prSet/>
      <dgm:spPr/>
    </dgm:pt>
    <dgm:pt modelId="{59CF1234-B9BB-4EA8-9CFD-E633E7E0CCC9}" cxnId="{D66EB0AC-8026-449C-9C10-88EF83FDB59C}" type="sibTrans">
      <dgm:prSet/>
      <dgm:spPr/>
    </dgm:pt>
    <dgm:pt modelId="{4EBBAD0E-6EDD-4A52-94B2-5CB812CED006}">
      <dgm:prSet phldr="0" custT="0"/>
      <dgm:spPr/>
      <dgm:t>
        <a:bodyPr vert="horz" wrap="square"/>
        <a:p>
          <a:pPr algn="ctr">
            <a:lnSpc>
              <a:spcPct val="100000"/>
            </a:lnSpc>
            <a:spcBef>
              <a:spcPct val="0"/>
            </a:spcBef>
            <a:spcAft>
              <a:spcPct val="15000"/>
            </a:spcAft>
          </a:pPr>
          <a:r>
            <a:rPr lang="zh-CN" altLang="en-US">
              <a:solidFill>
                <a:srgbClr val="FF0000"/>
              </a:solidFill>
              <a:latin typeface="微软雅黑" panose="020B0503020204020204" pitchFamily="34" charset="-122"/>
              <a:ea typeface="微软雅黑" panose="020B0503020204020204" pitchFamily="34" charset="-122"/>
            </a:rPr>
            <a:t>财务管理</a:t>
          </a:r>
          <a:r>
            <a:rPr lang="zh-CN" altLang="en-US">
              <a:solidFill>
                <a:srgbClr val="FF0000"/>
              </a:solidFill>
              <a:latin typeface="微软雅黑" panose="020B0503020204020204" pitchFamily="34" charset="-122"/>
              <a:ea typeface="微软雅黑" panose="020B0503020204020204" pitchFamily="34" charset="-122"/>
            </a:rPr>
            <a:t/>
          </a:r>
          <a:endParaRPr lang="zh-CN" altLang="en-US">
            <a:solidFill>
              <a:srgbClr val="FF0000"/>
            </a:solidFill>
            <a:latin typeface="微软雅黑" panose="020B0503020204020204" pitchFamily="34" charset="-122"/>
            <a:ea typeface="微软雅黑" panose="020B0503020204020204" pitchFamily="34" charset="-122"/>
          </a:endParaRPr>
        </a:p>
      </dgm:t>
    </dgm:pt>
    <dgm:pt modelId="{1B969FF6-4533-4C04-8B21-A5A116D58438}" cxnId="{196E1EBD-6237-4ACF-856F-5E10AD618E25}" type="parTrans">
      <dgm:prSet/>
      <dgm:spPr/>
    </dgm:pt>
    <dgm:pt modelId="{AFEFE3F7-CAC4-4694-B4F4-C7A2B8CF3DFA}" cxnId="{196E1EBD-6237-4ACF-856F-5E10AD618E25}" type="sibTrans">
      <dgm:prSet/>
      <dgm:spPr/>
    </dgm:pt>
    <dgm:pt modelId="{6C7D1296-59D0-4842-9A19-7C9936523141}">
      <dgm:prSet phldr="0" custT="0"/>
      <dgm:spPr/>
      <dgm:t>
        <a:bodyPr vert="horz" wrap="square"/>
        <a:p>
          <a:pPr algn="ctr">
            <a:lnSpc>
              <a:spcPct val="100000"/>
            </a:lnSpc>
            <a:spcBef>
              <a:spcPct val="0"/>
            </a:spcBef>
            <a:spcAft>
              <a:spcPct val="15000"/>
            </a:spcAft>
          </a:pPr>
          <a:r>
            <a:rPr lang="zh-CN" altLang="en-US">
              <a:solidFill>
                <a:srgbClr val="FF0000"/>
              </a:solidFill>
              <a:latin typeface="微软雅黑" panose="020B0503020204020204" pitchFamily="34" charset="-122"/>
              <a:ea typeface="微软雅黑" panose="020B0503020204020204" pitchFamily="34" charset="-122"/>
            </a:rPr>
            <a:t>法务合规</a:t>
          </a:r>
          <a:r>
            <a:rPr lang="zh-CN" altLang="en-US">
              <a:solidFill>
                <a:srgbClr val="FF0000"/>
              </a:solidFill>
              <a:latin typeface="微软雅黑" panose="020B0503020204020204" pitchFamily="34" charset="-122"/>
              <a:ea typeface="微软雅黑" panose="020B0503020204020204" pitchFamily="34" charset="-122"/>
            </a:rPr>
            <a:t/>
          </a:r>
          <a:endParaRPr lang="zh-CN" altLang="en-US">
            <a:solidFill>
              <a:srgbClr val="FF0000"/>
            </a:solidFill>
            <a:latin typeface="微软雅黑" panose="020B0503020204020204" pitchFamily="34" charset="-122"/>
            <a:ea typeface="微软雅黑" panose="020B0503020204020204" pitchFamily="34" charset="-122"/>
          </a:endParaRPr>
        </a:p>
      </dgm:t>
    </dgm:pt>
    <dgm:pt modelId="{1C614A42-65A6-42F1-B041-35A4C9068C7D}" cxnId="{3ADC983B-71EA-4493-BDB4-7076BD48A32D}" type="parTrans">
      <dgm:prSet/>
      <dgm:spPr/>
    </dgm:pt>
    <dgm:pt modelId="{BA909776-1C1D-43E7-A9FD-354FB7779131}" cxnId="{3ADC983B-71EA-4493-BDB4-7076BD48A32D}" type="sibTrans">
      <dgm:prSet/>
      <dgm:spPr/>
    </dgm:pt>
    <dgm:pt modelId="{45CD01F6-6AE0-4E94-8E3A-FDD2211CA20A}">
      <dgm:prSet phldr="0" custT="0"/>
      <dgm:spPr/>
      <dgm:t>
        <a:bodyPr vert="horz" wrap="square"/>
        <a:p>
          <a:pPr algn="ctr">
            <a:lnSpc>
              <a:spcPct val="100000"/>
            </a:lnSpc>
            <a:spcBef>
              <a:spcPct val="0"/>
            </a:spcBef>
            <a:spcAft>
              <a:spcPct val="35000"/>
            </a:spcAft>
          </a:pPr>
          <a:r>
            <a:rPr lang="zh-CN" b="1" i="0" u="none" baseline="0">
              <a:latin typeface="微软雅黑" panose="020B0503020204020204" pitchFamily="34" charset="-122"/>
              <a:ea typeface="微软雅黑" panose="020B0503020204020204" pitchFamily="34" charset="-122"/>
              <a:cs typeface="微软雅黑" panose="020B0503020204020204" pitchFamily="34" charset="-122"/>
              <a:rtl val="0"/>
            </a:rPr>
            <a:t>培训子系统</a:t>
          </a:r>
          <a:r>
            <a:rPr altLang="en-US">
              <a:latin typeface="微软雅黑" panose="020B0503020204020204" pitchFamily="34" charset="-122"/>
              <a:ea typeface="微软雅黑" panose="020B0503020204020204" pitchFamily="34" charset="-122"/>
              <a:cs typeface="微软雅黑" panose="020B0503020204020204" pitchFamily="34" charset="-122"/>
            </a:rPr>
            <a:t/>
          </a:r>
          <a:endParaRPr altLang="en-US">
            <a:latin typeface="微软雅黑" panose="020B0503020204020204" pitchFamily="34" charset="-122"/>
            <a:ea typeface="微软雅黑" panose="020B0503020204020204" pitchFamily="34" charset="-122"/>
            <a:cs typeface="微软雅黑" panose="020B0503020204020204" pitchFamily="34" charset="-122"/>
          </a:endParaRPr>
        </a:p>
      </dgm:t>
    </dgm:pt>
    <dgm:pt modelId="{925F376F-2C24-419E-B434-AE792D2E94A7}" cxnId="{57C21008-9D57-4364-B532-83C400BD665A}" type="parTrans">
      <dgm:prSet/>
      <dgm:spPr/>
    </dgm:pt>
    <dgm:pt modelId="{6521A401-94D3-4459-93C4-B6B0A016E6DD}" cxnId="{57C21008-9D57-4364-B532-83C400BD665A}" type="sibTrans">
      <dgm:prSet/>
      <dgm:spPr/>
    </dgm:pt>
    <dgm:pt modelId="{C9139EB5-98B0-43AE-B9D2-300335EDF52A}">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培训体系</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1FD2586C-3F8F-4A69-8450-1EB1F8D84E53}" cxnId="{2C652969-2EE5-4DBC-81C2-535240EE50B1}" type="parTrans">
      <dgm:prSet/>
      <dgm:spPr/>
    </dgm:pt>
    <dgm:pt modelId="{1C5A3A90-35F2-427F-9F41-A4F8CD82582D}" cxnId="{2C652969-2EE5-4DBC-81C2-535240EE50B1}" type="sibTrans">
      <dgm:prSet/>
      <dgm:spPr/>
    </dgm:pt>
    <dgm:pt modelId="{24EC0F0F-078F-4536-A001-52C8C8416202}">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入职培训</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90127DD9-A260-4571-808C-D8DC03C08D8A}" cxnId="{4D87BC28-3CE7-45AA-8929-479135FEB210}" type="parTrans">
      <dgm:prSet/>
      <dgm:spPr/>
    </dgm:pt>
    <dgm:pt modelId="{C4022B0E-073F-45BF-BD5E-4980693AEAA5}" cxnId="{4D87BC28-3CE7-45AA-8929-479135FEB210}" type="sibTrans">
      <dgm:prSet/>
      <dgm:spPr/>
    </dgm:pt>
    <dgm:pt modelId="{C542919F-3BB5-4FCA-BD12-7ED8C3EB4847}">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企业文化</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D74AE2BF-551B-4A8D-97C8-AF0FE9B8D91E}" cxnId="{55F7F93B-B4CA-4BCC-9623-86A1B2D958D5}" type="parTrans">
      <dgm:prSet/>
      <dgm:spPr/>
    </dgm:pt>
    <dgm:pt modelId="{F5408D27-D1B1-48B3-ACF4-5DF60FA3099F}" cxnId="{55F7F93B-B4CA-4BCC-9623-86A1B2D958D5}" type="sibTrans">
      <dgm:prSet/>
      <dgm:spPr/>
    </dgm:pt>
    <dgm:pt modelId="{B89BD599-02A6-4469-8E69-188BB3C0443C}">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基本能力</a:t>
          </a:r>
          <a:r>
            <a:rPr lang="zh-CN" b="0" i="0" u="none" baseline="0">
              <a:latin typeface="微软雅黑" panose="020B0503020204020204" pitchFamily="34" charset="-122"/>
              <a:ea typeface="微软雅黑" panose="020B0503020204020204" pitchFamily="34" charset="-122"/>
              <a:rtl val="0"/>
            </a:rPr>
            <a:t/>
          </a:r>
          <a:endParaRPr lang="zh-CN" b="0" i="0" u="none" baseline="0">
            <a:latin typeface="微软雅黑" panose="020B0503020204020204" pitchFamily="34" charset="-122"/>
            <a:ea typeface="微软雅黑" panose="020B0503020204020204" pitchFamily="34" charset="-122"/>
            <a:rtl val="0"/>
          </a:endParaRPr>
        </a:p>
      </dgm:t>
    </dgm:pt>
    <dgm:pt modelId="{FBB08291-DC5A-4718-BFDD-39B982E34471}" cxnId="{76192009-A9B8-4EA4-B041-1284940804A1}" type="parTrans">
      <dgm:prSet/>
      <dgm:spPr/>
    </dgm:pt>
    <dgm:pt modelId="{4695EF04-B2B1-41E6-AE36-98E01D09BC6D}" cxnId="{76192009-A9B8-4EA4-B041-1284940804A1}" type="sibTrans">
      <dgm:prSet/>
      <dgm:spPr/>
    </dgm:pt>
    <dgm:pt modelId="{31746FB8-EFDA-4DB7-9A69-9ACA409DB309}">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职业技能</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55DEBC46-B96F-4422-9056-947A9DAB5560}" cxnId="{401651E4-10E8-4281-BC4E-573D90D232B0}" type="parTrans">
      <dgm:prSet/>
      <dgm:spPr/>
    </dgm:pt>
    <dgm:pt modelId="{34AD3C88-8173-4827-B4A0-4F8F8993D69D}" cxnId="{401651E4-10E8-4281-BC4E-573D90D232B0}" type="sibTrans">
      <dgm:prSet/>
      <dgm:spPr/>
    </dgm:pt>
    <dgm:pt modelId="{CE15FEFD-2B70-4858-A0F2-AC6839E23753}">
      <dgm:prSet phldr="0" custT="0"/>
      <dgm:spPr/>
      <dgm:t>
        <a:bodyPr vert="horz" wrap="square"/>
        <a:p>
          <a:pPr algn="ctr">
            <a:lnSpc>
              <a:spcPct val="100000"/>
            </a:lnSpc>
            <a:spcBef>
              <a:spcPct val="0"/>
            </a:spcBef>
            <a:spcAft>
              <a:spcPct val="15000"/>
            </a:spcAft>
          </a:pPr>
          <a:r>
            <a:rPr lang="zh-CN">
              <a:latin typeface="微软雅黑" panose="020B0503020204020204" pitchFamily="34" charset="-122"/>
              <a:ea typeface="微软雅黑" panose="020B0503020204020204" pitchFamily="34" charset="-122"/>
              <a:sym typeface="+mn-ea"/>
            </a:rPr>
            <a:t>营销知识</a:t>
          </a:r>
          <a:endParaRPr lang="zh-CN">
            <a:latin typeface="微软雅黑" panose="020B0503020204020204" pitchFamily="34" charset="-122"/>
            <a:ea typeface="微软雅黑" panose="020B0503020204020204" pitchFamily="34" charset="-122"/>
            <a:sym typeface="+mn-ea"/>
          </a:endParaRPr>
        </a:p>
      </dgm:t>
    </dgm:pt>
    <dgm:pt modelId="{8C8F0A53-2CAA-4C9F-A934-52479034DB62}" cxnId="{942FBDE0-E977-4977-B3E7-8A6B22AA8527}" type="parTrans">
      <dgm:prSet/>
      <dgm:spPr/>
    </dgm:pt>
    <dgm:pt modelId="{95FFDE23-FA28-4377-8AB7-6780C33D4A84}" cxnId="{942FBDE0-E977-4977-B3E7-8A6B22AA8527}" type="sibTrans">
      <dgm:prSet/>
      <dgm:spPr/>
    </dgm:pt>
    <dgm:pt modelId="{D6E37AE8-6BBD-41C5-AFBB-4CBD954F4EAF}">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产品技术</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13AE6DC8-1BC2-4CE2-86FF-2367C59B89EF}" cxnId="{1D6D5AA8-1CDB-4306-BDE0-4BA92177D862}" type="parTrans">
      <dgm:prSet/>
      <dgm:spPr/>
    </dgm:pt>
    <dgm:pt modelId="{ED6DA743-79AC-461A-9EAD-3165E41ED2BD}" cxnId="{1D6D5AA8-1CDB-4306-BDE0-4BA92177D862}" type="sibTrans">
      <dgm:prSet/>
      <dgm:spPr/>
    </dgm:pt>
    <dgm:pt modelId="{EF2668A6-F2FF-4090-9684-C427292ED239}">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线上</a:t>
          </a:r>
          <a:r>
            <a:rPr lang="zh-CN" b="0" i="0" u="none" baseline="0">
              <a:latin typeface="微软雅黑" panose="020B0503020204020204" pitchFamily="34" charset="-122"/>
              <a:ea typeface="微软雅黑" panose="020B0503020204020204" pitchFamily="34" charset="-122"/>
              <a:rtl val="0"/>
            </a:rPr>
            <a:t>课程</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18F292A5-1822-43C4-BD94-63BDAA917DA4}" cxnId="{B5C1E5CA-89D4-4407-A97E-D4E736D196D7}" type="parTrans">
      <dgm:prSet/>
      <dgm:spPr/>
    </dgm:pt>
    <dgm:pt modelId="{49636957-338D-4F8F-BCDA-DB6BD69BFB7C}" cxnId="{B5C1E5CA-89D4-4407-A97E-D4E736D196D7}" type="sibTrans">
      <dgm:prSet/>
      <dgm:spPr/>
    </dgm:pt>
    <dgm:pt modelId="{63E93711-9FF5-4E84-A4FC-7A4FCDAA55AD}">
      <dgm:prSet phldr="0" custT="0"/>
      <dgm:spPr/>
      <dgm:t>
        <a:bodyPr vert="horz" wrap="square"/>
        <a:p>
          <a:pPr algn="ctr">
            <a:lnSpc>
              <a:spcPct val="100000"/>
            </a:lnSpc>
            <a:spcBef>
              <a:spcPct val="0"/>
            </a:spcBef>
            <a:spcAft>
              <a:spcPct val="35000"/>
            </a:spcAft>
          </a:pPr>
          <a:r>
            <a:rPr lang="zh-CN" b="1" i="0" u="none" baseline="0">
              <a:latin typeface="微软雅黑" panose="020B0503020204020204" pitchFamily="34" charset="-122"/>
              <a:ea typeface="微软雅黑" panose="020B0503020204020204" pitchFamily="34" charset="-122"/>
              <a:cs typeface="微软雅黑" panose="020B0503020204020204" pitchFamily="34" charset="-122"/>
              <a:rtl val="0"/>
            </a:rPr>
            <a:t>服务子系统</a:t>
          </a:r>
          <a:r>
            <a:rPr altLang="en-US">
              <a:latin typeface="微软雅黑" panose="020B0503020204020204" pitchFamily="34" charset="-122"/>
              <a:ea typeface="微软雅黑" panose="020B0503020204020204" pitchFamily="34" charset="-122"/>
              <a:cs typeface="微软雅黑" panose="020B0503020204020204" pitchFamily="34" charset="-122"/>
            </a:rPr>
            <a:t/>
          </a:r>
          <a:endParaRPr altLang="en-US">
            <a:latin typeface="微软雅黑" panose="020B0503020204020204" pitchFamily="34" charset="-122"/>
            <a:ea typeface="微软雅黑" panose="020B0503020204020204" pitchFamily="34" charset="-122"/>
            <a:cs typeface="微软雅黑" panose="020B0503020204020204" pitchFamily="34" charset="-122"/>
          </a:endParaRPr>
        </a:p>
      </dgm:t>
    </dgm:pt>
    <dgm:pt modelId="{393D24EE-7B3A-4E66-A46B-DF04C4B4C72B}" cxnId="{53DBC1A7-1E53-433E-BE39-163F45570900}" type="parTrans">
      <dgm:prSet/>
      <dgm:spPr/>
    </dgm:pt>
    <dgm:pt modelId="{97CC500E-B6EE-4269-B1D8-A855718B1B21}" cxnId="{53DBC1A7-1E53-433E-BE39-163F45570900}" type="sibTrans">
      <dgm:prSet/>
      <dgm:spPr/>
    </dgm:pt>
    <dgm:pt modelId="{168B080E-7C6E-4FC3-8F6A-69F11C96824C}">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服务产品</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3B72D541-DAF8-4C72-BC66-6EE49DBC705A}" cxnId="{107447FB-057D-46FE-9490-F29927178D04}" type="parTrans">
      <dgm:prSet/>
      <dgm:spPr/>
    </dgm:pt>
    <dgm:pt modelId="{5230C123-1C72-4966-A3B7-8ED461A07DAE}" cxnId="{107447FB-057D-46FE-9490-F29927178D04}" type="sibTrans">
      <dgm:prSet/>
      <dgm:spPr/>
    </dgm:pt>
    <dgm:pt modelId="{38550054-F1D4-465F-B8FB-D9CC1B26D516}">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服务标准</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E4B7C2F1-B10D-45C8-9645-EEDF80FA754F}" cxnId="{CAE61E99-4A88-4267-9D34-946B380655A1}" type="parTrans">
      <dgm:prSet/>
      <dgm:spPr/>
    </dgm:pt>
    <dgm:pt modelId="{0B2E70EE-350D-431F-A5D6-D2BB4DFA7499}" cxnId="{CAE61E99-4A88-4267-9D34-946B380655A1}" type="sibTrans">
      <dgm:prSet/>
      <dgm:spPr/>
    </dgm:pt>
    <dgm:pt modelId="{33E79BF2-352A-47EE-BD59-8284C95D9C3E}">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服务质量</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6024CA2E-8779-4210-97E2-5BF73F916F03}" cxnId="{87212E7E-9FC4-4FEB-A4BA-D2EB73920901}" type="parTrans">
      <dgm:prSet/>
      <dgm:spPr/>
    </dgm:pt>
    <dgm:pt modelId="{C4289377-0B05-4869-B07E-F1F9E83F1148}" cxnId="{87212E7E-9FC4-4FEB-A4BA-D2EB73920901}" type="sibTrans">
      <dgm:prSet/>
      <dgm:spPr/>
    </dgm:pt>
    <dgm:pt modelId="{11CE2481-A0DF-48CE-BFC3-EF7413DEC662}">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服务优化</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24C4523D-F07B-456C-B9FF-8D73DA52FE4C}" cxnId="{B8841AF3-67FC-4D18-AA88-4798C06DFAE6}" type="parTrans">
      <dgm:prSet/>
      <dgm:spPr/>
    </dgm:pt>
    <dgm:pt modelId="{1F46E794-6E97-44C4-ACDD-E9E805312222}" cxnId="{B8841AF3-67FC-4D18-AA88-4798C06DFAE6}" type="sibTrans">
      <dgm:prSet/>
      <dgm:spPr/>
    </dgm:pt>
    <dgm:pt modelId="{F68AA8B9-528C-4494-A00D-857CFDEF4348}">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产品调试</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18DC343F-59D4-49DB-9BCF-FE2E33EF601D}" cxnId="{3FA2AA07-C636-4A48-89A6-F1C1360739E7}" type="parTrans">
      <dgm:prSet/>
      <dgm:spPr/>
    </dgm:pt>
    <dgm:pt modelId="{311253B8-FA1A-45F2-871B-FEFF5789EFE8}" cxnId="{3FA2AA07-C636-4A48-89A6-F1C1360739E7}" type="sibTrans">
      <dgm:prSet/>
      <dgm:spPr/>
    </dgm:pt>
    <dgm:pt modelId="{F12F1A09-41A8-44BB-96F5-308EE81D0492}">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维保处理</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D68CFA24-F15A-4932-A800-DD778D541010}" cxnId="{3DAB384E-A76E-4C12-A016-C09DAB22AED4}" type="parTrans">
      <dgm:prSet/>
      <dgm:spPr/>
    </dgm:pt>
    <dgm:pt modelId="{8D522412-3A86-4D4F-A817-1413C4CD06B1}" cxnId="{3DAB384E-A76E-4C12-A016-C09DAB22AED4}" type="sibTrans">
      <dgm:prSet/>
      <dgm:spPr/>
    </dgm:pt>
    <dgm:pt modelId="{B854FB7C-E092-4D6E-80D7-2396CBE73DEC}">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施工服务</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484A49B2-EC6E-4C42-A7E7-4DBBB87E52D6}" cxnId="{2975F639-C28B-47E9-92FE-F0E380A0508F}" type="parTrans">
      <dgm:prSet/>
      <dgm:spPr/>
    </dgm:pt>
    <dgm:pt modelId="{BF9DFB32-0FE5-4369-861F-2F613FEABA2E}" cxnId="{2975F639-C28B-47E9-92FE-F0E380A0508F}" type="sibTrans">
      <dgm:prSet/>
      <dgm:spPr/>
    </dgm:pt>
    <dgm:pt modelId="{605B6C36-C3D2-4790-965D-E88123BFAAFB}">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运维服务</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678C19BD-D8E0-4686-BADA-37FCCA820BB4}" cxnId="{AD1BB3E8-DF92-4735-9FA4-CF42481A679F}" type="parTrans">
      <dgm:prSet/>
      <dgm:spPr/>
    </dgm:pt>
    <dgm:pt modelId="{9BBCE215-6221-4E67-8120-AEE600FA4906}" cxnId="{AD1BB3E8-DF92-4735-9FA4-CF42481A679F}" type="sibTrans">
      <dgm:prSet/>
      <dgm:spPr/>
    </dgm:pt>
    <dgm:pt modelId="{8954BC34-54AB-4EF8-9EF0-EE3D925E484E}">
      <dgm:prSet phldr="0" custT="0"/>
      <dgm:spPr/>
      <dgm:t>
        <a:bodyPr vert="horz" wrap="square"/>
        <a:p>
          <a:pPr algn="ctr">
            <a:lnSpc>
              <a:spcPct val="100000"/>
            </a:lnSpc>
            <a:spcBef>
              <a:spcPct val="0"/>
            </a:spcBef>
            <a:spcAft>
              <a:spcPct val="35000"/>
            </a:spcAft>
          </a:pPr>
          <a:r>
            <a:rPr lang="zh-CN" b="1" i="0" u="none" baseline="0">
              <a:solidFill>
                <a:srgbClr val="FF0000"/>
              </a:solidFill>
              <a:latin typeface="微软雅黑" panose="020B0503020204020204" pitchFamily="34" charset="-122"/>
              <a:ea typeface="微软雅黑" panose="020B0503020204020204" pitchFamily="34" charset="-122"/>
              <a:cs typeface="微软雅黑" panose="020B0503020204020204" pitchFamily="34" charset="-122"/>
              <a:rtl val="0"/>
            </a:rPr>
            <a:t>营销子系统</a:t>
          </a:r>
          <a:r>
            <a:rPr lang="zh-CN" altLang="en-US" b="1" i="0" u="none" baseline="0">
              <a:solidFill>
                <a:srgbClr val="FF0000"/>
              </a:solidFill>
              <a:latin typeface="微软雅黑" panose="020B0503020204020204" pitchFamily="34" charset="-122"/>
              <a:ea typeface="微软雅黑" panose="020B0503020204020204" pitchFamily="34" charset="-122"/>
              <a:cs typeface="微软雅黑" panose="020B0503020204020204" pitchFamily="34" charset="-122"/>
              <a:rtl val="0"/>
            </a:rPr>
            <a:t/>
          </a:r>
          <a:endParaRPr lang="zh-CN" altLang="en-US" b="1" i="0" u="none" baseline="0">
            <a:solidFill>
              <a:srgbClr val="FF0000"/>
            </a:solidFill>
            <a:latin typeface="微软雅黑" panose="020B0503020204020204" pitchFamily="34" charset="-122"/>
            <a:ea typeface="微软雅黑" panose="020B0503020204020204" pitchFamily="34" charset="-122"/>
            <a:cs typeface="微软雅黑" panose="020B0503020204020204" pitchFamily="34" charset="-122"/>
            <a:rtl val="0"/>
          </a:endParaRPr>
        </a:p>
      </dgm:t>
    </dgm:pt>
    <dgm:pt modelId="{DE61C446-D23D-481D-BB14-9872EDCDA46D}" cxnId="{731E3448-E764-4F46-9449-32FDB56A1C6F}" type="parTrans">
      <dgm:prSet/>
      <dgm:spPr/>
    </dgm:pt>
    <dgm:pt modelId="{97AA5A42-6CDD-4C62-9B9C-DFD2CDE6C888}" cxnId="{731E3448-E764-4F46-9449-32FDB56A1C6F}" type="sibTrans">
      <dgm:prSet/>
      <dgm:spPr/>
    </dgm:pt>
    <dgm:pt modelId="{B3DC8AA8-777B-4317-8107-FF14853113C3}">
      <dgm:prSet phldr="0" custT="0"/>
      <dgm:spPr/>
      <dgm:t>
        <a:bodyPr vert="horz" wrap="square"/>
        <a:p>
          <a:pPr algn="ctr">
            <a:lnSpc>
              <a:spcPct val="100000"/>
            </a:lnSpc>
            <a:spcBef>
              <a:spcPct val="0"/>
            </a:spcBef>
            <a:spcAft>
              <a:spcPct val="15000"/>
            </a:spcAft>
          </a:pPr>
          <a:r>
            <a:rPr lang="zh-CN" b="0" i="0" u="none" baseline="0">
              <a:solidFill>
                <a:srgbClr val="FF0000"/>
              </a:solidFill>
              <a:latin typeface="微软雅黑" panose="020B0503020204020204" pitchFamily="34" charset="-122"/>
              <a:ea typeface="微软雅黑" panose="020B0503020204020204" pitchFamily="34" charset="-122"/>
              <a:rtl val="0"/>
            </a:rPr>
            <a:t>线索管理</a:t>
          </a:r>
          <a:r>
            <a:rPr altLang="en-US">
              <a:solidFill>
                <a:srgbClr val="FF0000"/>
              </a:solidFill>
              <a:latin typeface="微软雅黑" panose="020B0503020204020204" pitchFamily="34" charset="-122"/>
              <a:ea typeface="微软雅黑" panose="020B0503020204020204" pitchFamily="34" charset="-122"/>
            </a:rPr>
            <a:t/>
          </a:r>
          <a:endParaRPr altLang="en-US">
            <a:solidFill>
              <a:srgbClr val="FF0000"/>
            </a:solidFill>
            <a:latin typeface="微软雅黑" panose="020B0503020204020204" pitchFamily="34" charset="-122"/>
            <a:ea typeface="微软雅黑" panose="020B0503020204020204" pitchFamily="34" charset="-122"/>
          </a:endParaRPr>
        </a:p>
      </dgm:t>
    </dgm:pt>
    <dgm:pt modelId="{A86D9ACB-5B13-4F8D-8271-2EF4D1E61DDD}" cxnId="{8507EF46-3CC8-4F68-9660-688DA26C7E8C}" type="parTrans">
      <dgm:prSet/>
      <dgm:spPr/>
    </dgm:pt>
    <dgm:pt modelId="{3A87FD3B-4BBB-4526-A6F9-83B9B876A765}" cxnId="{8507EF46-3CC8-4F68-9660-688DA26C7E8C}" type="sibTrans">
      <dgm:prSet/>
      <dgm:spPr/>
    </dgm:pt>
    <dgm:pt modelId="{554410FD-DB63-4CD4-AB9E-A4E4B107B4DE}">
      <dgm:prSet phldr="0" custT="0"/>
      <dgm:spPr/>
      <dgm:t>
        <a:bodyPr vert="horz" wrap="square"/>
        <a:p>
          <a:pPr algn="ctr">
            <a:lnSpc>
              <a:spcPct val="100000"/>
            </a:lnSpc>
            <a:spcBef>
              <a:spcPct val="0"/>
            </a:spcBef>
            <a:spcAft>
              <a:spcPct val="15000"/>
            </a:spcAft>
          </a:pPr>
          <a:r>
            <a:rPr lang="zh-CN" b="0" i="0" u="none" baseline="0">
              <a:solidFill>
                <a:srgbClr val="FF0000"/>
              </a:solidFill>
              <a:latin typeface="微软雅黑" panose="020B0503020204020204" pitchFamily="34" charset="-122"/>
              <a:ea typeface="微软雅黑" panose="020B0503020204020204" pitchFamily="34" charset="-122"/>
              <a:rtl val="0"/>
            </a:rPr>
            <a:t>客户管理</a:t>
          </a:r>
          <a:r>
            <a:rPr altLang="en-US">
              <a:solidFill>
                <a:srgbClr val="FF0000"/>
              </a:solidFill>
              <a:latin typeface="微软雅黑" panose="020B0503020204020204" pitchFamily="34" charset="-122"/>
              <a:ea typeface="微软雅黑" panose="020B0503020204020204" pitchFamily="34" charset="-122"/>
            </a:rPr>
            <a:t/>
          </a:r>
          <a:endParaRPr altLang="en-US">
            <a:solidFill>
              <a:srgbClr val="FF0000"/>
            </a:solidFill>
            <a:latin typeface="微软雅黑" panose="020B0503020204020204" pitchFamily="34" charset="-122"/>
            <a:ea typeface="微软雅黑" panose="020B0503020204020204" pitchFamily="34" charset="-122"/>
          </a:endParaRPr>
        </a:p>
      </dgm:t>
    </dgm:pt>
    <dgm:pt modelId="{A33AB1EF-08BC-441C-98F2-7226D5FCD941}" cxnId="{7683155C-DE55-426E-A43D-0F310003BE5D}" type="parTrans">
      <dgm:prSet/>
      <dgm:spPr/>
    </dgm:pt>
    <dgm:pt modelId="{0D160EFA-6B03-48FB-9A31-E0E381FEF923}" cxnId="{7683155C-DE55-426E-A43D-0F310003BE5D}" type="sibTrans">
      <dgm:prSet/>
      <dgm:spPr/>
    </dgm:pt>
    <dgm:pt modelId="{A77BB3E8-DEE5-41C2-89F5-24E4B96AF9E1}">
      <dgm:prSet phldr="0" custT="0"/>
      <dgm:spPr/>
      <dgm:t>
        <a:bodyPr vert="horz" wrap="square"/>
        <a:p>
          <a:pPr algn="ctr">
            <a:lnSpc>
              <a:spcPct val="100000"/>
            </a:lnSpc>
            <a:spcBef>
              <a:spcPct val="0"/>
            </a:spcBef>
            <a:spcAft>
              <a:spcPct val="15000"/>
            </a:spcAft>
          </a:pPr>
          <a:r>
            <a:rPr lang="zh-CN" b="0" i="0" u="none" baseline="0">
              <a:solidFill>
                <a:srgbClr val="FF0000"/>
              </a:solidFill>
              <a:latin typeface="微软雅黑" panose="020B0503020204020204" pitchFamily="34" charset="-122"/>
              <a:ea typeface="微软雅黑" panose="020B0503020204020204" pitchFamily="34" charset="-122"/>
              <a:rtl val="0"/>
            </a:rPr>
            <a:t>供应管理</a:t>
          </a:r>
          <a:r>
            <a:rPr altLang="en-US">
              <a:solidFill>
                <a:srgbClr val="FF0000"/>
              </a:solidFill>
              <a:latin typeface="微软雅黑" panose="020B0503020204020204" pitchFamily="34" charset="-122"/>
              <a:ea typeface="微软雅黑" panose="020B0503020204020204" pitchFamily="34" charset="-122"/>
            </a:rPr>
            <a:t/>
          </a:r>
          <a:endParaRPr altLang="en-US">
            <a:solidFill>
              <a:srgbClr val="FF0000"/>
            </a:solidFill>
            <a:latin typeface="微软雅黑" panose="020B0503020204020204" pitchFamily="34" charset="-122"/>
            <a:ea typeface="微软雅黑" panose="020B0503020204020204" pitchFamily="34" charset="-122"/>
          </a:endParaRPr>
        </a:p>
      </dgm:t>
    </dgm:pt>
    <dgm:pt modelId="{17728739-CDA6-4C6C-B2FD-49EAD70E467A}" cxnId="{89EA6CF3-DA5E-4FFD-8DD9-3AFD9A63C25C}" type="parTrans">
      <dgm:prSet/>
      <dgm:spPr/>
    </dgm:pt>
    <dgm:pt modelId="{71CEBE1B-2B85-45FA-AEF6-CDAA7803E9C5}" cxnId="{89EA6CF3-DA5E-4FFD-8DD9-3AFD9A63C25C}" type="sibTrans">
      <dgm:prSet/>
      <dgm:spPr/>
    </dgm:pt>
    <dgm:pt modelId="{A5E4192A-9A44-4B47-BDEE-AB1DC2C7F98D}">
      <dgm:prSet phldr="0" custT="0"/>
      <dgm:spPr/>
      <dgm:t>
        <a:bodyPr vert="horz" wrap="square"/>
        <a:p>
          <a:pPr algn="ctr">
            <a:lnSpc>
              <a:spcPct val="100000"/>
            </a:lnSpc>
            <a:spcBef>
              <a:spcPct val="0"/>
            </a:spcBef>
            <a:spcAft>
              <a:spcPct val="15000"/>
            </a:spcAft>
          </a:pPr>
          <a:r>
            <a:rPr lang="zh-CN" b="0" i="0" u="none" baseline="0">
              <a:solidFill>
                <a:srgbClr val="FF0000"/>
              </a:solidFill>
              <a:latin typeface="微软雅黑" panose="020B0503020204020204" pitchFamily="34" charset="-122"/>
              <a:ea typeface="微软雅黑" panose="020B0503020204020204" pitchFamily="34" charset="-122"/>
              <a:rtl val="0"/>
            </a:rPr>
            <a:t>项目管理</a:t>
          </a:r>
          <a:r>
            <a:rPr altLang="en-US">
              <a:solidFill>
                <a:srgbClr val="FF0000"/>
              </a:solidFill>
              <a:latin typeface="微软雅黑" panose="020B0503020204020204" pitchFamily="34" charset="-122"/>
              <a:ea typeface="微软雅黑" panose="020B0503020204020204" pitchFamily="34" charset="-122"/>
            </a:rPr>
            <a:t/>
          </a:r>
          <a:endParaRPr altLang="en-US">
            <a:solidFill>
              <a:srgbClr val="FF0000"/>
            </a:solidFill>
            <a:latin typeface="微软雅黑" panose="020B0503020204020204" pitchFamily="34" charset="-122"/>
            <a:ea typeface="微软雅黑" panose="020B0503020204020204" pitchFamily="34" charset="-122"/>
          </a:endParaRPr>
        </a:p>
      </dgm:t>
    </dgm:pt>
    <dgm:pt modelId="{10E36B83-2AA7-46EE-88D8-705671E7FC02}" cxnId="{0B60157F-C486-4A3C-8A5F-6A4ED1A97836}" type="parTrans">
      <dgm:prSet/>
      <dgm:spPr/>
    </dgm:pt>
    <dgm:pt modelId="{AF0D2DB6-D66E-4A0F-B185-BA69E66D9481}" cxnId="{0B60157F-C486-4A3C-8A5F-6A4ED1A97836}" type="sibTrans">
      <dgm:prSet/>
      <dgm:spPr/>
    </dgm:pt>
    <dgm:pt modelId="{AA6AE992-4D68-407B-9597-56DED99832E7}">
      <dgm:prSet phldr="0" custT="0"/>
      <dgm:spPr/>
      <dgm:t>
        <a:bodyPr vert="horz" wrap="square"/>
        <a:p>
          <a:pPr algn="ctr">
            <a:lnSpc>
              <a:spcPct val="100000"/>
            </a:lnSpc>
            <a:spcBef>
              <a:spcPct val="0"/>
            </a:spcBef>
            <a:spcAft>
              <a:spcPct val="15000"/>
            </a:spcAft>
          </a:pPr>
          <a:r>
            <a:rPr lang="zh-CN" b="0" i="0" u="none" baseline="0">
              <a:solidFill>
                <a:srgbClr val="FF0000"/>
              </a:solidFill>
              <a:latin typeface="微软雅黑" panose="020B0503020204020204" pitchFamily="34" charset="-122"/>
              <a:ea typeface="微软雅黑" panose="020B0503020204020204" pitchFamily="34" charset="-122"/>
              <a:rtl val="0"/>
            </a:rPr>
            <a:t>报价管理</a:t>
          </a:r>
          <a:r>
            <a:rPr altLang="en-US">
              <a:solidFill>
                <a:srgbClr val="FF0000"/>
              </a:solidFill>
              <a:latin typeface="微软雅黑" panose="020B0503020204020204" pitchFamily="34" charset="-122"/>
              <a:ea typeface="微软雅黑" panose="020B0503020204020204" pitchFamily="34" charset="-122"/>
            </a:rPr>
            <a:t/>
          </a:r>
          <a:endParaRPr altLang="en-US">
            <a:solidFill>
              <a:srgbClr val="FF0000"/>
            </a:solidFill>
            <a:latin typeface="微软雅黑" panose="020B0503020204020204" pitchFamily="34" charset="-122"/>
            <a:ea typeface="微软雅黑" panose="020B0503020204020204" pitchFamily="34" charset="-122"/>
          </a:endParaRPr>
        </a:p>
      </dgm:t>
    </dgm:pt>
    <dgm:pt modelId="{CE7C7403-DCA6-4E31-A2B1-CDEEEA72E81C}" cxnId="{33A84F15-94AA-4BF3-B591-9AA83D936EA2}" type="parTrans">
      <dgm:prSet/>
      <dgm:spPr/>
    </dgm:pt>
    <dgm:pt modelId="{73772DDF-93EC-4BCB-A0D8-30C7F017C55E}" cxnId="{33A84F15-94AA-4BF3-B591-9AA83D936EA2}" type="sibTrans">
      <dgm:prSet/>
      <dgm:spPr/>
    </dgm:pt>
    <dgm:pt modelId="{B9290961-694F-4E3E-AF80-FFDD81F53460}">
      <dgm:prSet phldr="0" custT="0"/>
      <dgm:spPr/>
      <dgm:t>
        <a:bodyPr vert="horz" wrap="square"/>
        <a:p>
          <a:pPr algn="ctr">
            <a:lnSpc>
              <a:spcPct val="100000"/>
            </a:lnSpc>
            <a:spcBef>
              <a:spcPct val="0"/>
            </a:spcBef>
            <a:spcAft>
              <a:spcPct val="15000"/>
            </a:spcAft>
          </a:pPr>
          <a:r>
            <a:rPr lang="zh-CN" b="0" i="0" u="none" baseline="0">
              <a:solidFill>
                <a:srgbClr val="FF0000"/>
              </a:solidFill>
              <a:latin typeface="微软雅黑" panose="020B0503020204020204" pitchFamily="34" charset="-122"/>
              <a:ea typeface="微软雅黑" panose="020B0503020204020204" pitchFamily="34" charset="-122"/>
              <a:rtl val="0"/>
            </a:rPr>
            <a:t>销售管理</a:t>
          </a:r>
          <a:r>
            <a:rPr altLang="en-US">
              <a:solidFill>
                <a:srgbClr val="FF0000"/>
              </a:solidFill>
              <a:latin typeface="微软雅黑" panose="020B0503020204020204" pitchFamily="34" charset="-122"/>
              <a:ea typeface="微软雅黑" panose="020B0503020204020204" pitchFamily="34" charset="-122"/>
            </a:rPr>
            <a:t/>
          </a:r>
          <a:endParaRPr altLang="en-US">
            <a:solidFill>
              <a:srgbClr val="FF0000"/>
            </a:solidFill>
            <a:latin typeface="微软雅黑" panose="020B0503020204020204" pitchFamily="34" charset="-122"/>
            <a:ea typeface="微软雅黑" panose="020B0503020204020204" pitchFamily="34" charset="-122"/>
          </a:endParaRPr>
        </a:p>
      </dgm:t>
    </dgm:pt>
    <dgm:pt modelId="{3401DD8C-583F-490B-AF14-D28CC8760FE3}" cxnId="{E09498F3-7337-44C6-93AA-4EBC7B9FFD1F}" type="parTrans">
      <dgm:prSet/>
      <dgm:spPr/>
    </dgm:pt>
    <dgm:pt modelId="{ACD245AB-3BF8-4CCC-8F8C-321A5060A631}" cxnId="{E09498F3-7337-44C6-93AA-4EBC7B9FFD1F}" type="sibTrans">
      <dgm:prSet/>
      <dgm:spPr/>
    </dgm:pt>
    <dgm:pt modelId="{9F31DE42-3170-45AD-95A8-C5609B16ADBA}">
      <dgm:prSet phldr="0" custT="0"/>
      <dgm:spPr/>
      <dgm:t>
        <a:bodyPr vert="horz" wrap="square"/>
        <a:p>
          <a:pPr algn="ctr">
            <a:lnSpc>
              <a:spcPct val="100000"/>
            </a:lnSpc>
            <a:spcBef>
              <a:spcPct val="0"/>
            </a:spcBef>
            <a:spcAft>
              <a:spcPct val="15000"/>
            </a:spcAft>
          </a:pPr>
          <a:r>
            <a:rPr lang="zh-CN" b="0" i="0" u="none" baseline="0">
              <a:solidFill>
                <a:srgbClr val="FF0000"/>
              </a:solidFill>
              <a:latin typeface="微软雅黑" panose="020B0503020204020204" pitchFamily="34" charset="-122"/>
              <a:ea typeface="微软雅黑" panose="020B0503020204020204" pitchFamily="34" charset="-122"/>
              <a:rtl val="0"/>
            </a:rPr>
            <a:t>采购管理</a:t>
          </a:r>
          <a:r>
            <a:rPr altLang="en-US">
              <a:solidFill>
                <a:srgbClr val="FF0000"/>
              </a:solidFill>
              <a:latin typeface="微软雅黑" panose="020B0503020204020204" pitchFamily="34" charset="-122"/>
              <a:ea typeface="微软雅黑" panose="020B0503020204020204" pitchFamily="34" charset="-122"/>
            </a:rPr>
            <a:t/>
          </a:r>
          <a:endParaRPr altLang="en-US">
            <a:solidFill>
              <a:srgbClr val="FF0000"/>
            </a:solidFill>
            <a:latin typeface="微软雅黑" panose="020B0503020204020204" pitchFamily="34" charset="-122"/>
            <a:ea typeface="微软雅黑" panose="020B0503020204020204" pitchFamily="34" charset="-122"/>
          </a:endParaRPr>
        </a:p>
      </dgm:t>
    </dgm:pt>
    <dgm:pt modelId="{26387394-25AE-40A2-9EF1-2E72EA4BD878}" cxnId="{52167E39-54AC-4225-BDD9-AF4A3F8467A4}" type="parTrans">
      <dgm:prSet/>
      <dgm:spPr/>
    </dgm:pt>
    <dgm:pt modelId="{CC77F9F7-3DB3-4EE2-9B31-950A7A9005DE}" cxnId="{52167E39-54AC-4225-BDD9-AF4A3F8467A4}" type="sibTrans">
      <dgm:prSet/>
      <dgm:spPr/>
    </dgm:pt>
    <dgm:pt modelId="{D4CA9E56-923A-4D20-8B00-7E6C175AC0CF}">
      <dgm:prSet phldr="0" custT="0"/>
      <dgm:spPr/>
      <dgm:t>
        <a:bodyPr vert="horz" wrap="square"/>
        <a:p>
          <a:pPr algn="ctr">
            <a:lnSpc>
              <a:spcPct val="100000"/>
            </a:lnSpc>
            <a:spcBef>
              <a:spcPct val="0"/>
            </a:spcBef>
            <a:spcAft>
              <a:spcPct val="15000"/>
            </a:spcAft>
          </a:pPr>
          <a:r>
            <a:rPr lang="zh-CN" b="0" i="0" u="none" baseline="0">
              <a:solidFill>
                <a:srgbClr val="FF0000"/>
              </a:solidFill>
              <a:latin typeface="微软雅黑" panose="020B0503020204020204" pitchFamily="34" charset="-122"/>
              <a:ea typeface="微软雅黑" panose="020B0503020204020204" pitchFamily="34" charset="-122"/>
              <a:rtl val="0"/>
            </a:rPr>
            <a:t>提成管理</a:t>
          </a:r>
          <a:r>
            <a:rPr lang="zh-CN" altLang="en-US" b="0" i="0" u="none" baseline="0">
              <a:solidFill>
                <a:srgbClr val="FF0000"/>
              </a:solidFill>
              <a:latin typeface="微软雅黑" panose="020B0503020204020204" pitchFamily="34" charset="-122"/>
              <a:ea typeface="微软雅黑" panose="020B0503020204020204" pitchFamily="34" charset="-122"/>
              <a:rtl val="0"/>
            </a:rPr>
            <a:t/>
          </a:r>
          <a:endParaRPr lang="zh-CN" altLang="en-US" b="0" i="0" u="none" baseline="0">
            <a:solidFill>
              <a:srgbClr val="FF0000"/>
            </a:solidFill>
            <a:latin typeface="微软雅黑" panose="020B0503020204020204" pitchFamily="34" charset="-122"/>
            <a:ea typeface="微软雅黑" panose="020B0503020204020204" pitchFamily="34" charset="-122"/>
            <a:rtl val="0"/>
          </a:endParaRPr>
        </a:p>
      </dgm:t>
    </dgm:pt>
    <dgm:pt modelId="{4D67074C-5B5F-4295-948B-E5A143736BE3}" cxnId="{D728022C-6E8D-4FE9-857E-0EA617B0F5AC}" type="parTrans">
      <dgm:prSet/>
      <dgm:spPr/>
    </dgm:pt>
    <dgm:pt modelId="{D7F60287-FD49-4053-A616-5D93B04C5D83}" cxnId="{D728022C-6E8D-4FE9-857E-0EA617B0F5AC}" type="sibTrans">
      <dgm:prSet/>
      <dgm:spPr/>
    </dgm:pt>
    <dgm:pt modelId="{C43A955B-45CF-401D-874F-D8DEFC21FF6F}">
      <dgm:prSet phldr="0" custT="0"/>
      <dgm:spPr/>
      <dgm:t>
        <a:bodyPr vert="horz" wrap="square"/>
        <a:p>
          <a:pPr algn="ctr">
            <a:lnSpc>
              <a:spcPct val="100000"/>
            </a:lnSpc>
            <a:spcBef>
              <a:spcPct val="0"/>
            </a:spcBef>
            <a:spcAft>
              <a:spcPct val="35000"/>
            </a:spcAft>
          </a:pPr>
          <a:r>
            <a:rPr lang="zh-CN" b="1" i="0" u="none" baseline="0">
              <a:latin typeface="微软雅黑" panose="020B0503020204020204" pitchFamily="34" charset="-122"/>
              <a:ea typeface="微软雅黑" panose="020B0503020204020204" pitchFamily="34" charset="-122"/>
              <a:cs typeface="微软雅黑" panose="020B0503020204020204" pitchFamily="34" charset="-122"/>
              <a:rtl val="0"/>
            </a:rPr>
            <a:t>产品子系统</a:t>
          </a:r>
          <a:r>
            <a:rPr altLang="en-US">
              <a:latin typeface="微软雅黑" panose="020B0503020204020204" pitchFamily="34" charset="-122"/>
              <a:ea typeface="微软雅黑" panose="020B0503020204020204" pitchFamily="34" charset="-122"/>
              <a:cs typeface="微软雅黑" panose="020B0503020204020204" pitchFamily="34" charset="-122"/>
            </a:rPr>
            <a:t/>
          </a:r>
          <a:endParaRPr altLang="en-US">
            <a:latin typeface="微软雅黑" panose="020B0503020204020204" pitchFamily="34" charset="-122"/>
            <a:ea typeface="微软雅黑" panose="020B0503020204020204" pitchFamily="34" charset="-122"/>
            <a:cs typeface="微软雅黑" panose="020B0503020204020204" pitchFamily="34" charset="-122"/>
          </a:endParaRPr>
        </a:p>
      </dgm:t>
    </dgm:pt>
    <dgm:pt modelId="{17BBE79B-19E4-4812-BE26-D193D61D6F51}" cxnId="{79A15219-0DEF-497F-9410-8BD46E9505BF}" type="parTrans">
      <dgm:prSet/>
      <dgm:spPr/>
    </dgm:pt>
    <dgm:pt modelId="{DB93E3F2-A36B-422C-9304-06E309DB430B}" cxnId="{79A15219-0DEF-497F-9410-8BD46E9505BF}" type="sibTrans">
      <dgm:prSet/>
      <dgm:spPr/>
    </dgm:pt>
    <dgm:pt modelId="{0F37D284-88B4-49B9-8064-1C9F7ADBB81C}">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研发管理</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43FC3452-F3F1-4EEF-8A92-54DC3A253F3D}" cxnId="{2D644CE6-6A58-4449-A351-EADC7E2C6B63}" type="parTrans">
      <dgm:prSet/>
      <dgm:spPr/>
    </dgm:pt>
    <dgm:pt modelId="{B26431AD-523F-4A38-9005-D4A4B03DEE72}" cxnId="{2D644CE6-6A58-4449-A351-EADC7E2C6B63}" type="sibTrans">
      <dgm:prSet/>
      <dgm:spPr/>
    </dgm:pt>
    <dgm:pt modelId="{2E2C08F8-FEDB-4423-9386-96F13D765E21}">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制造管理</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3BEDA3E6-A027-4F12-9671-F4ED9F95F27D}" cxnId="{53EA4684-DD7D-4557-8A85-7F116B57B4BA}" type="parTrans">
      <dgm:prSet/>
      <dgm:spPr/>
    </dgm:pt>
    <dgm:pt modelId="{D9B36BB8-39B3-446E-8890-BAB98A489276}" cxnId="{53EA4684-DD7D-4557-8A85-7F116B57B4BA}" type="sibTrans">
      <dgm:prSet/>
      <dgm:spPr/>
    </dgm:pt>
    <dgm:pt modelId="{CEA7D63C-6610-42FA-B31F-5E6C1042DF05}">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质量管理</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E9A65DE0-DB70-4DE3-B918-5E19F6178482}" cxnId="{A4E298D1-78D3-46AE-9F00-13506AE19CE2}" type="parTrans">
      <dgm:prSet/>
      <dgm:spPr/>
    </dgm:pt>
    <dgm:pt modelId="{D737AB52-45D8-46F6-9C9B-47BD07B3882E}" cxnId="{A4E298D1-78D3-46AE-9F00-13506AE19CE2}" type="sibTrans">
      <dgm:prSet/>
      <dgm:spPr/>
    </dgm:pt>
    <dgm:pt modelId="{A0B29EAA-3AF5-4129-BD7F-6147B5346BFF}">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原料管理</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7A8D8B88-7327-4EB9-9C4B-B47854C77639}" cxnId="{A94D3EBF-B5AC-4AA2-8BC5-3A7780B9195C}" type="parTrans">
      <dgm:prSet/>
      <dgm:spPr/>
    </dgm:pt>
    <dgm:pt modelId="{2FEFA59B-2555-448F-8783-D4024DEDF819}" cxnId="{A94D3EBF-B5AC-4AA2-8BC5-3A7780B9195C}" type="sibTrans">
      <dgm:prSet/>
      <dgm:spPr/>
    </dgm:pt>
    <dgm:pt modelId="{26C1538C-A245-4197-A020-C5EEAD393FF0}">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数据管理</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F157462A-448F-49C6-8CF3-7B06ABCFD6FE}" cxnId="{50FE1322-03F4-4D36-BFC7-839D048E378C}" type="parTrans">
      <dgm:prSet/>
      <dgm:spPr/>
    </dgm:pt>
    <dgm:pt modelId="{54944049-DFB4-4143-A3FA-3A5E65878803}" cxnId="{50FE1322-03F4-4D36-BFC7-839D048E378C}" type="sibTrans">
      <dgm:prSet/>
      <dgm:spPr/>
    </dgm:pt>
    <dgm:pt modelId="{EF38E5B2-A5A9-4A22-AED8-27ECF56F5D2F}">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仓储管理</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B70B2C01-E7EA-4B13-BDDA-F60D1DF8CDFD}" cxnId="{26AB434E-9848-430A-AF6D-D36F057126AF}" type="parTrans">
      <dgm:prSet/>
      <dgm:spPr/>
    </dgm:pt>
    <dgm:pt modelId="{D55E0091-387C-4C95-9086-BB663BFCA0D3}" cxnId="{26AB434E-9848-430A-AF6D-D36F057126AF}" type="sibTrans">
      <dgm:prSet/>
      <dgm:spPr/>
    </dgm:pt>
    <dgm:pt modelId="{CC73AF3A-1C88-42D6-B363-875467595C15}">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物流管理</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02EBE06A-CD5F-44D9-BFA5-27CFDBA095D9}" cxnId="{F86A02E9-7DB8-4122-BD7B-AFCB737D81EC}" type="parTrans">
      <dgm:prSet/>
      <dgm:spPr/>
    </dgm:pt>
    <dgm:pt modelId="{942017F7-0A4A-443B-9E67-1D278B0A6BCC}" cxnId="{F86A02E9-7DB8-4122-BD7B-AFCB737D81EC}" type="sibTrans">
      <dgm:prSet/>
      <dgm:spPr/>
    </dgm:pt>
    <dgm:pt modelId="{B9EF3ACE-22CF-4871-B627-0781169C179F}">
      <dgm:prSet phldr="0" custT="0"/>
      <dgm:spPr/>
      <dgm:t>
        <a:bodyPr vert="horz" wrap="square"/>
        <a:p>
          <a:pPr algn="ctr">
            <a:lnSpc>
              <a:spcPct val="100000"/>
            </a:lnSpc>
            <a:spcBef>
              <a:spcPct val="0"/>
            </a:spcBef>
            <a:spcAft>
              <a:spcPct val="15000"/>
            </a:spcAft>
          </a:pPr>
          <a:r>
            <a:rPr lang="zh-CN" b="0" i="0" u="none" baseline="0">
              <a:latin typeface="微软雅黑" panose="020B0503020204020204" pitchFamily="34" charset="-122"/>
              <a:ea typeface="微软雅黑" panose="020B0503020204020204" pitchFamily="34" charset="-122"/>
              <a:rtl val="0"/>
            </a:rPr>
            <a:t>合规管控</a:t>
          </a:r>
          <a:r>
            <a:rPr altLang="en-US">
              <a:latin typeface="微软雅黑" panose="020B0503020204020204" pitchFamily="34" charset="-122"/>
              <a:ea typeface="微软雅黑" panose="020B0503020204020204" pitchFamily="34" charset="-122"/>
            </a:rPr>
            <a:t/>
          </a:r>
          <a:endParaRPr altLang="en-US">
            <a:latin typeface="微软雅黑" panose="020B0503020204020204" pitchFamily="34" charset="-122"/>
            <a:ea typeface="微软雅黑" panose="020B0503020204020204" pitchFamily="34" charset="-122"/>
          </a:endParaRPr>
        </a:p>
      </dgm:t>
    </dgm:pt>
    <dgm:pt modelId="{0EA82AF4-BC1A-42D3-BAAC-769E357B2346}" cxnId="{2EEBD3C1-37EC-42A1-8811-E229041399D3}" type="parTrans">
      <dgm:prSet/>
      <dgm:spPr/>
    </dgm:pt>
    <dgm:pt modelId="{378F7866-3C90-4936-8213-FCEEF035F44F}" cxnId="{2EEBD3C1-37EC-42A1-8811-E229041399D3}" type="sibTrans">
      <dgm:prSet/>
      <dgm:spPr/>
    </dgm:pt>
    <dgm:pt modelId="{26777E3F-EEF7-4F2D-9A39-9FA0D0B87A98}" type="pres">
      <dgm:prSet presAssocID="{561A97CE-7611-4E19-9D13-52C49FE31129}" presName="Name0" presStyleCnt="0">
        <dgm:presLayoutVars>
          <dgm:dir/>
          <dgm:animLvl val="lvl"/>
          <dgm:resizeHandles val="exact"/>
        </dgm:presLayoutVars>
      </dgm:prSet>
      <dgm:spPr/>
    </dgm:pt>
    <dgm:pt modelId="{B8341C85-7917-4EDF-AF27-06AB374E44A9}" type="pres">
      <dgm:prSet presAssocID="{D3ED0D72-B0B6-42AE-8D1C-A090165FD4F8}" presName="composite" presStyleCnt="0"/>
      <dgm:spPr/>
    </dgm:pt>
    <dgm:pt modelId="{515925E7-FBCD-41FE-9702-F2A4CC072A45}" type="pres">
      <dgm:prSet presAssocID="{D3ED0D72-B0B6-42AE-8D1C-A090165FD4F8}" presName="parTx" presStyleLbl="alignNode1" presStyleIdx="0" presStyleCnt="5">
        <dgm:presLayoutVars>
          <dgm:chMax val="0"/>
          <dgm:chPref val="0"/>
          <dgm:bulletEnabled val="1"/>
        </dgm:presLayoutVars>
      </dgm:prSet>
      <dgm:spPr/>
    </dgm:pt>
    <dgm:pt modelId="{C8BEC413-B3E9-4D39-A8A6-53389136125B}" type="pres">
      <dgm:prSet presAssocID="{D3ED0D72-B0B6-42AE-8D1C-A090165FD4F8}" presName="desTx" presStyleLbl="alignAccFollowNode1" presStyleIdx="0" presStyleCnt="5">
        <dgm:presLayoutVars>
          <dgm:bulletEnabled val="1"/>
        </dgm:presLayoutVars>
      </dgm:prSet>
      <dgm:spPr/>
    </dgm:pt>
    <dgm:pt modelId="{4B4F8505-834A-4442-93AA-E2B69BE40546}" type="pres">
      <dgm:prSet presAssocID="{C3E20CE8-14CB-43AD-8800-A38269CEBC80}" presName="space" presStyleCnt="0"/>
      <dgm:spPr/>
    </dgm:pt>
    <dgm:pt modelId="{397DBDDF-0205-46C1-B7A5-4AE6728AFD78}" type="pres">
      <dgm:prSet presAssocID="{45CD01F6-6AE0-4E94-8E3A-FDD2211CA20A}" presName="composite" presStyleCnt="0"/>
      <dgm:spPr/>
    </dgm:pt>
    <dgm:pt modelId="{70690FA0-EFE8-4F05-8254-1A155749C517}" type="pres">
      <dgm:prSet presAssocID="{45CD01F6-6AE0-4E94-8E3A-FDD2211CA20A}" presName="parTx" presStyleLbl="alignNode1" presStyleIdx="1" presStyleCnt="5">
        <dgm:presLayoutVars>
          <dgm:chMax val="0"/>
          <dgm:chPref val="0"/>
          <dgm:bulletEnabled val="1"/>
        </dgm:presLayoutVars>
      </dgm:prSet>
      <dgm:spPr/>
    </dgm:pt>
    <dgm:pt modelId="{493C2F3E-66B3-44BC-894F-566B240D60A3}" type="pres">
      <dgm:prSet presAssocID="{45CD01F6-6AE0-4E94-8E3A-FDD2211CA20A}" presName="desTx" presStyleLbl="alignAccFollowNode1" presStyleIdx="1" presStyleCnt="5">
        <dgm:presLayoutVars>
          <dgm:bulletEnabled val="1"/>
        </dgm:presLayoutVars>
      </dgm:prSet>
      <dgm:spPr/>
    </dgm:pt>
    <dgm:pt modelId="{207D2397-07C1-4CD9-AA8A-9271912C739B}" type="pres">
      <dgm:prSet presAssocID="{6521A401-94D3-4459-93C4-B6B0A016E6DD}" presName="space" presStyleCnt="0"/>
      <dgm:spPr/>
    </dgm:pt>
    <dgm:pt modelId="{E4A51903-4340-43DF-BFBE-D536F5FC6FAC}" type="pres">
      <dgm:prSet presAssocID="{63E93711-9FF5-4E84-A4FC-7A4FCDAA55AD}" presName="composite" presStyleCnt="0"/>
      <dgm:spPr/>
    </dgm:pt>
    <dgm:pt modelId="{844D9D57-F880-4954-8B8C-44AB1BF2442F}" type="pres">
      <dgm:prSet presAssocID="{63E93711-9FF5-4E84-A4FC-7A4FCDAA55AD}" presName="parTx" presStyleLbl="alignNode1" presStyleIdx="2" presStyleCnt="5">
        <dgm:presLayoutVars>
          <dgm:chMax val="0"/>
          <dgm:chPref val="0"/>
          <dgm:bulletEnabled val="1"/>
        </dgm:presLayoutVars>
      </dgm:prSet>
      <dgm:spPr/>
    </dgm:pt>
    <dgm:pt modelId="{D2D42066-3C3F-4F89-8570-BECFC0F488E9}" type="pres">
      <dgm:prSet presAssocID="{63E93711-9FF5-4E84-A4FC-7A4FCDAA55AD}" presName="desTx" presStyleLbl="alignAccFollowNode1" presStyleIdx="2" presStyleCnt="5">
        <dgm:presLayoutVars>
          <dgm:bulletEnabled val="1"/>
        </dgm:presLayoutVars>
      </dgm:prSet>
      <dgm:spPr/>
    </dgm:pt>
    <dgm:pt modelId="{C0C9E200-A15F-4658-A846-C60779B0AC3A}" type="pres">
      <dgm:prSet presAssocID="{97CC500E-B6EE-4269-B1D8-A855718B1B21}" presName="space" presStyleCnt="0"/>
      <dgm:spPr/>
    </dgm:pt>
    <dgm:pt modelId="{6FEA3AC9-0666-4177-A448-604B7E601051}" type="pres">
      <dgm:prSet presAssocID="{8954BC34-54AB-4EF8-9EF0-EE3D925E484E}" presName="composite" presStyleCnt="0"/>
      <dgm:spPr/>
    </dgm:pt>
    <dgm:pt modelId="{ADF19733-9696-44D8-95A4-31580CFDD99D}" type="pres">
      <dgm:prSet presAssocID="{8954BC34-54AB-4EF8-9EF0-EE3D925E484E}" presName="parTx" presStyleLbl="alignNode1" presStyleIdx="3" presStyleCnt="5">
        <dgm:presLayoutVars>
          <dgm:chMax val="0"/>
          <dgm:chPref val="0"/>
          <dgm:bulletEnabled val="1"/>
        </dgm:presLayoutVars>
      </dgm:prSet>
      <dgm:spPr/>
    </dgm:pt>
    <dgm:pt modelId="{7F3F4794-9143-4A56-AB69-1AD274B3E080}" type="pres">
      <dgm:prSet presAssocID="{8954BC34-54AB-4EF8-9EF0-EE3D925E484E}" presName="desTx" presStyleLbl="alignAccFollowNode1" presStyleIdx="3" presStyleCnt="5">
        <dgm:presLayoutVars>
          <dgm:bulletEnabled val="1"/>
        </dgm:presLayoutVars>
      </dgm:prSet>
      <dgm:spPr/>
    </dgm:pt>
    <dgm:pt modelId="{4CEB42CB-D594-473B-B019-AA550368D4CE}" type="pres">
      <dgm:prSet presAssocID="{97AA5A42-6CDD-4C62-9B9C-DFD2CDE6C888}" presName="space" presStyleCnt="0"/>
      <dgm:spPr/>
    </dgm:pt>
    <dgm:pt modelId="{A3B47532-0901-4B5A-8BED-3EEBA6178E19}" type="pres">
      <dgm:prSet presAssocID="{C43A955B-45CF-401D-874F-D8DEFC21FF6F}" presName="composite" presStyleCnt="0"/>
      <dgm:spPr/>
    </dgm:pt>
    <dgm:pt modelId="{C13A39B6-750E-448A-9446-EEA107BE74F3}" type="pres">
      <dgm:prSet presAssocID="{C43A955B-45CF-401D-874F-D8DEFC21FF6F}" presName="parTx" presStyleLbl="alignNode1" presStyleIdx="4" presStyleCnt="5">
        <dgm:presLayoutVars>
          <dgm:chMax val="0"/>
          <dgm:chPref val="0"/>
          <dgm:bulletEnabled val="1"/>
        </dgm:presLayoutVars>
      </dgm:prSet>
      <dgm:spPr/>
    </dgm:pt>
    <dgm:pt modelId="{9396F0D2-E30F-45F6-8CE4-4D8CCC0D727C}" type="pres">
      <dgm:prSet presAssocID="{C43A955B-45CF-401D-874F-D8DEFC21FF6F}" presName="desTx" presStyleLbl="alignAccFollowNode1" presStyleIdx="4" presStyleCnt="5">
        <dgm:presLayoutVars>
          <dgm:bulletEnabled val="1"/>
        </dgm:presLayoutVars>
      </dgm:prSet>
      <dgm:spPr/>
    </dgm:pt>
  </dgm:ptLst>
  <dgm:cxnLst>
    <dgm:cxn modelId="{96502633-14A8-4D73-A33C-8546C1138D3A}" srcId="{561A97CE-7611-4E19-9D13-52C49FE31129}" destId="{D3ED0D72-B0B6-42AE-8D1C-A090165FD4F8}" srcOrd="0" destOrd="0" parTransId="{A4F33A58-5FD5-4003-B920-EFFDB5868C79}" sibTransId="{C3E20CE8-14CB-43AD-8800-A38269CEBC80}"/>
    <dgm:cxn modelId="{0ED3C539-E79D-4190-ABFF-77AC7E130D7B}" srcId="{D3ED0D72-B0B6-42AE-8D1C-A090165FD4F8}" destId="{4B1B0835-403A-42A8-93CB-6DCF59A6A409}" srcOrd="0" destOrd="0" parTransId="{F860E925-AE4F-407E-815D-09F75A064B80}" sibTransId="{C11D9B2E-47A0-4816-B048-C671EE39057D}"/>
    <dgm:cxn modelId="{3C690087-493E-4F6B-8F20-4CA2A07151C8}" srcId="{D3ED0D72-B0B6-42AE-8D1C-A090165FD4F8}" destId="{3FA67284-8DDE-4610-97AC-BD83953F9BFC}" srcOrd="1" destOrd="0" parTransId="{1EAF25F2-C8CE-4165-8642-03F96DF48672}" sibTransId="{BF285310-E4B7-49B0-9C33-6890D1835F02}"/>
    <dgm:cxn modelId="{5281F84A-E7F2-4AD9-A7B7-1CA8294131B8}" srcId="{D3ED0D72-B0B6-42AE-8D1C-A090165FD4F8}" destId="{D3E7FF59-0F27-4D69-ABEE-CBEE959179F6}" srcOrd="2" destOrd="0" parTransId="{2094F8DF-3633-49A6-9AB1-A198B7CCF9ED}" sibTransId="{EA5321DC-6FE0-40BE-A703-419E89C07913}"/>
    <dgm:cxn modelId="{581FEBAE-2FB7-47E3-A3E4-CB6281C1C573}" srcId="{D3ED0D72-B0B6-42AE-8D1C-A090165FD4F8}" destId="{D638EA0B-E6AA-48C0-9F4A-2B750766DF7B}" srcOrd="3" destOrd="0" parTransId="{860DF397-E122-40CA-A026-2503E026FEAF}" sibTransId="{15635D49-08DC-4856-B724-3749C5D6D574}"/>
    <dgm:cxn modelId="{645D1A0E-3000-425A-BA74-6EA0A71DC27B}" srcId="{D3ED0D72-B0B6-42AE-8D1C-A090165FD4F8}" destId="{0A19013C-204F-4B8E-9668-DCE0A7022B24}" srcOrd="4" destOrd="0" parTransId="{998442C5-DF59-42AC-8FFC-B08673DA205D}" sibTransId="{3AD41268-64D6-4808-8E10-E0D26192881E}"/>
    <dgm:cxn modelId="{D66EB0AC-8026-449C-9C10-88EF83FDB59C}" srcId="{D3ED0D72-B0B6-42AE-8D1C-A090165FD4F8}" destId="{0EDC83E4-D755-4C9A-BA6B-B073FBB59C7C}" srcOrd="5" destOrd="0" parTransId="{E4C0F057-7EC6-435C-9BDF-166AF33110FD}" sibTransId="{59CF1234-B9BB-4EA8-9CFD-E633E7E0CCC9}"/>
    <dgm:cxn modelId="{196E1EBD-6237-4ACF-856F-5E10AD618E25}" srcId="{D3ED0D72-B0B6-42AE-8D1C-A090165FD4F8}" destId="{4EBBAD0E-6EDD-4A52-94B2-5CB812CED006}" srcOrd="6" destOrd="0" parTransId="{1B969FF6-4533-4C04-8B21-A5A116D58438}" sibTransId="{AFEFE3F7-CAC4-4694-B4F4-C7A2B8CF3DFA}"/>
    <dgm:cxn modelId="{3ADC983B-71EA-4493-BDB4-7076BD48A32D}" srcId="{D3ED0D72-B0B6-42AE-8D1C-A090165FD4F8}" destId="{6C7D1296-59D0-4842-9A19-7C9936523141}" srcOrd="7" destOrd="0" parTransId="{1C614A42-65A6-42F1-B041-35A4C9068C7D}" sibTransId="{BA909776-1C1D-43E7-A9FD-354FB7779131}"/>
    <dgm:cxn modelId="{57C21008-9D57-4364-B532-83C400BD665A}" srcId="{561A97CE-7611-4E19-9D13-52C49FE31129}" destId="{45CD01F6-6AE0-4E94-8E3A-FDD2211CA20A}" srcOrd="1" destOrd="0" parTransId="{925F376F-2C24-419E-B434-AE792D2E94A7}" sibTransId="{6521A401-94D3-4459-93C4-B6B0A016E6DD}"/>
    <dgm:cxn modelId="{2C652969-2EE5-4DBC-81C2-535240EE50B1}" srcId="{45CD01F6-6AE0-4E94-8E3A-FDD2211CA20A}" destId="{C9139EB5-98B0-43AE-B9D2-300335EDF52A}" srcOrd="0" destOrd="1" parTransId="{1FD2586C-3F8F-4A69-8450-1EB1F8D84E53}" sibTransId="{1C5A3A90-35F2-427F-9F41-A4F8CD82582D}"/>
    <dgm:cxn modelId="{4D87BC28-3CE7-45AA-8929-479135FEB210}" srcId="{45CD01F6-6AE0-4E94-8E3A-FDD2211CA20A}" destId="{24EC0F0F-078F-4536-A001-52C8C8416202}" srcOrd="1" destOrd="1" parTransId="{90127DD9-A260-4571-808C-D8DC03C08D8A}" sibTransId="{C4022B0E-073F-45BF-BD5E-4980693AEAA5}"/>
    <dgm:cxn modelId="{55F7F93B-B4CA-4BCC-9623-86A1B2D958D5}" srcId="{45CD01F6-6AE0-4E94-8E3A-FDD2211CA20A}" destId="{C542919F-3BB5-4FCA-BD12-7ED8C3EB4847}" srcOrd="2" destOrd="1" parTransId="{D74AE2BF-551B-4A8D-97C8-AF0FE9B8D91E}" sibTransId="{F5408D27-D1B1-48B3-ACF4-5DF60FA3099F}"/>
    <dgm:cxn modelId="{76192009-A9B8-4EA4-B041-1284940804A1}" srcId="{45CD01F6-6AE0-4E94-8E3A-FDD2211CA20A}" destId="{B89BD599-02A6-4469-8E69-188BB3C0443C}" srcOrd="3" destOrd="1" parTransId="{FBB08291-DC5A-4718-BFDD-39B982E34471}" sibTransId="{4695EF04-B2B1-41E6-AE36-98E01D09BC6D}"/>
    <dgm:cxn modelId="{401651E4-10E8-4281-BC4E-573D90D232B0}" srcId="{45CD01F6-6AE0-4E94-8E3A-FDD2211CA20A}" destId="{31746FB8-EFDA-4DB7-9A69-9ACA409DB309}" srcOrd="4" destOrd="1" parTransId="{55DEBC46-B96F-4422-9056-947A9DAB5560}" sibTransId="{34AD3C88-8173-4827-B4A0-4F8F8993D69D}"/>
    <dgm:cxn modelId="{942FBDE0-E977-4977-B3E7-8A6B22AA8527}" srcId="{45CD01F6-6AE0-4E94-8E3A-FDD2211CA20A}" destId="{CE15FEFD-2B70-4858-A0F2-AC6839E23753}" srcOrd="5" destOrd="1" parTransId="{8C8F0A53-2CAA-4C9F-A934-52479034DB62}" sibTransId="{95FFDE23-FA28-4377-8AB7-6780C33D4A84}"/>
    <dgm:cxn modelId="{1D6D5AA8-1CDB-4306-BDE0-4BA92177D862}" srcId="{45CD01F6-6AE0-4E94-8E3A-FDD2211CA20A}" destId="{D6E37AE8-6BBD-41C5-AFBB-4CBD954F4EAF}" srcOrd="6" destOrd="1" parTransId="{13AE6DC8-1BC2-4CE2-86FF-2367C59B89EF}" sibTransId="{ED6DA743-79AC-461A-9EAD-3165E41ED2BD}"/>
    <dgm:cxn modelId="{B5C1E5CA-89D4-4407-A97E-D4E736D196D7}" srcId="{45CD01F6-6AE0-4E94-8E3A-FDD2211CA20A}" destId="{EF2668A6-F2FF-4090-9684-C427292ED239}" srcOrd="7" destOrd="1" parTransId="{18F292A5-1822-43C4-BD94-63BDAA917DA4}" sibTransId="{49636957-338D-4F8F-BCDA-DB6BD69BFB7C}"/>
    <dgm:cxn modelId="{53DBC1A7-1E53-433E-BE39-163F45570900}" srcId="{561A97CE-7611-4E19-9D13-52C49FE31129}" destId="{63E93711-9FF5-4E84-A4FC-7A4FCDAA55AD}" srcOrd="2" destOrd="0" parTransId="{393D24EE-7B3A-4E66-A46B-DF04C4B4C72B}" sibTransId="{97CC500E-B6EE-4269-B1D8-A855718B1B21}"/>
    <dgm:cxn modelId="{107447FB-057D-46FE-9490-F29927178D04}" srcId="{63E93711-9FF5-4E84-A4FC-7A4FCDAA55AD}" destId="{168B080E-7C6E-4FC3-8F6A-69F11C96824C}" srcOrd="0" destOrd="2" parTransId="{3B72D541-DAF8-4C72-BC66-6EE49DBC705A}" sibTransId="{5230C123-1C72-4966-A3B7-8ED461A07DAE}"/>
    <dgm:cxn modelId="{CAE61E99-4A88-4267-9D34-946B380655A1}" srcId="{63E93711-9FF5-4E84-A4FC-7A4FCDAA55AD}" destId="{38550054-F1D4-465F-B8FB-D9CC1B26D516}" srcOrd="1" destOrd="2" parTransId="{E4B7C2F1-B10D-45C8-9645-EEDF80FA754F}" sibTransId="{0B2E70EE-350D-431F-A5D6-D2BB4DFA7499}"/>
    <dgm:cxn modelId="{87212E7E-9FC4-4FEB-A4BA-D2EB73920901}" srcId="{63E93711-9FF5-4E84-A4FC-7A4FCDAA55AD}" destId="{33E79BF2-352A-47EE-BD59-8284C95D9C3E}" srcOrd="2" destOrd="2" parTransId="{6024CA2E-8779-4210-97E2-5BF73F916F03}" sibTransId="{C4289377-0B05-4869-B07E-F1F9E83F1148}"/>
    <dgm:cxn modelId="{B8841AF3-67FC-4D18-AA88-4798C06DFAE6}" srcId="{63E93711-9FF5-4E84-A4FC-7A4FCDAA55AD}" destId="{11CE2481-A0DF-48CE-BFC3-EF7413DEC662}" srcOrd="3" destOrd="2" parTransId="{24C4523D-F07B-456C-B9FF-8D73DA52FE4C}" sibTransId="{1F46E794-6E97-44C4-ACDD-E9E805312222}"/>
    <dgm:cxn modelId="{3FA2AA07-C636-4A48-89A6-F1C1360739E7}" srcId="{63E93711-9FF5-4E84-A4FC-7A4FCDAA55AD}" destId="{F68AA8B9-528C-4494-A00D-857CFDEF4348}" srcOrd="4" destOrd="2" parTransId="{18DC343F-59D4-49DB-9BCF-FE2E33EF601D}" sibTransId="{311253B8-FA1A-45F2-871B-FEFF5789EFE8}"/>
    <dgm:cxn modelId="{3DAB384E-A76E-4C12-A016-C09DAB22AED4}" srcId="{63E93711-9FF5-4E84-A4FC-7A4FCDAA55AD}" destId="{F12F1A09-41A8-44BB-96F5-308EE81D0492}" srcOrd="5" destOrd="2" parTransId="{D68CFA24-F15A-4932-A800-DD778D541010}" sibTransId="{8D522412-3A86-4D4F-A817-1413C4CD06B1}"/>
    <dgm:cxn modelId="{2975F639-C28B-47E9-92FE-F0E380A0508F}" srcId="{63E93711-9FF5-4E84-A4FC-7A4FCDAA55AD}" destId="{B854FB7C-E092-4D6E-80D7-2396CBE73DEC}" srcOrd="6" destOrd="2" parTransId="{484A49B2-EC6E-4C42-A7E7-4DBBB87E52D6}" sibTransId="{BF9DFB32-0FE5-4369-861F-2F613FEABA2E}"/>
    <dgm:cxn modelId="{AD1BB3E8-DF92-4735-9FA4-CF42481A679F}" srcId="{63E93711-9FF5-4E84-A4FC-7A4FCDAA55AD}" destId="{605B6C36-C3D2-4790-965D-E88123BFAAFB}" srcOrd="7" destOrd="2" parTransId="{678C19BD-D8E0-4686-BADA-37FCCA820BB4}" sibTransId="{9BBCE215-6221-4E67-8120-AEE600FA4906}"/>
    <dgm:cxn modelId="{731E3448-E764-4F46-9449-32FDB56A1C6F}" srcId="{561A97CE-7611-4E19-9D13-52C49FE31129}" destId="{8954BC34-54AB-4EF8-9EF0-EE3D925E484E}" srcOrd="3" destOrd="0" parTransId="{DE61C446-D23D-481D-BB14-9872EDCDA46D}" sibTransId="{97AA5A42-6CDD-4C62-9B9C-DFD2CDE6C888}"/>
    <dgm:cxn modelId="{8507EF46-3CC8-4F68-9660-688DA26C7E8C}" srcId="{8954BC34-54AB-4EF8-9EF0-EE3D925E484E}" destId="{B3DC8AA8-777B-4317-8107-FF14853113C3}" srcOrd="0" destOrd="3" parTransId="{A86D9ACB-5B13-4F8D-8271-2EF4D1E61DDD}" sibTransId="{3A87FD3B-4BBB-4526-A6F9-83B9B876A765}"/>
    <dgm:cxn modelId="{7683155C-DE55-426E-A43D-0F310003BE5D}" srcId="{8954BC34-54AB-4EF8-9EF0-EE3D925E484E}" destId="{554410FD-DB63-4CD4-AB9E-A4E4B107B4DE}" srcOrd="1" destOrd="3" parTransId="{A33AB1EF-08BC-441C-98F2-7226D5FCD941}" sibTransId="{0D160EFA-6B03-48FB-9A31-E0E381FEF923}"/>
    <dgm:cxn modelId="{89EA6CF3-DA5E-4FFD-8DD9-3AFD9A63C25C}" srcId="{8954BC34-54AB-4EF8-9EF0-EE3D925E484E}" destId="{A77BB3E8-DEE5-41C2-89F5-24E4B96AF9E1}" srcOrd="2" destOrd="3" parTransId="{17728739-CDA6-4C6C-B2FD-49EAD70E467A}" sibTransId="{71CEBE1B-2B85-45FA-AEF6-CDAA7803E9C5}"/>
    <dgm:cxn modelId="{0B60157F-C486-4A3C-8A5F-6A4ED1A97836}" srcId="{8954BC34-54AB-4EF8-9EF0-EE3D925E484E}" destId="{A5E4192A-9A44-4B47-BDEE-AB1DC2C7F98D}" srcOrd="3" destOrd="3" parTransId="{10E36B83-2AA7-46EE-88D8-705671E7FC02}" sibTransId="{AF0D2DB6-D66E-4A0F-B185-BA69E66D9481}"/>
    <dgm:cxn modelId="{33A84F15-94AA-4BF3-B591-9AA83D936EA2}" srcId="{8954BC34-54AB-4EF8-9EF0-EE3D925E484E}" destId="{AA6AE992-4D68-407B-9597-56DED99832E7}" srcOrd="4" destOrd="3" parTransId="{CE7C7403-DCA6-4E31-A2B1-CDEEEA72E81C}" sibTransId="{73772DDF-93EC-4BCB-A0D8-30C7F017C55E}"/>
    <dgm:cxn modelId="{E09498F3-7337-44C6-93AA-4EBC7B9FFD1F}" srcId="{8954BC34-54AB-4EF8-9EF0-EE3D925E484E}" destId="{B9290961-694F-4E3E-AF80-FFDD81F53460}" srcOrd="5" destOrd="3" parTransId="{3401DD8C-583F-490B-AF14-D28CC8760FE3}" sibTransId="{ACD245AB-3BF8-4CCC-8F8C-321A5060A631}"/>
    <dgm:cxn modelId="{52167E39-54AC-4225-BDD9-AF4A3F8467A4}" srcId="{8954BC34-54AB-4EF8-9EF0-EE3D925E484E}" destId="{9F31DE42-3170-45AD-95A8-C5609B16ADBA}" srcOrd="6" destOrd="3" parTransId="{26387394-25AE-40A2-9EF1-2E72EA4BD878}" sibTransId="{CC77F9F7-3DB3-4EE2-9B31-950A7A9005DE}"/>
    <dgm:cxn modelId="{D728022C-6E8D-4FE9-857E-0EA617B0F5AC}" srcId="{8954BC34-54AB-4EF8-9EF0-EE3D925E484E}" destId="{D4CA9E56-923A-4D20-8B00-7E6C175AC0CF}" srcOrd="7" destOrd="3" parTransId="{4D67074C-5B5F-4295-948B-E5A143736BE3}" sibTransId="{D7F60287-FD49-4053-A616-5D93B04C5D83}"/>
    <dgm:cxn modelId="{79A15219-0DEF-497F-9410-8BD46E9505BF}" srcId="{561A97CE-7611-4E19-9D13-52C49FE31129}" destId="{C43A955B-45CF-401D-874F-D8DEFC21FF6F}" srcOrd="4" destOrd="0" parTransId="{17BBE79B-19E4-4812-BE26-D193D61D6F51}" sibTransId="{DB93E3F2-A36B-422C-9304-06E309DB430B}"/>
    <dgm:cxn modelId="{2D644CE6-6A58-4449-A351-EADC7E2C6B63}" srcId="{C43A955B-45CF-401D-874F-D8DEFC21FF6F}" destId="{0F37D284-88B4-49B9-8064-1C9F7ADBB81C}" srcOrd="0" destOrd="4" parTransId="{43FC3452-F3F1-4EEF-8A92-54DC3A253F3D}" sibTransId="{B26431AD-523F-4A38-9005-D4A4B03DEE72}"/>
    <dgm:cxn modelId="{53EA4684-DD7D-4557-8A85-7F116B57B4BA}" srcId="{C43A955B-45CF-401D-874F-D8DEFC21FF6F}" destId="{2E2C08F8-FEDB-4423-9386-96F13D765E21}" srcOrd="1" destOrd="4" parTransId="{3BEDA3E6-A027-4F12-9671-F4ED9F95F27D}" sibTransId="{D9B36BB8-39B3-446E-8890-BAB98A489276}"/>
    <dgm:cxn modelId="{A4E298D1-78D3-46AE-9F00-13506AE19CE2}" srcId="{C43A955B-45CF-401D-874F-D8DEFC21FF6F}" destId="{CEA7D63C-6610-42FA-B31F-5E6C1042DF05}" srcOrd="2" destOrd="4" parTransId="{E9A65DE0-DB70-4DE3-B918-5E19F6178482}" sibTransId="{D737AB52-45D8-46F6-9C9B-47BD07B3882E}"/>
    <dgm:cxn modelId="{A94D3EBF-B5AC-4AA2-8BC5-3A7780B9195C}" srcId="{C43A955B-45CF-401D-874F-D8DEFC21FF6F}" destId="{A0B29EAA-3AF5-4129-BD7F-6147B5346BFF}" srcOrd="3" destOrd="4" parTransId="{7A8D8B88-7327-4EB9-9C4B-B47854C77639}" sibTransId="{2FEFA59B-2555-448F-8783-D4024DEDF819}"/>
    <dgm:cxn modelId="{50FE1322-03F4-4D36-BFC7-839D048E378C}" srcId="{C43A955B-45CF-401D-874F-D8DEFC21FF6F}" destId="{26C1538C-A245-4197-A020-C5EEAD393FF0}" srcOrd="4" destOrd="4" parTransId="{F157462A-448F-49C6-8CF3-7B06ABCFD6FE}" sibTransId="{54944049-DFB4-4143-A3FA-3A5E65878803}"/>
    <dgm:cxn modelId="{26AB434E-9848-430A-AF6D-D36F057126AF}" srcId="{C43A955B-45CF-401D-874F-D8DEFC21FF6F}" destId="{EF38E5B2-A5A9-4A22-AED8-27ECF56F5D2F}" srcOrd="5" destOrd="4" parTransId="{B70B2C01-E7EA-4B13-BDDA-F60D1DF8CDFD}" sibTransId="{D55E0091-387C-4C95-9086-BB663BFCA0D3}"/>
    <dgm:cxn modelId="{F86A02E9-7DB8-4122-BD7B-AFCB737D81EC}" srcId="{C43A955B-45CF-401D-874F-D8DEFC21FF6F}" destId="{CC73AF3A-1C88-42D6-B363-875467595C15}" srcOrd="6" destOrd="4" parTransId="{02EBE06A-CD5F-44D9-BFA5-27CFDBA095D9}" sibTransId="{942017F7-0A4A-443B-9E67-1D278B0A6BCC}"/>
    <dgm:cxn modelId="{2EEBD3C1-37EC-42A1-8811-E229041399D3}" srcId="{C43A955B-45CF-401D-874F-D8DEFC21FF6F}" destId="{B9EF3ACE-22CF-4871-B627-0781169C179F}" srcOrd="7" destOrd="4" parTransId="{0EA82AF4-BC1A-42D3-BAAC-769E357B2346}" sibTransId="{378F7866-3C90-4936-8213-FCEEF035F44F}"/>
    <dgm:cxn modelId="{CC9C1438-EDCA-4626-B982-2A979CB4FFFC}" type="presOf" srcId="{561A97CE-7611-4E19-9D13-52C49FE31129}" destId="{26777E3F-EEF7-4F2D-9A39-9FA0D0B87A98}" srcOrd="0" destOrd="0" presId="urn:microsoft.com/office/officeart/2005/8/layout/hList1"/>
    <dgm:cxn modelId="{C693BBDD-0727-4F8E-B6D8-B347FF2FB10A}" type="presParOf" srcId="{26777E3F-EEF7-4F2D-9A39-9FA0D0B87A98}" destId="{B8341C85-7917-4EDF-AF27-06AB374E44A9}" srcOrd="0" destOrd="0" presId="urn:microsoft.com/office/officeart/2005/8/layout/hList1"/>
    <dgm:cxn modelId="{43CCF647-9FBD-4180-BA7E-5F2324D417BA}" type="presParOf" srcId="{B8341C85-7917-4EDF-AF27-06AB374E44A9}" destId="{515925E7-FBCD-41FE-9702-F2A4CC072A45}" srcOrd="0" destOrd="0" presId="urn:microsoft.com/office/officeart/2005/8/layout/hList1"/>
    <dgm:cxn modelId="{4BCBA645-79CA-45D1-9802-AB0DE25402D8}" type="presOf" srcId="{D3ED0D72-B0B6-42AE-8D1C-A090165FD4F8}" destId="{515925E7-FBCD-41FE-9702-F2A4CC072A45}" srcOrd="0" destOrd="0" presId="urn:microsoft.com/office/officeart/2005/8/layout/hList1"/>
    <dgm:cxn modelId="{F023E6F9-B4D8-4788-BFE6-BE9EF6B71C15}" type="presParOf" srcId="{B8341C85-7917-4EDF-AF27-06AB374E44A9}" destId="{C8BEC413-B3E9-4D39-A8A6-53389136125B}" srcOrd="1" destOrd="0" presId="urn:microsoft.com/office/officeart/2005/8/layout/hList1"/>
    <dgm:cxn modelId="{4FB030D3-6E24-4068-AF4B-81D2700E89AE}" type="presOf" srcId="{4B1B0835-403A-42A8-93CB-6DCF59A6A409}" destId="{C8BEC413-B3E9-4D39-A8A6-53389136125B}" srcOrd="0" destOrd="0" presId="urn:microsoft.com/office/officeart/2005/8/layout/hList1"/>
    <dgm:cxn modelId="{88801B59-0003-42D9-B54C-A4721BE2B7ED}" type="presOf" srcId="{3FA67284-8DDE-4610-97AC-BD83953F9BFC}" destId="{C8BEC413-B3E9-4D39-A8A6-53389136125B}" srcOrd="0" destOrd="1" presId="urn:microsoft.com/office/officeart/2005/8/layout/hList1"/>
    <dgm:cxn modelId="{07C6E496-2720-4443-BF90-C868A6AEA01F}" type="presOf" srcId="{D3E7FF59-0F27-4D69-ABEE-CBEE959179F6}" destId="{C8BEC413-B3E9-4D39-A8A6-53389136125B}" srcOrd="0" destOrd="2" presId="urn:microsoft.com/office/officeart/2005/8/layout/hList1"/>
    <dgm:cxn modelId="{8B1FFC75-53BD-40D3-AFC6-547393F8EB87}" type="presOf" srcId="{D638EA0B-E6AA-48C0-9F4A-2B750766DF7B}" destId="{C8BEC413-B3E9-4D39-A8A6-53389136125B}" srcOrd="0" destOrd="3" presId="urn:microsoft.com/office/officeart/2005/8/layout/hList1"/>
    <dgm:cxn modelId="{5649CDB3-DE15-4E3E-8D84-313EBF10B789}" type="presOf" srcId="{0A19013C-204F-4B8E-9668-DCE0A7022B24}" destId="{C8BEC413-B3E9-4D39-A8A6-53389136125B}" srcOrd="0" destOrd="4" presId="urn:microsoft.com/office/officeart/2005/8/layout/hList1"/>
    <dgm:cxn modelId="{6500E53F-AF8D-467F-AEE6-2DF1C8FCCBD8}" type="presOf" srcId="{0EDC83E4-D755-4C9A-BA6B-B073FBB59C7C}" destId="{C8BEC413-B3E9-4D39-A8A6-53389136125B}" srcOrd="0" destOrd="5" presId="urn:microsoft.com/office/officeart/2005/8/layout/hList1"/>
    <dgm:cxn modelId="{D1D260A4-F1B0-4E9A-8185-AFE9353FE5B0}" type="presOf" srcId="{4EBBAD0E-6EDD-4A52-94B2-5CB812CED006}" destId="{C8BEC413-B3E9-4D39-A8A6-53389136125B}" srcOrd="0" destOrd="6" presId="urn:microsoft.com/office/officeart/2005/8/layout/hList1"/>
    <dgm:cxn modelId="{9BD57D85-FC66-47CB-87CF-46B4B07E33B7}" type="presOf" srcId="{6C7D1296-59D0-4842-9A19-7C9936523141}" destId="{C8BEC413-B3E9-4D39-A8A6-53389136125B}" srcOrd="0" destOrd="7" presId="urn:microsoft.com/office/officeart/2005/8/layout/hList1"/>
    <dgm:cxn modelId="{F8318003-1A6F-40F4-87A6-245EA062FF90}" type="presParOf" srcId="{26777E3F-EEF7-4F2D-9A39-9FA0D0B87A98}" destId="{4B4F8505-834A-4442-93AA-E2B69BE40546}" srcOrd="1" destOrd="0" presId="urn:microsoft.com/office/officeart/2005/8/layout/hList1"/>
    <dgm:cxn modelId="{6CA489D2-EC9F-494F-8923-189DB76D9B94}" type="presParOf" srcId="{26777E3F-EEF7-4F2D-9A39-9FA0D0B87A98}" destId="{397DBDDF-0205-46C1-B7A5-4AE6728AFD78}" srcOrd="2" destOrd="0" presId="urn:microsoft.com/office/officeart/2005/8/layout/hList1"/>
    <dgm:cxn modelId="{EB183672-CC6A-4A94-9D09-591D9029E437}" type="presParOf" srcId="{397DBDDF-0205-46C1-B7A5-4AE6728AFD78}" destId="{70690FA0-EFE8-4F05-8254-1A155749C517}" srcOrd="0" destOrd="2" presId="urn:microsoft.com/office/officeart/2005/8/layout/hList1"/>
    <dgm:cxn modelId="{A2381B74-00E9-474A-A9D1-EFA5C14A3B3B}" type="presOf" srcId="{45CD01F6-6AE0-4E94-8E3A-FDD2211CA20A}" destId="{70690FA0-EFE8-4F05-8254-1A155749C517}" srcOrd="0" destOrd="0" presId="urn:microsoft.com/office/officeart/2005/8/layout/hList1"/>
    <dgm:cxn modelId="{80FBC824-A676-4609-A01C-4C15085FA1AE}" type="presParOf" srcId="{397DBDDF-0205-46C1-B7A5-4AE6728AFD78}" destId="{493C2F3E-66B3-44BC-894F-566B240D60A3}" srcOrd="1" destOrd="2" presId="urn:microsoft.com/office/officeart/2005/8/layout/hList1"/>
    <dgm:cxn modelId="{C7BD065F-47C6-4BA7-8941-CB6ED00BAF05}" type="presOf" srcId="{C9139EB5-98B0-43AE-B9D2-300335EDF52A}" destId="{493C2F3E-66B3-44BC-894F-566B240D60A3}" srcOrd="0" destOrd="0" presId="urn:microsoft.com/office/officeart/2005/8/layout/hList1"/>
    <dgm:cxn modelId="{826E3EDA-5542-4B46-8E1C-D8961B8947FC}" type="presOf" srcId="{24EC0F0F-078F-4536-A001-52C8C8416202}" destId="{493C2F3E-66B3-44BC-894F-566B240D60A3}" srcOrd="0" destOrd="1" presId="urn:microsoft.com/office/officeart/2005/8/layout/hList1"/>
    <dgm:cxn modelId="{6C293EDF-FA79-47A6-87EB-1446B7E6084B}" type="presOf" srcId="{C542919F-3BB5-4FCA-BD12-7ED8C3EB4847}" destId="{493C2F3E-66B3-44BC-894F-566B240D60A3}" srcOrd="0" destOrd="2" presId="urn:microsoft.com/office/officeart/2005/8/layout/hList1"/>
    <dgm:cxn modelId="{9D08DF49-05A7-48CC-8B97-28799AD1DE12}" type="presOf" srcId="{B89BD599-02A6-4469-8E69-188BB3C0443C}" destId="{493C2F3E-66B3-44BC-894F-566B240D60A3}" srcOrd="0" destOrd="3" presId="urn:microsoft.com/office/officeart/2005/8/layout/hList1"/>
    <dgm:cxn modelId="{56C1662B-B787-405B-9852-3EDFAE432913}" type="presOf" srcId="{31746FB8-EFDA-4DB7-9A69-9ACA409DB309}" destId="{493C2F3E-66B3-44BC-894F-566B240D60A3}" srcOrd="0" destOrd="4" presId="urn:microsoft.com/office/officeart/2005/8/layout/hList1"/>
    <dgm:cxn modelId="{04C7FB1C-80C2-4C71-8F14-5EB829C76F33}" type="presOf" srcId="{CE15FEFD-2B70-4858-A0F2-AC6839E23753}" destId="{493C2F3E-66B3-44BC-894F-566B240D60A3}" srcOrd="0" destOrd="5" presId="urn:microsoft.com/office/officeart/2005/8/layout/hList1"/>
    <dgm:cxn modelId="{32204569-2948-4651-8006-A46BAAC1377C}" type="presOf" srcId="{D6E37AE8-6BBD-41C5-AFBB-4CBD954F4EAF}" destId="{493C2F3E-66B3-44BC-894F-566B240D60A3}" srcOrd="0" destOrd="6" presId="urn:microsoft.com/office/officeart/2005/8/layout/hList1"/>
    <dgm:cxn modelId="{3E0DF8C7-D8BA-4D39-BDF0-58B639C93E91}" type="presOf" srcId="{EF2668A6-F2FF-4090-9684-C427292ED239}" destId="{493C2F3E-66B3-44BC-894F-566B240D60A3}" srcOrd="0" destOrd="7" presId="urn:microsoft.com/office/officeart/2005/8/layout/hList1"/>
    <dgm:cxn modelId="{21E670EB-E34F-4B52-BED4-2CE4FC5677F6}" type="presParOf" srcId="{26777E3F-EEF7-4F2D-9A39-9FA0D0B87A98}" destId="{207D2397-07C1-4CD9-AA8A-9271912C739B}" srcOrd="3" destOrd="0" presId="urn:microsoft.com/office/officeart/2005/8/layout/hList1"/>
    <dgm:cxn modelId="{03CD21C9-D652-421C-8595-72AD9A2D6B91}" type="presParOf" srcId="{26777E3F-EEF7-4F2D-9A39-9FA0D0B87A98}" destId="{E4A51903-4340-43DF-BFBE-D536F5FC6FAC}" srcOrd="4" destOrd="0" presId="urn:microsoft.com/office/officeart/2005/8/layout/hList1"/>
    <dgm:cxn modelId="{1A0EC3BF-261D-4CB5-8948-AF6768C53AA8}" type="presParOf" srcId="{E4A51903-4340-43DF-BFBE-D536F5FC6FAC}" destId="{844D9D57-F880-4954-8B8C-44AB1BF2442F}" srcOrd="0" destOrd="4" presId="urn:microsoft.com/office/officeart/2005/8/layout/hList1"/>
    <dgm:cxn modelId="{4449A176-7316-4C22-A970-B92D3B69CB5C}" type="presOf" srcId="{63E93711-9FF5-4E84-A4FC-7A4FCDAA55AD}" destId="{844D9D57-F880-4954-8B8C-44AB1BF2442F}" srcOrd="0" destOrd="0" presId="urn:microsoft.com/office/officeart/2005/8/layout/hList1"/>
    <dgm:cxn modelId="{2A29E0FD-2943-4A9E-ACED-1DD5EB2AE768}" type="presParOf" srcId="{E4A51903-4340-43DF-BFBE-D536F5FC6FAC}" destId="{D2D42066-3C3F-4F89-8570-BECFC0F488E9}" srcOrd="1" destOrd="4" presId="urn:microsoft.com/office/officeart/2005/8/layout/hList1"/>
    <dgm:cxn modelId="{3F481310-2F16-4C5E-812F-09B6B731D010}" type="presOf" srcId="{168B080E-7C6E-4FC3-8F6A-69F11C96824C}" destId="{D2D42066-3C3F-4F89-8570-BECFC0F488E9}" srcOrd="0" destOrd="0" presId="urn:microsoft.com/office/officeart/2005/8/layout/hList1"/>
    <dgm:cxn modelId="{FE32F9B1-F720-49E6-B2E9-5D25A4984DC8}" type="presOf" srcId="{38550054-F1D4-465F-B8FB-D9CC1B26D516}" destId="{D2D42066-3C3F-4F89-8570-BECFC0F488E9}" srcOrd="0" destOrd="1" presId="urn:microsoft.com/office/officeart/2005/8/layout/hList1"/>
    <dgm:cxn modelId="{0B31ADE3-996E-497D-850D-6009934E68E1}" type="presOf" srcId="{33E79BF2-352A-47EE-BD59-8284C95D9C3E}" destId="{D2D42066-3C3F-4F89-8570-BECFC0F488E9}" srcOrd="0" destOrd="2" presId="urn:microsoft.com/office/officeart/2005/8/layout/hList1"/>
    <dgm:cxn modelId="{AB849208-054C-496A-839D-8E42D812F09D}" type="presOf" srcId="{11CE2481-A0DF-48CE-BFC3-EF7413DEC662}" destId="{D2D42066-3C3F-4F89-8570-BECFC0F488E9}" srcOrd="0" destOrd="3" presId="urn:microsoft.com/office/officeart/2005/8/layout/hList1"/>
    <dgm:cxn modelId="{25E07C31-BEF0-4CF9-A3BA-519477A1FFFA}" type="presOf" srcId="{F68AA8B9-528C-4494-A00D-857CFDEF4348}" destId="{D2D42066-3C3F-4F89-8570-BECFC0F488E9}" srcOrd="0" destOrd="4" presId="urn:microsoft.com/office/officeart/2005/8/layout/hList1"/>
    <dgm:cxn modelId="{04AB5BE3-A474-4CFB-95E4-CF4FF8BD1470}" type="presOf" srcId="{F12F1A09-41A8-44BB-96F5-308EE81D0492}" destId="{D2D42066-3C3F-4F89-8570-BECFC0F488E9}" srcOrd="0" destOrd="5" presId="urn:microsoft.com/office/officeart/2005/8/layout/hList1"/>
    <dgm:cxn modelId="{993F350C-B916-4299-A138-7A7B8BF097D6}" type="presOf" srcId="{B854FB7C-E092-4D6E-80D7-2396CBE73DEC}" destId="{D2D42066-3C3F-4F89-8570-BECFC0F488E9}" srcOrd="0" destOrd="6" presId="urn:microsoft.com/office/officeart/2005/8/layout/hList1"/>
    <dgm:cxn modelId="{C383CB2A-B24B-4E52-855F-A1BDC74595E5}" type="presOf" srcId="{605B6C36-C3D2-4790-965D-E88123BFAAFB}" destId="{D2D42066-3C3F-4F89-8570-BECFC0F488E9}" srcOrd="0" destOrd="7" presId="urn:microsoft.com/office/officeart/2005/8/layout/hList1"/>
    <dgm:cxn modelId="{DE9FC778-AA66-4CC8-9CC9-9AEEF2A8B53A}" type="presParOf" srcId="{26777E3F-EEF7-4F2D-9A39-9FA0D0B87A98}" destId="{C0C9E200-A15F-4658-A846-C60779B0AC3A}" srcOrd="5" destOrd="0" presId="urn:microsoft.com/office/officeart/2005/8/layout/hList1"/>
    <dgm:cxn modelId="{DD76BF98-34F0-4D9D-B1F0-2649106F81F0}" type="presParOf" srcId="{26777E3F-EEF7-4F2D-9A39-9FA0D0B87A98}" destId="{6FEA3AC9-0666-4177-A448-604B7E601051}" srcOrd="6" destOrd="0" presId="urn:microsoft.com/office/officeart/2005/8/layout/hList1"/>
    <dgm:cxn modelId="{BD18AC3C-242E-4DF7-ADD6-EEA50FCBE3C0}" type="presParOf" srcId="{6FEA3AC9-0666-4177-A448-604B7E601051}" destId="{ADF19733-9696-44D8-95A4-31580CFDD99D}" srcOrd="0" destOrd="6" presId="urn:microsoft.com/office/officeart/2005/8/layout/hList1"/>
    <dgm:cxn modelId="{4F4040FE-21D6-436F-B459-9AA376007249}" type="presOf" srcId="{8954BC34-54AB-4EF8-9EF0-EE3D925E484E}" destId="{ADF19733-9696-44D8-95A4-31580CFDD99D}" srcOrd="0" destOrd="0" presId="urn:microsoft.com/office/officeart/2005/8/layout/hList1"/>
    <dgm:cxn modelId="{9C97BA19-FE7F-4DE7-9CC3-EAFA1798EC45}" type="presParOf" srcId="{6FEA3AC9-0666-4177-A448-604B7E601051}" destId="{7F3F4794-9143-4A56-AB69-1AD274B3E080}" srcOrd="1" destOrd="6" presId="urn:microsoft.com/office/officeart/2005/8/layout/hList1"/>
    <dgm:cxn modelId="{2779AD03-4F81-4D64-B0CB-AC6FB0537D99}" type="presOf" srcId="{B3DC8AA8-777B-4317-8107-FF14853113C3}" destId="{7F3F4794-9143-4A56-AB69-1AD274B3E080}" srcOrd="0" destOrd="0" presId="urn:microsoft.com/office/officeart/2005/8/layout/hList1"/>
    <dgm:cxn modelId="{A3A2EC23-127A-472F-895F-75BC23AA2D13}" type="presOf" srcId="{554410FD-DB63-4CD4-AB9E-A4E4B107B4DE}" destId="{7F3F4794-9143-4A56-AB69-1AD274B3E080}" srcOrd="0" destOrd="1" presId="urn:microsoft.com/office/officeart/2005/8/layout/hList1"/>
    <dgm:cxn modelId="{D7E3198F-335E-44AB-AB40-2AE80E620DDC}" type="presOf" srcId="{A77BB3E8-DEE5-41C2-89F5-24E4B96AF9E1}" destId="{7F3F4794-9143-4A56-AB69-1AD274B3E080}" srcOrd="0" destOrd="2" presId="urn:microsoft.com/office/officeart/2005/8/layout/hList1"/>
    <dgm:cxn modelId="{9D6C4982-D9BC-4B4F-A116-4BED9CDD45C6}" type="presOf" srcId="{A5E4192A-9A44-4B47-BDEE-AB1DC2C7F98D}" destId="{7F3F4794-9143-4A56-AB69-1AD274B3E080}" srcOrd="0" destOrd="3" presId="urn:microsoft.com/office/officeart/2005/8/layout/hList1"/>
    <dgm:cxn modelId="{AA17DD96-0095-46BF-BF6A-853FC77A320A}" type="presOf" srcId="{AA6AE992-4D68-407B-9597-56DED99832E7}" destId="{7F3F4794-9143-4A56-AB69-1AD274B3E080}" srcOrd="0" destOrd="4" presId="urn:microsoft.com/office/officeart/2005/8/layout/hList1"/>
    <dgm:cxn modelId="{FC93F0F7-E88F-4EE6-8C70-0C8CB9189E9B}" type="presOf" srcId="{B9290961-694F-4E3E-AF80-FFDD81F53460}" destId="{7F3F4794-9143-4A56-AB69-1AD274B3E080}" srcOrd="0" destOrd="5" presId="urn:microsoft.com/office/officeart/2005/8/layout/hList1"/>
    <dgm:cxn modelId="{13FA9CDF-DCF9-4F48-8A66-27389E367A11}" type="presOf" srcId="{9F31DE42-3170-45AD-95A8-C5609B16ADBA}" destId="{7F3F4794-9143-4A56-AB69-1AD274B3E080}" srcOrd="0" destOrd="6" presId="urn:microsoft.com/office/officeart/2005/8/layout/hList1"/>
    <dgm:cxn modelId="{2732399D-0517-4E55-B1AA-7260ADDF886E}" type="presOf" srcId="{D4CA9E56-923A-4D20-8B00-7E6C175AC0CF}" destId="{7F3F4794-9143-4A56-AB69-1AD274B3E080}" srcOrd="0" destOrd="7" presId="urn:microsoft.com/office/officeart/2005/8/layout/hList1"/>
    <dgm:cxn modelId="{971D0D11-4E31-4FBF-A346-8611CD5F735D}" type="presParOf" srcId="{26777E3F-EEF7-4F2D-9A39-9FA0D0B87A98}" destId="{4CEB42CB-D594-473B-B019-AA550368D4CE}" srcOrd="7" destOrd="0" presId="urn:microsoft.com/office/officeart/2005/8/layout/hList1"/>
    <dgm:cxn modelId="{91A6A3AB-F2A7-440C-95BE-2243CBE5FEA8}" type="presParOf" srcId="{26777E3F-EEF7-4F2D-9A39-9FA0D0B87A98}" destId="{A3B47532-0901-4B5A-8BED-3EEBA6178E19}" srcOrd="8" destOrd="0" presId="urn:microsoft.com/office/officeart/2005/8/layout/hList1"/>
    <dgm:cxn modelId="{BB9004A8-FFCD-4A03-A5FF-7AAED3E184B7}" type="presParOf" srcId="{A3B47532-0901-4B5A-8BED-3EEBA6178E19}" destId="{C13A39B6-750E-448A-9446-EEA107BE74F3}" srcOrd="0" destOrd="8" presId="urn:microsoft.com/office/officeart/2005/8/layout/hList1"/>
    <dgm:cxn modelId="{5270D87D-B134-4B3C-BBE5-AEB828A04E5B}" type="presOf" srcId="{C43A955B-45CF-401D-874F-D8DEFC21FF6F}" destId="{C13A39B6-750E-448A-9446-EEA107BE74F3}" srcOrd="0" destOrd="0" presId="urn:microsoft.com/office/officeart/2005/8/layout/hList1"/>
    <dgm:cxn modelId="{2F86526C-20C6-4F2C-9DDD-307D03167D64}" type="presParOf" srcId="{A3B47532-0901-4B5A-8BED-3EEBA6178E19}" destId="{9396F0D2-E30F-45F6-8CE4-4D8CCC0D727C}" srcOrd="1" destOrd="8" presId="urn:microsoft.com/office/officeart/2005/8/layout/hList1"/>
    <dgm:cxn modelId="{845E57B9-75EB-4571-94F6-600959AB6BD5}" type="presOf" srcId="{0F37D284-88B4-49B9-8064-1C9F7ADBB81C}" destId="{9396F0D2-E30F-45F6-8CE4-4D8CCC0D727C}" srcOrd="0" destOrd="0" presId="urn:microsoft.com/office/officeart/2005/8/layout/hList1"/>
    <dgm:cxn modelId="{19C06EFD-D689-4BCE-A5EC-0B8B6D1CAA54}" type="presOf" srcId="{2E2C08F8-FEDB-4423-9386-96F13D765E21}" destId="{9396F0D2-E30F-45F6-8CE4-4D8CCC0D727C}" srcOrd="0" destOrd="1" presId="urn:microsoft.com/office/officeart/2005/8/layout/hList1"/>
    <dgm:cxn modelId="{D0BB1968-BFF2-40DA-8F24-E2515CFC60D8}" type="presOf" srcId="{CEA7D63C-6610-42FA-B31F-5E6C1042DF05}" destId="{9396F0D2-E30F-45F6-8CE4-4D8CCC0D727C}" srcOrd="0" destOrd="2" presId="urn:microsoft.com/office/officeart/2005/8/layout/hList1"/>
    <dgm:cxn modelId="{C0CDAADF-40D3-4845-9281-F78ED22131A8}" type="presOf" srcId="{A0B29EAA-3AF5-4129-BD7F-6147B5346BFF}" destId="{9396F0D2-E30F-45F6-8CE4-4D8CCC0D727C}" srcOrd="0" destOrd="3" presId="urn:microsoft.com/office/officeart/2005/8/layout/hList1"/>
    <dgm:cxn modelId="{987EACC8-D057-4B25-8332-42C1BC979446}" type="presOf" srcId="{26C1538C-A245-4197-A020-C5EEAD393FF0}" destId="{9396F0D2-E30F-45F6-8CE4-4D8CCC0D727C}" srcOrd="0" destOrd="4" presId="urn:microsoft.com/office/officeart/2005/8/layout/hList1"/>
    <dgm:cxn modelId="{E4634874-0A5A-473C-B865-F4176DE67430}" type="presOf" srcId="{EF38E5B2-A5A9-4A22-AED8-27ECF56F5D2F}" destId="{9396F0D2-E30F-45F6-8CE4-4D8CCC0D727C}" srcOrd="0" destOrd="5" presId="urn:microsoft.com/office/officeart/2005/8/layout/hList1"/>
    <dgm:cxn modelId="{5F3488F7-FC72-45F7-AC42-832692DCCDEB}" type="presOf" srcId="{CC73AF3A-1C88-42D6-B363-875467595C15}" destId="{9396F0D2-E30F-45F6-8CE4-4D8CCC0D727C}" srcOrd="0" destOrd="6" presId="urn:microsoft.com/office/officeart/2005/8/layout/hList1"/>
    <dgm:cxn modelId="{C13017D9-A3BB-4C35-A779-01A284F02474}" type="presOf" srcId="{B9EF3ACE-22CF-4871-B627-0781169C179F}" destId="{9396F0D2-E30F-45F6-8CE4-4D8CCC0D727C}" srcOrd="0" destOrd="7" presId="urn:microsoft.com/office/officeart/2005/8/layout/hList1"/>
  </dgm:cxnLst>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606915" cy="4211320"/>
        <a:chOff x="0" y="0"/>
        <a:chExt cx="9606915" cy="4211320"/>
      </a:xfrm>
    </dsp:grpSpPr>
    <dsp:sp modelId="{515925E7-FBCD-41FE-9702-F2A4CC072A45}">
      <dsp:nvSpPr>
        <dsp:cNvPr id="3" name="矩形 2"/>
        <dsp:cNvSpPr/>
      </dsp:nvSpPr>
      <dsp:spPr bwMode="white">
        <a:xfrm>
          <a:off x="0" y="49278"/>
          <a:ext cx="1727862" cy="633600"/>
        </a:xfrm>
        <a:prstGeom prst="rect">
          <a:avLst/>
        </a:prstGeom>
      </dsp:spPr>
      <dsp:style>
        <a:lnRef idx="2">
          <a:schemeClr val="accent1"/>
        </a:lnRef>
        <a:fillRef idx="1">
          <a:schemeClr val="accent1"/>
        </a:fillRef>
        <a:effectRef idx="0">
          <a:scrgbClr r="0" g="0" b="0"/>
        </a:effectRef>
        <a:fontRef idx="minor">
          <a:schemeClr val="lt1"/>
        </a:fontRef>
      </dsp:style>
      <dsp:txBody>
        <a:bodyPr vert="horz" wrap="square" lIns="156464" tIns="89408" rIns="156464" bIns="89408"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gn="ctr">
            <a:lnSpc>
              <a:spcPct val="100000"/>
            </a:lnSpc>
            <a:spcBef>
              <a:spcPct val="0"/>
            </a:spcBef>
            <a:spcAft>
              <a:spcPct val="35000"/>
            </a:spcAft>
          </a:pPr>
          <a:r>
            <a:rPr lang="zh-CN" b="1" i="0" u="none" baseline="0">
              <a:solidFill>
                <a:srgbClr val="FF0000"/>
              </a:solidFill>
              <a:latin typeface="微软雅黑" panose="020B0503020204020204" pitchFamily="34" charset="-122"/>
              <a:ea typeface="微软雅黑" panose="020B0503020204020204" pitchFamily="34" charset="-122"/>
              <a:rtl val="0"/>
            </a:rPr>
            <a:t>行政子系统</a:t>
          </a:r>
          <a:endParaRPr lang="zh-CN" altLang="en-US" b="1" i="0" u="none" baseline="0">
            <a:solidFill>
              <a:srgbClr val="FF0000"/>
            </a:solidFill>
            <a:latin typeface="微软雅黑" panose="020B0503020204020204" pitchFamily="34" charset="-122"/>
            <a:ea typeface="微软雅黑" panose="020B0503020204020204" pitchFamily="34" charset="-122"/>
            <a:rtl val="0"/>
          </a:endParaRPr>
        </a:p>
      </dsp:txBody>
      <dsp:txXfrm>
        <a:off x="0" y="49278"/>
        <a:ext cx="1727862" cy="633600"/>
      </dsp:txXfrm>
    </dsp:sp>
    <dsp:sp modelId="{C8BEC413-B3E9-4D39-A8A6-53389136125B}">
      <dsp:nvSpPr>
        <dsp:cNvPr id="4" name="矩形 3"/>
        <dsp:cNvSpPr/>
      </dsp:nvSpPr>
      <dsp:spPr bwMode="white">
        <a:xfrm>
          <a:off x="0" y="682878"/>
          <a:ext cx="1727862" cy="347916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vert="horz" wrap="square" lIns="117348" tIns="117348" rIns="156464" bIns="176022"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1" algn="ctr">
            <a:lnSpc>
              <a:spcPct val="100000"/>
            </a:lnSpc>
            <a:spcBef>
              <a:spcPct val="0"/>
            </a:spcBef>
            <a:spcAft>
              <a:spcPct val="15000"/>
            </a:spcAft>
            <a:buChar char="•"/>
          </a:pPr>
          <a:r>
            <a:rPr lang="zh-CN" altLang="en-US">
              <a:solidFill>
                <a:srgbClr val="FF0000"/>
              </a:solidFill>
              <a:latin typeface="微软雅黑" panose="020B0503020204020204" pitchFamily="34" charset="-122"/>
              <a:ea typeface="微软雅黑" panose="020B0503020204020204" pitchFamily="34" charset="-122"/>
            </a:rPr>
            <a:t>行政办公</a:t>
          </a:r>
          <a:endParaRPr lang="zh-CN"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altLang="en-US">
              <a:solidFill>
                <a:srgbClr val="FF0000"/>
              </a:solidFill>
              <a:latin typeface="微软雅黑" panose="020B0503020204020204" pitchFamily="34" charset="-122"/>
              <a:ea typeface="微软雅黑" panose="020B0503020204020204" pitchFamily="34" charset="-122"/>
            </a:rPr>
            <a:t>人事管理</a:t>
          </a:r>
          <a:endParaRPr lang="zh-CN"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altLang="en-US">
              <a:solidFill>
                <a:srgbClr val="FF0000"/>
              </a:solidFill>
              <a:latin typeface="微软雅黑" panose="020B0503020204020204" pitchFamily="34" charset="-122"/>
              <a:ea typeface="微软雅黑" panose="020B0503020204020204" pitchFamily="34" charset="-122"/>
            </a:rPr>
            <a:t>勤假管理</a:t>
          </a:r>
          <a:endParaRPr lang="zh-CN"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altLang="en-US">
              <a:solidFill>
                <a:srgbClr val="FF0000"/>
              </a:solidFill>
              <a:latin typeface="微软雅黑" panose="020B0503020204020204" pitchFamily="34" charset="-122"/>
              <a:ea typeface="微软雅黑" panose="020B0503020204020204" pitchFamily="34" charset="-122"/>
              <a:sym typeface="+mn-ea"/>
            </a:rPr>
            <a:t>绩效考核</a:t>
          </a:r>
          <a:endParaRPr lang="zh-CN"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altLang="en-US">
              <a:solidFill>
                <a:srgbClr val="FF0000"/>
              </a:solidFill>
              <a:latin typeface="微软雅黑" panose="020B0503020204020204" pitchFamily="34" charset="-122"/>
              <a:ea typeface="微软雅黑" panose="020B0503020204020204" pitchFamily="34" charset="-122"/>
            </a:rPr>
            <a:t>岗</a:t>
          </a:r>
          <a:r>
            <a:rPr lang="zh-CN" altLang="en-US">
              <a:solidFill>
                <a:srgbClr val="FF0000"/>
              </a:solidFill>
              <a:latin typeface="微软雅黑" panose="020B0503020204020204" pitchFamily="34" charset="-122"/>
              <a:ea typeface="微软雅黑" panose="020B0503020204020204" pitchFamily="34" charset="-122"/>
            </a:rPr>
            <a:t>位晋降</a:t>
          </a:r>
          <a:endParaRPr lang="zh-CN"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altLang="en-US">
              <a:solidFill>
                <a:srgbClr val="FF0000"/>
              </a:solidFill>
              <a:latin typeface="微软雅黑" panose="020B0503020204020204" pitchFamily="34" charset="-122"/>
              <a:ea typeface="微软雅黑" panose="020B0503020204020204" pitchFamily="34" charset="-122"/>
              <a:sym typeface="+mn-ea"/>
            </a:rPr>
            <a:t>薪酬体系</a:t>
          </a:r>
          <a:endParaRPr lang="zh-CN"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altLang="en-US">
              <a:solidFill>
                <a:srgbClr val="FF0000"/>
              </a:solidFill>
              <a:latin typeface="微软雅黑" panose="020B0503020204020204" pitchFamily="34" charset="-122"/>
              <a:ea typeface="微软雅黑" panose="020B0503020204020204" pitchFamily="34" charset="-122"/>
            </a:rPr>
            <a:t>财务管理</a:t>
          </a:r>
          <a:endParaRPr lang="zh-CN"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altLang="en-US">
              <a:solidFill>
                <a:srgbClr val="FF0000"/>
              </a:solidFill>
              <a:latin typeface="微软雅黑" panose="020B0503020204020204" pitchFamily="34" charset="-122"/>
              <a:ea typeface="微软雅黑" panose="020B0503020204020204" pitchFamily="34" charset="-122"/>
            </a:rPr>
            <a:t>法务合规</a:t>
          </a:r>
          <a:endParaRPr lang="zh-CN" altLang="en-US">
            <a:solidFill>
              <a:srgbClr val="FF0000"/>
            </a:solidFill>
            <a:latin typeface="微软雅黑" panose="020B0503020204020204" pitchFamily="34" charset="-122"/>
            <a:ea typeface="微软雅黑" panose="020B0503020204020204" pitchFamily="34" charset="-122"/>
          </a:endParaRPr>
        </a:p>
      </dsp:txBody>
      <dsp:txXfrm>
        <a:off x="0" y="682878"/>
        <a:ext cx="1727862" cy="3479165"/>
      </dsp:txXfrm>
    </dsp:sp>
    <dsp:sp modelId="{70690FA0-EFE8-4F05-8254-1A155749C517}">
      <dsp:nvSpPr>
        <dsp:cNvPr id="5" name="矩形 4"/>
        <dsp:cNvSpPr/>
      </dsp:nvSpPr>
      <dsp:spPr bwMode="white">
        <a:xfrm>
          <a:off x="1969763" y="49278"/>
          <a:ext cx="1727862" cy="633600"/>
        </a:xfrm>
        <a:prstGeom prst="rect">
          <a:avLst/>
        </a:prstGeom>
      </dsp:spPr>
      <dsp:style>
        <a:lnRef idx="2">
          <a:schemeClr val="accent1"/>
        </a:lnRef>
        <a:fillRef idx="1">
          <a:schemeClr val="accent1"/>
        </a:fillRef>
        <a:effectRef idx="0">
          <a:scrgbClr r="0" g="0" b="0"/>
        </a:effectRef>
        <a:fontRef idx="minor">
          <a:schemeClr val="lt1"/>
        </a:fontRef>
      </dsp:style>
      <dsp:txBody>
        <a:bodyPr vert="horz" wrap="square" lIns="156464" tIns="89408" rIns="156464" bIns="89408"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gn="ctr">
            <a:lnSpc>
              <a:spcPct val="100000"/>
            </a:lnSpc>
            <a:spcBef>
              <a:spcPct val="0"/>
            </a:spcBef>
            <a:spcAft>
              <a:spcPct val="35000"/>
            </a:spcAft>
          </a:pPr>
          <a:r>
            <a:rPr lang="zh-CN" b="1" i="0" u="none" baseline="0">
              <a:latin typeface="微软雅黑" panose="020B0503020204020204" pitchFamily="34" charset="-122"/>
              <a:ea typeface="微软雅黑" panose="020B0503020204020204" pitchFamily="34" charset="-122"/>
              <a:cs typeface="微软雅黑" panose="020B0503020204020204" pitchFamily="34" charset="-122"/>
              <a:rtl val="0"/>
            </a:rPr>
            <a:t>培训子系统</a:t>
          </a:r>
          <a:endParaRPr altLang="en-US">
            <a:latin typeface="微软雅黑" panose="020B0503020204020204" pitchFamily="34" charset="-122"/>
            <a:ea typeface="微软雅黑" panose="020B0503020204020204" pitchFamily="34" charset="-122"/>
            <a:cs typeface="微软雅黑" panose="020B0503020204020204" pitchFamily="34" charset="-122"/>
          </a:endParaRPr>
        </a:p>
      </dsp:txBody>
      <dsp:txXfrm>
        <a:off x="1969763" y="49278"/>
        <a:ext cx="1727862" cy="633600"/>
      </dsp:txXfrm>
    </dsp:sp>
    <dsp:sp modelId="{493C2F3E-66B3-44BC-894F-566B240D60A3}">
      <dsp:nvSpPr>
        <dsp:cNvPr id="6" name="矩形 5"/>
        <dsp:cNvSpPr/>
      </dsp:nvSpPr>
      <dsp:spPr bwMode="white">
        <a:xfrm>
          <a:off x="1969763" y="682878"/>
          <a:ext cx="1727862" cy="347916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vert="horz" wrap="square" lIns="117348" tIns="117348" rIns="156464" bIns="176022"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培训体系</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入职培训</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企业文化</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基本能力</a:t>
          </a:r>
          <a:endParaRPr lang="zh-CN" b="0" i="0" u="none" baseline="0">
            <a:solidFill>
              <a:schemeClr val="dk1"/>
            </a:solidFill>
            <a:latin typeface="微软雅黑" panose="020B0503020204020204" pitchFamily="34" charset="-122"/>
            <a:ea typeface="微软雅黑" panose="020B0503020204020204" pitchFamily="34" charset="-122"/>
            <a:rtl val="0"/>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职业技能</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a:solidFill>
                <a:schemeClr val="dk1"/>
              </a:solidFill>
              <a:latin typeface="微软雅黑" panose="020B0503020204020204" pitchFamily="34" charset="-122"/>
              <a:ea typeface="微软雅黑" panose="020B0503020204020204" pitchFamily="34" charset="-122"/>
              <a:sym typeface="+mn-ea"/>
            </a:rPr>
            <a:t>营销知识</a:t>
          </a:r>
          <a:endParaRPr lang="zh-CN">
            <a:solidFill>
              <a:schemeClr val="dk1"/>
            </a:solidFill>
            <a:latin typeface="微软雅黑" panose="020B0503020204020204" pitchFamily="34" charset="-122"/>
            <a:ea typeface="微软雅黑" panose="020B0503020204020204" pitchFamily="34" charset="-122"/>
            <a:sym typeface="+mn-ea"/>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产品技术</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线上</a:t>
          </a:r>
          <a:r>
            <a:rPr lang="zh-CN" b="0" i="0" u="none" baseline="0">
              <a:solidFill>
                <a:schemeClr val="dk1"/>
              </a:solidFill>
              <a:latin typeface="微软雅黑" panose="020B0503020204020204" pitchFamily="34" charset="-122"/>
              <a:ea typeface="微软雅黑" panose="020B0503020204020204" pitchFamily="34" charset="-122"/>
              <a:rtl val="0"/>
            </a:rPr>
            <a:t>课程</a:t>
          </a:r>
          <a:endParaRPr altLang="en-US">
            <a:solidFill>
              <a:schemeClr val="dk1"/>
            </a:solidFill>
            <a:latin typeface="微软雅黑" panose="020B0503020204020204" pitchFamily="34" charset="-122"/>
            <a:ea typeface="微软雅黑" panose="020B0503020204020204" pitchFamily="34" charset="-122"/>
          </a:endParaRPr>
        </a:p>
      </dsp:txBody>
      <dsp:txXfrm>
        <a:off x="1969763" y="682878"/>
        <a:ext cx="1727862" cy="3479165"/>
      </dsp:txXfrm>
    </dsp:sp>
    <dsp:sp modelId="{844D9D57-F880-4954-8B8C-44AB1BF2442F}">
      <dsp:nvSpPr>
        <dsp:cNvPr id="7" name="矩形 6"/>
        <dsp:cNvSpPr/>
      </dsp:nvSpPr>
      <dsp:spPr bwMode="white">
        <a:xfrm>
          <a:off x="3939526" y="49278"/>
          <a:ext cx="1727862" cy="633600"/>
        </a:xfrm>
        <a:prstGeom prst="rect">
          <a:avLst/>
        </a:prstGeom>
      </dsp:spPr>
      <dsp:style>
        <a:lnRef idx="2">
          <a:schemeClr val="accent1"/>
        </a:lnRef>
        <a:fillRef idx="1">
          <a:schemeClr val="accent1"/>
        </a:fillRef>
        <a:effectRef idx="0">
          <a:scrgbClr r="0" g="0" b="0"/>
        </a:effectRef>
        <a:fontRef idx="minor">
          <a:schemeClr val="lt1"/>
        </a:fontRef>
      </dsp:style>
      <dsp:txBody>
        <a:bodyPr vert="horz" wrap="square" lIns="156464" tIns="89408" rIns="156464" bIns="89408"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gn="ctr">
            <a:lnSpc>
              <a:spcPct val="100000"/>
            </a:lnSpc>
            <a:spcBef>
              <a:spcPct val="0"/>
            </a:spcBef>
            <a:spcAft>
              <a:spcPct val="35000"/>
            </a:spcAft>
          </a:pPr>
          <a:r>
            <a:rPr lang="zh-CN" b="1" i="0" u="none" baseline="0">
              <a:latin typeface="微软雅黑" panose="020B0503020204020204" pitchFamily="34" charset="-122"/>
              <a:ea typeface="微软雅黑" panose="020B0503020204020204" pitchFamily="34" charset="-122"/>
              <a:cs typeface="微软雅黑" panose="020B0503020204020204" pitchFamily="34" charset="-122"/>
              <a:rtl val="0"/>
            </a:rPr>
            <a:t>服务子系统</a:t>
          </a:r>
          <a:endParaRPr altLang="en-US">
            <a:latin typeface="微软雅黑" panose="020B0503020204020204" pitchFamily="34" charset="-122"/>
            <a:ea typeface="微软雅黑" panose="020B0503020204020204" pitchFamily="34" charset="-122"/>
            <a:cs typeface="微软雅黑" panose="020B0503020204020204" pitchFamily="34" charset="-122"/>
          </a:endParaRPr>
        </a:p>
      </dsp:txBody>
      <dsp:txXfrm>
        <a:off x="3939526" y="49278"/>
        <a:ext cx="1727862" cy="633600"/>
      </dsp:txXfrm>
    </dsp:sp>
    <dsp:sp modelId="{D2D42066-3C3F-4F89-8570-BECFC0F488E9}">
      <dsp:nvSpPr>
        <dsp:cNvPr id="8" name="矩形 7"/>
        <dsp:cNvSpPr/>
      </dsp:nvSpPr>
      <dsp:spPr bwMode="white">
        <a:xfrm>
          <a:off x="3939526" y="682878"/>
          <a:ext cx="1727862" cy="347916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vert="horz" wrap="square" lIns="117348" tIns="117348" rIns="156464" bIns="176022"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服务产品</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服务标准</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服务质量</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服务优化</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产品调试</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维保处理</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施工服务</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运维服务</a:t>
          </a:r>
          <a:endParaRPr altLang="en-US">
            <a:solidFill>
              <a:schemeClr val="dk1"/>
            </a:solidFill>
            <a:latin typeface="微软雅黑" panose="020B0503020204020204" pitchFamily="34" charset="-122"/>
            <a:ea typeface="微软雅黑" panose="020B0503020204020204" pitchFamily="34" charset="-122"/>
          </a:endParaRPr>
        </a:p>
      </dsp:txBody>
      <dsp:txXfrm>
        <a:off x="3939526" y="682878"/>
        <a:ext cx="1727862" cy="3479165"/>
      </dsp:txXfrm>
    </dsp:sp>
    <dsp:sp modelId="{ADF19733-9696-44D8-95A4-31580CFDD99D}">
      <dsp:nvSpPr>
        <dsp:cNvPr id="9" name="矩形 8"/>
        <dsp:cNvSpPr/>
      </dsp:nvSpPr>
      <dsp:spPr bwMode="white">
        <a:xfrm>
          <a:off x="5909289" y="49278"/>
          <a:ext cx="1727862" cy="633600"/>
        </a:xfrm>
        <a:prstGeom prst="rect">
          <a:avLst/>
        </a:prstGeom>
      </dsp:spPr>
      <dsp:style>
        <a:lnRef idx="2">
          <a:schemeClr val="accent1"/>
        </a:lnRef>
        <a:fillRef idx="1">
          <a:schemeClr val="accent1"/>
        </a:fillRef>
        <a:effectRef idx="0">
          <a:scrgbClr r="0" g="0" b="0"/>
        </a:effectRef>
        <a:fontRef idx="minor">
          <a:schemeClr val="lt1"/>
        </a:fontRef>
      </dsp:style>
      <dsp:txBody>
        <a:bodyPr vert="horz" wrap="square" lIns="156464" tIns="89408" rIns="156464" bIns="89408"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gn="ctr">
            <a:lnSpc>
              <a:spcPct val="100000"/>
            </a:lnSpc>
            <a:spcBef>
              <a:spcPct val="0"/>
            </a:spcBef>
            <a:spcAft>
              <a:spcPct val="35000"/>
            </a:spcAft>
          </a:pPr>
          <a:r>
            <a:rPr lang="zh-CN" b="1" i="0" u="none" baseline="0">
              <a:solidFill>
                <a:srgbClr val="FF0000"/>
              </a:solidFill>
              <a:latin typeface="微软雅黑" panose="020B0503020204020204" pitchFamily="34" charset="-122"/>
              <a:ea typeface="微软雅黑" panose="020B0503020204020204" pitchFamily="34" charset="-122"/>
              <a:cs typeface="微软雅黑" panose="020B0503020204020204" pitchFamily="34" charset="-122"/>
              <a:rtl val="0"/>
            </a:rPr>
            <a:t>营销子系统</a:t>
          </a:r>
          <a:endParaRPr lang="zh-CN" altLang="en-US" b="1" i="0" u="none" baseline="0">
            <a:solidFill>
              <a:srgbClr val="FF0000"/>
            </a:solidFill>
            <a:latin typeface="微软雅黑" panose="020B0503020204020204" pitchFamily="34" charset="-122"/>
            <a:ea typeface="微软雅黑" panose="020B0503020204020204" pitchFamily="34" charset="-122"/>
            <a:cs typeface="微软雅黑" panose="020B0503020204020204" pitchFamily="34" charset="-122"/>
            <a:rtl val="0"/>
          </a:endParaRPr>
        </a:p>
      </dsp:txBody>
      <dsp:txXfrm>
        <a:off x="5909289" y="49278"/>
        <a:ext cx="1727862" cy="633600"/>
      </dsp:txXfrm>
    </dsp:sp>
    <dsp:sp modelId="{7F3F4794-9143-4A56-AB69-1AD274B3E080}">
      <dsp:nvSpPr>
        <dsp:cNvPr id="10" name="矩形 9"/>
        <dsp:cNvSpPr/>
      </dsp:nvSpPr>
      <dsp:spPr bwMode="white">
        <a:xfrm>
          <a:off x="5909289" y="682878"/>
          <a:ext cx="1727862" cy="347916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vert="horz" wrap="square" lIns="117348" tIns="117348" rIns="156464" bIns="176022"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1" algn="ctr">
            <a:lnSpc>
              <a:spcPct val="100000"/>
            </a:lnSpc>
            <a:spcBef>
              <a:spcPct val="0"/>
            </a:spcBef>
            <a:spcAft>
              <a:spcPct val="15000"/>
            </a:spcAft>
            <a:buChar char="•"/>
          </a:pPr>
          <a:r>
            <a:rPr lang="zh-CN" b="0" i="0" u="none" baseline="0">
              <a:solidFill>
                <a:srgbClr val="FF0000"/>
              </a:solidFill>
              <a:latin typeface="微软雅黑" panose="020B0503020204020204" pitchFamily="34" charset="-122"/>
              <a:ea typeface="微软雅黑" panose="020B0503020204020204" pitchFamily="34" charset="-122"/>
              <a:rtl val="0"/>
            </a:rPr>
            <a:t>线索管理</a:t>
          </a:r>
          <a:endParaRPr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rgbClr val="FF0000"/>
              </a:solidFill>
              <a:latin typeface="微软雅黑" panose="020B0503020204020204" pitchFamily="34" charset="-122"/>
              <a:ea typeface="微软雅黑" panose="020B0503020204020204" pitchFamily="34" charset="-122"/>
              <a:rtl val="0"/>
            </a:rPr>
            <a:t>客户管理</a:t>
          </a:r>
          <a:endParaRPr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rgbClr val="FF0000"/>
              </a:solidFill>
              <a:latin typeface="微软雅黑" panose="020B0503020204020204" pitchFamily="34" charset="-122"/>
              <a:ea typeface="微软雅黑" panose="020B0503020204020204" pitchFamily="34" charset="-122"/>
              <a:rtl val="0"/>
            </a:rPr>
            <a:t>供应管理</a:t>
          </a:r>
          <a:endParaRPr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rgbClr val="FF0000"/>
              </a:solidFill>
              <a:latin typeface="微软雅黑" panose="020B0503020204020204" pitchFamily="34" charset="-122"/>
              <a:ea typeface="微软雅黑" panose="020B0503020204020204" pitchFamily="34" charset="-122"/>
              <a:rtl val="0"/>
            </a:rPr>
            <a:t>项目管理</a:t>
          </a:r>
          <a:endParaRPr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rgbClr val="FF0000"/>
              </a:solidFill>
              <a:latin typeface="微软雅黑" panose="020B0503020204020204" pitchFamily="34" charset="-122"/>
              <a:ea typeface="微软雅黑" panose="020B0503020204020204" pitchFamily="34" charset="-122"/>
              <a:rtl val="0"/>
            </a:rPr>
            <a:t>报价管理</a:t>
          </a:r>
          <a:endParaRPr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rgbClr val="FF0000"/>
              </a:solidFill>
              <a:latin typeface="微软雅黑" panose="020B0503020204020204" pitchFamily="34" charset="-122"/>
              <a:ea typeface="微软雅黑" panose="020B0503020204020204" pitchFamily="34" charset="-122"/>
              <a:rtl val="0"/>
            </a:rPr>
            <a:t>销售管理</a:t>
          </a:r>
          <a:endParaRPr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rgbClr val="FF0000"/>
              </a:solidFill>
              <a:latin typeface="微软雅黑" panose="020B0503020204020204" pitchFamily="34" charset="-122"/>
              <a:ea typeface="微软雅黑" panose="020B0503020204020204" pitchFamily="34" charset="-122"/>
              <a:rtl val="0"/>
            </a:rPr>
            <a:t>采购管理</a:t>
          </a:r>
          <a:endParaRPr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rgbClr val="FF0000"/>
              </a:solidFill>
              <a:latin typeface="微软雅黑" panose="020B0503020204020204" pitchFamily="34" charset="-122"/>
              <a:ea typeface="微软雅黑" panose="020B0503020204020204" pitchFamily="34" charset="-122"/>
              <a:rtl val="0"/>
            </a:rPr>
            <a:t>提成管理</a:t>
          </a:r>
          <a:endParaRPr lang="zh-CN" altLang="en-US" b="0" i="0" u="none" baseline="0">
            <a:solidFill>
              <a:srgbClr val="FF0000"/>
            </a:solidFill>
            <a:latin typeface="微软雅黑" panose="020B0503020204020204" pitchFamily="34" charset="-122"/>
            <a:ea typeface="微软雅黑" panose="020B0503020204020204" pitchFamily="34" charset="-122"/>
            <a:rtl val="0"/>
          </a:endParaRPr>
        </a:p>
      </dsp:txBody>
      <dsp:txXfrm>
        <a:off x="5909289" y="682878"/>
        <a:ext cx="1727862" cy="3479165"/>
      </dsp:txXfrm>
    </dsp:sp>
    <dsp:sp modelId="{C13A39B6-750E-448A-9446-EEA107BE74F3}">
      <dsp:nvSpPr>
        <dsp:cNvPr id="11" name="矩形 10"/>
        <dsp:cNvSpPr/>
      </dsp:nvSpPr>
      <dsp:spPr bwMode="white">
        <a:xfrm>
          <a:off x="7879053" y="49278"/>
          <a:ext cx="1727862" cy="633600"/>
        </a:xfrm>
        <a:prstGeom prst="rect">
          <a:avLst/>
        </a:prstGeom>
      </dsp:spPr>
      <dsp:style>
        <a:lnRef idx="2">
          <a:schemeClr val="accent1"/>
        </a:lnRef>
        <a:fillRef idx="1">
          <a:schemeClr val="accent1"/>
        </a:fillRef>
        <a:effectRef idx="0">
          <a:scrgbClr r="0" g="0" b="0"/>
        </a:effectRef>
        <a:fontRef idx="minor">
          <a:schemeClr val="lt1"/>
        </a:fontRef>
      </dsp:style>
      <dsp:txBody>
        <a:bodyPr vert="horz" wrap="square" lIns="156464" tIns="89408" rIns="156464" bIns="89408"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gn="ctr">
            <a:lnSpc>
              <a:spcPct val="100000"/>
            </a:lnSpc>
            <a:spcBef>
              <a:spcPct val="0"/>
            </a:spcBef>
            <a:spcAft>
              <a:spcPct val="35000"/>
            </a:spcAft>
          </a:pPr>
          <a:r>
            <a:rPr lang="zh-CN" b="1" i="0" u="none" baseline="0">
              <a:latin typeface="微软雅黑" panose="020B0503020204020204" pitchFamily="34" charset="-122"/>
              <a:ea typeface="微软雅黑" panose="020B0503020204020204" pitchFamily="34" charset="-122"/>
              <a:cs typeface="微软雅黑" panose="020B0503020204020204" pitchFamily="34" charset="-122"/>
              <a:rtl val="0"/>
            </a:rPr>
            <a:t>产品子系统</a:t>
          </a:r>
          <a:endParaRPr altLang="en-US">
            <a:latin typeface="微软雅黑" panose="020B0503020204020204" pitchFamily="34" charset="-122"/>
            <a:ea typeface="微软雅黑" panose="020B0503020204020204" pitchFamily="34" charset="-122"/>
            <a:cs typeface="微软雅黑" panose="020B0503020204020204" pitchFamily="34" charset="-122"/>
          </a:endParaRPr>
        </a:p>
      </dsp:txBody>
      <dsp:txXfrm>
        <a:off x="7879053" y="49278"/>
        <a:ext cx="1727862" cy="633600"/>
      </dsp:txXfrm>
    </dsp:sp>
    <dsp:sp modelId="{9396F0D2-E30F-45F6-8CE4-4D8CCC0D727C}">
      <dsp:nvSpPr>
        <dsp:cNvPr id="12" name="矩形 11"/>
        <dsp:cNvSpPr/>
      </dsp:nvSpPr>
      <dsp:spPr bwMode="white">
        <a:xfrm>
          <a:off x="7879053" y="682878"/>
          <a:ext cx="1727862" cy="347916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vert="horz" wrap="square" lIns="117348" tIns="117348" rIns="156464" bIns="176022"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研发管理</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制造管理</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质量管理</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原料管理</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数据管理</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仓储管理</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物流管理</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合规管控</a:t>
          </a:r>
          <a:endParaRPr altLang="en-US">
            <a:solidFill>
              <a:schemeClr val="dk1"/>
            </a:solidFill>
            <a:latin typeface="微软雅黑" panose="020B0503020204020204" pitchFamily="34" charset="-122"/>
            <a:ea typeface="微软雅黑" panose="020B0503020204020204" pitchFamily="34" charset="-122"/>
          </a:endParaRPr>
        </a:p>
      </dsp:txBody>
      <dsp:txXfrm>
        <a:off x="7879053" y="682878"/>
        <a:ext cx="1727862" cy="347916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606915" cy="4211320"/>
        <a:chOff x="0" y="0"/>
        <a:chExt cx="9606915" cy="4211320"/>
      </a:xfrm>
    </dsp:grpSpPr>
    <dsp:sp modelId="{515925E7-FBCD-41FE-9702-F2A4CC072A45}">
      <dsp:nvSpPr>
        <dsp:cNvPr id="3" name="矩形 2"/>
        <dsp:cNvSpPr/>
      </dsp:nvSpPr>
      <dsp:spPr bwMode="white">
        <a:xfrm>
          <a:off x="0" y="49278"/>
          <a:ext cx="1727862" cy="633600"/>
        </a:xfrm>
        <a:prstGeom prst="rect">
          <a:avLst/>
        </a:prstGeom>
      </dsp:spPr>
      <dsp:style>
        <a:lnRef idx="2">
          <a:schemeClr val="accent1"/>
        </a:lnRef>
        <a:fillRef idx="1">
          <a:schemeClr val="accent1"/>
        </a:fillRef>
        <a:effectRef idx="0">
          <a:scrgbClr r="0" g="0" b="0"/>
        </a:effectRef>
        <a:fontRef idx="minor">
          <a:schemeClr val="lt1"/>
        </a:fontRef>
      </dsp:style>
      <dsp:txBody>
        <a:bodyPr vert="horz" wrap="square" lIns="156464" tIns="89408" rIns="156464" bIns="89408"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gn="ctr">
            <a:lnSpc>
              <a:spcPct val="100000"/>
            </a:lnSpc>
            <a:spcBef>
              <a:spcPct val="0"/>
            </a:spcBef>
            <a:spcAft>
              <a:spcPct val="35000"/>
            </a:spcAft>
          </a:pPr>
          <a:r>
            <a:rPr lang="zh-CN" b="1" i="0" u="none" baseline="0">
              <a:solidFill>
                <a:srgbClr val="FF0000"/>
              </a:solidFill>
              <a:latin typeface="微软雅黑" panose="020B0503020204020204" pitchFamily="34" charset="-122"/>
              <a:ea typeface="微软雅黑" panose="020B0503020204020204" pitchFamily="34" charset="-122"/>
              <a:rtl val="0"/>
            </a:rPr>
            <a:t>行政子系统</a:t>
          </a:r>
          <a:endParaRPr lang="zh-CN" altLang="en-US" b="1" i="0" u="none" baseline="0">
            <a:solidFill>
              <a:srgbClr val="FF0000"/>
            </a:solidFill>
            <a:latin typeface="微软雅黑" panose="020B0503020204020204" pitchFamily="34" charset="-122"/>
            <a:ea typeface="微软雅黑" panose="020B0503020204020204" pitchFamily="34" charset="-122"/>
            <a:rtl val="0"/>
          </a:endParaRPr>
        </a:p>
      </dsp:txBody>
      <dsp:txXfrm>
        <a:off x="0" y="49278"/>
        <a:ext cx="1727862" cy="633600"/>
      </dsp:txXfrm>
    </dsp:sp>
    <dsp:sp modelId="{C8BEC413-B3E9-4D39-A8A6-53389136125B}">
      <dsp:nvSpPr>
        <dsp:cNvPr id="4" name="矩形 3"/>
        <dsp:cNvSpPr/>
      </dsp:nvSpPr>
      <dsp:spPr bwMode="white">
        <a:xfrm>
          <a:off x="0" y="682878"/>
          <a:ext cx="1727862" cy="347916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vert="horz" wrap="square" lIns="117348" tIns="117348" rIns="156464" bIns="176022"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1" algn="ctr">
            <a:lnSpc>
              <a:spcPct val="100000"/>
            </a:lnSpc>
            <a:spcBef>
              <a:spcPct val="0"/>
            </a:spcBef>
            <a:spcAft>
              <a:spcPct val="15000"/>
            </a:spcAft>
            <a:buChar char="•"/>
          </a:pPr>
          <a:r>
            <a:rPr lang="zh-CN" altLang="en-US">
              <a:solidFill>
                <a:srgbClr val="FF0000"/>
              </a:solidFill>
              <a:latin typeface="微软雅黑" panose="020B0503020204020204" pitchFamily="34" charset="-122"/>
              <a:ea typeface="微软雅黑" panose="020B0503020204020204" pitchFamily="34" charset="-122"/>
            </a:rPr>
            <a:t>行政办公</a:t>
          </a:r>
          <a:endParaRPr lang="zh-CN"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altLang="en-US">
              <a:solidFill>
                <a:srgbClr val="FF0000"/>
              </a:solidFill>
              <a:latin typeface="微软雅黑" panose="020B0503020204020204" pitchFamily="34" charset="-122"/>
              <a:ea typeface="微软雅黑" panose="020B0503020204020204" pitchFamily="34" charset="-122"/>
            </a:rPr>
            <a:t>人事管理</a:t>
          </a:r>
          <a:endParaRPr lang="zh-CN"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altLang="en-US">
              <a:solidFill>
                <a:srgbClr val="FF0000"/>
              </a:solidFill>
              <a:latin typeface="微软雅黑" panose="020B0503020204020204" pitchFamily="34" charset="-122"/>
              <a:ea typeface="微软雅黑" panose="020B0503020204020204" pitchFamily="34" charset="-122"/>
            </a:rPr>
            <a:t>勤假管理</a:t>
          </a:r>
          <a:endParaRPr lang="zh-CN"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altLang="en-US">
              <a:solidFill>
                <a:srgbClr val="FF0000"/>
              </a:solidFill>
              <a:latin typeface="微软雅黑" panose="020B0503020204020204" pitchFamily="34" charset="-122"/>
              <a:ea typeface="微软雅黑" panose="020B0503020204020204" pitchFamily="34" charset="-122"/>
            </a:rPr>
            <a:t>薪酬体系</a:t>
          </a:r>
          <a:endParaRPr lang="zh-CN"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altLang="en-US">
              <a:solidFill>
                <a:srgbClr val="FF0000"/>
              </a:solidFill>
              <a:latin typeface="微软雅黑" panose="020B0503020204020204" pitchFamily="34" charset="-122"/>
              <a:ea typeface="微软雅黑" panose="020B0503020204020204" pitchFamily="34" charset="-122"/>
              <a:sym typeface="+mn-ea"/>
            </a:rPr>
            <a:t>绩效考核</a:t>
          </a:r>
          <a:endParaRPr lang="zh-CN"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altLang="en-US">
              <a:solidFill>
                <a:srgbClr val="FF0000"/>
              </a:solidFill>
              <a:latin typeface="微软雅黑" panose="020B0503020204020204" pitchFamily="34" charset="-122"/>
              <a:ea typeface="微软雅黑" panose="020B0503020204020204" pitchFamily="34" charset="-122"/>
            </a:rPr>
            <a:t>职位晋降</a:t>
          </a:r>
          <a:endParaRPr lang="zh-CN"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altLang="en-US">
              <a:solidFill>
                <a:srgbClr val="FF0000"/>
              </a:solidFill>
              <a:latin typeface="微软雅黑" panose="020B0503020204020204" pitchFamily="34" charset="-122"/>
              <a:ea typeface="微软雅黑" panose="020B0503020204020204" pitchFamily="34" charset="-122"/>
            </a:rPr>
            <a:t>财务管理</a:t>
          </a:r>
          <a:endParaRPr lang="zh-CN"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altLang="en-US">
              <a:solidFill>
                <a:srgbClr val="FF0000"/>
              </a:solidFill>
              <a:latin typeface="微软雅黑" panose="020B0503020204020204" pitchFamily="34" charset="-122"/>
              <a:ea typeface="微软雅黑" panose="020B0503020204020204" pitchFamily="34" charset="-122"/>
            </a:rPr>
            <a:t>法务合规</a:t>
          </a:r>
          <a:endParaRPr lang="zh-CN" altLang="en-US">
            <a:solidFill>
              <a:srgbClr val="FF0000"/>
            </a:solidFill>
            <a:latin typeface="微软雅黑" panose="020B0503020204020204" pitchFamily="34" charset="-122"/>
            <a:ea typeface="微软雅黑" panose="020B0503020204020204" pitchFamily="34" charset="-122"/>
          </a:endParaRPr>
        </a:p>
      </dsp:txBody>
      <dsp:txXfrm>
        <a:off x="0" y="682878"/>
        <a:ext cx="1727862" cy="3479165"/>
      </dsp:txXfrm>
    </dsp:sp>
    <dsp:sp modelId="{70690FA0-EFE8-4F05-8254-1A155749C517}">
      <dsp:nvSpPr>
        <dsp:cNvPr id="5" name="矩形 4"/>
        <dsp:cNvSpPr/>
      </dsp:nvSpPr>
      <dsp:spPr bwMode="white">
        <a:xfrm>
          <a:off x="1969763" y="49278"/>
          <a:ext cx="1727862" cy="633600"/>
        </a:xfrm>
        <a:prstGeom prst="rect">
          <a:avLst/>
        </a:prstGeom>
      </dsp:spPr>
      <dsp:style>
        <a:lnRef idx="2">
          <a:schemeClr val="accent1"/>
        </a:lnRef>
        <a:fillRef idx="1">
          <a:schemeClr val="accent1"/>
        </a:fillRef>
        <a:effectRef idx="0">
          <a:scrgbClr r="0" g="0" b="0"/>
        </a:effectRef>
        <a:fontRef idx="minor">
          <a:schemeClr val="lt1"/>
        </a:fontRef>
      </dsp:style>
      <dsp:txBody>
        <a:bodyPr vert="horz" wrap="square" lIns="156464" tIns="89408" rIns="156464" bIns="89408"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gn="ctr">
            <a:lnSpc>
              <a:spcPct val="100000"/>
            </a:lnSpc>
            <a:spcBef>
              <a:spcPct val="0"/>
            </a:spcBef>
            <a:spcAft>
              <a:spcPct val="35000"/>
            </a:spcAft>
          </a:pPr>
          <a:r>
            <a:rPr lang="zh-CN" b="1" i="0" u="none" baseline="0">
              <a:latin typeface="微软雅黑" panose="020B0503020204020204" pitchFamily="34" charset="-122"/>
              <a:ea typeface="微软雅黑" panose="020B0503020204020204" pitchFamily="34" charset="-122"/>
              <a:cs typeface="微软雅黑" panose="020B0503020204020204" pitchFamily="34" charset="-122"/>
              <a:rtl val="0"/>
            </a:rPr>
            <a:t>培训子系统</a:t>
          </a:r>
          <a:endParaRPr altLang="en-US">
            <a:latin typeface="微软雅黑" panose="020B0503020204020204" pitchFamily="34" charset="-122"/>
            <a:ea typeface="微软雅黑" panose="020B0503020204020204" pitchFamily="34" charset="-122"/>
            <a:cs typeface="微软雅黑" panose="020B0503020204020204" pitchFamily="34" charset="-122"/>
          </a:endParaRPr>
        </a:p>
      </dsp:txBody>
      <dsp:txXfrm>
        <a:off x="1969763" y="49278"/>
        <a:ext cx="1727862" cy="633600"/>
      </dsp:txXfrm>
    </dsp:sp>
    <dsp:sp modelId="{493C2F3E-66B3-44BC-894F-566B240D60A3}">
      <dsp:nvSpPr>
        <dsp:cNvPr id="6" name="矩形 5"/>
        <dsp:cNvSpPr/>
      </dsp:nvSpPr>
      <dsp:spPr bwMode="white">
        <a:xfrm>
          <a:off x="1969763" y="682878"/>
          <a:ext cx="1727862" cy="347916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vert="horz" wrap="square" lIns="117348" tIns="117348" rIns="156464" bIns="176022"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培训体系</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入职培训</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企业文化</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基本能力</a:t>
          </a:r>
          <a:endParaRPr lang="zh-CN" b="0" i="0" u="none" baseline="0">
            <a:solidFill>
              <a:schemeClr val="dk1"/>
            </a:solidFill>
            <a:latin typeface="微软雅黑" panose="020B0503020204020204" pitchFamily="34" charset="-122"/>
            <a:ea typeface="微软雅黑" panose="020B0503020204020204" pitchFamily="34" charset="-122"/>
            <a:rtl val="0"/>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职业技能</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a:solidFill>
                <a:schemeClr val="dk1"/>
              </a:solidFill>
              <a:latin typeface="微软雅黑" panose="020B0503020204020204" pitchFamily="34" charset="-122"/>
              <a:ea typeface="微软雅黑" panose="020B0503020204020204" pitchFamily="34" charset="-122"/>
              <a:sym typeface="+mn-ea"/>
            </a:rPr>
            <a:t>营销知识</a:t>
          </a:r>
          <a:endParaRPr lang="zh-CN">
            <a:solidFill>
              <a:schemeClr val="dk1"/>
            </a:solidFill>
            <a:latin typeface="微软雅黑" panose="020B0503020204020204" pitchFamily="34" charset="-122"/>
            <a:ea typeface="微软雅黑" panose="020B0503020204020204" pitchFamily="34" charset="-122"/>
            <a:sym typeface="+mn-ea"/>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产品技术</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线上</a:t>
          </a:r>
          <a:r>
            <a:rPr lang="zh-CN" b="0" i="0" u="none" baseline="0">
              <a:solidFill>
                <a:schemeClr val="dk1"/>
              </a:solidFill>
              <a:latin typeface="微软雅黑" panose="020B0503020204020204" pitchFamily="34" charset="-122"/>
              <a:ea typeface="微软雅黑" panose="020B0503020204020204" pitchFamily="34" charset="-122"/>
              <a:rtl val="0"/>
            </a:rPr>
            <a:t>课程</a:t>
          </a:r>
          <a:endParaRPr altLang="en-US">
            <a:solidFill>
              <a:schemeClr val="dk1"/>
            </a:solidFill>
            <a:latin typeface="微软雅黑" panose="020B0503020204020204" pitchFamily="34" charset="-122"/>
            <a:ea typeface="微软雅黑" panose="020B0503020204020204" pitchFamily="34" charset="-122"/>
          </a:endParaRPr>
        </a:p>
      </dsp:txBody>
      <dsp:txXfrm>
        <a:off x="1969763" y="682878"/>
        <a:ext cx="1727862" cy="3479165"/>
      </dsp:txXfrm>
    </dsp:sp>
    <dsp:sp modelId="{844D9D57-F880-4954-8B8C-44AB1BF2442F}">
      <dsp:nvSpPr>
        <dsp:cNvPr id="7" name="矩形 6"/>
        <dsp:cNvSpPr/>
      </dsp:nvSpPr>
      <dsp:spPr bwMode="white">
        <a:xfrm>
          <a:off x="3939526" y="49278"/>
          <a:ext cx="1727862" cy="633600"/>
        </a:xfrm>
        <a:prstGeom prst="rect">
          <a:avLst/>
        </a:prstGeom>
      </dsp:spPr>
      <dsp:style>
        <a:lnRef idx="2">
          <a:schemeClr val="accent1"/>
        </a:lnRef>
        <a:fillRef idx="1">
          <a:schemeClr val="accent1"/>
        </a:fillRef>
        <a:effectRef idx="0">
          <a:scrgbClr r="0" g="0" b="0"/>
        </a:effectRef>
        <a:fontRef idx="minor">
          <a:schemeClr val="lt1"/>
        </a:fontRef>
      </dsp:style>
      <dsp:txBody>
        <a:bodyPr vert="horz" wrap="square" lIns="156464" tIns="89408" rIns="156464" bIns="89408"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gn="ctr">
            <a:lnSpc>
              <a:spcPct val="100000"/>
            </a:lnSpc>
            <a:spcBef>
              <a:spcPct val="0"/>
            </a:spcBef>
            <a:spcAft>
              <a:spcPct val="35000"/>
            </a:spcAft>
          </a:pPr>
          <a:r>
            <a:rPr lang="zh-CN" b="1" i="0" u="none" baseline="0">
              <a:latin typeface="微软雅黑" panose="020B0503020204020204" pitchFamily="34" charset="-122"/>
              <a:ea typeface="微软雅黑" panose="020B0503020204020204" pitchFamily="34" charset="-122"/>
              <a:cs typeface="微软雅黑" panose="020B0503020204020204" pitchFamily="34" charset="-122"/>
              <a:rtl val="0"/>
            </a:rPr>
            <a:t>服务子系统</a:t>
          </a:r>
          <a:endParaRPr altLang="en-US">
            <a:latin typeface="微软雅黑" panose="020B0503020204020204" pitchFamily="34" charset="-122"/>
            <a:ea typeface="微软雅黑" panose="020B0503020204020204" pitchFamily="34" charset="-122"/>
            <a:cs typeface="微软雅黑" panose="020B0503020204020204" pitchFamily="34" charset="-122"/>
          </a:endParaRPr>
        </a:p>
      </dsp:txBody>
      <dsp:txXfrm>
        <a:off x="3939526" y="49278"/>
        <a:ext cx="1727862" cy="633600"/>
      </dsp:txXfrm>
    </dsp:sp>
    <dsp:sp modelId="{D2D42066-3C3F-4F89-8570-BECFC0F488E9}">
      <dsp:nvSpPr>
        <dsp:cNvPr id="8" name="矩形 7"/>
        <dsp:cNvSpPr/>
      </dsp:nvSpPr>
      <dsp:spPr bwMode="white">
        <a:xfrm>
          <a:off x="3939526" y="682878"/>
          <a:ext cx="1727862" cy="347916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vert="horz" wrap="square" lIns="117348" tIns="117348" rIns="156464" bIns="176022"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服务产品</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服务标准</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服务质量</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服务优化</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产品调试</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维保处理</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施工服务</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运维服务</a:t>
          </a:r>
          <a:endParaRPr altLang="en-US">
            <a:solidFill>
              <a:schemeClr val="dk1"/>
            </a:solidFill>
            <a:latin typeface="微软雅黑" panose="020B0503020204020204" pitchFamily="34" charset="-122"/>
            <a:ea typeface="微软雅黑" panose="020B0503020204020204" pitchFamily="34" charset="-122"/>
          </a:endParaRPr>
        </a:p>
      </dsp:txBody>
      <dsp:txXfrm>
        <a:off x="3939526" y="682878"/>
        <a:ext cx="1727862" cy="3479165"/>
      </dsp:txXfrm>
    </dsp:sp>
    <dsp:sp modelId="{ADF19733-9696-44D8-95A4-31580CFDD99D}">
      <dsp:nvSpPr>
        <dsp:cNvPr id="9" name="矩形 8"/>
        <dsp:cNvSpPr/>
      </dsp:nvSpPr>
      <dsp:spPr bwMode="white">
        <a:xfrm>
          <a:off x="5909289" y="49278"/>
          <a:ext cx="1727862" cy="633600"/>
        </a:xfrm>
        <a:prstGeom prst="rect">
          <a:avLst/>
        </a:prstGeom>
      </dsp:spPr>
      <dsp:style>
        <a:lnRef idx="2">
          <a:schemeClr val="accent1"/>
        </a:lnRef>
        <a:fillRef idx="1">
          <a:schemeClr val="accent1"/>
        </a:fillRef>
        <a:effectRef idx="0">
          <a:scrgbClr r="0" g="0" b="0"/>
        </a:effectRef>
        <a:fontRef idx="minor">
          <a:schemeClr val="lt1"/>
        </a:fontRef>
      </dsp:style>
      <dsp:txBody>
        <a:bodyPr vert="horz" wrap="square" lIns="156464" tIns="89408" rIns="156464" bIns="89408"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gn="ctr">
            <a:lnSpc>
              <a:spcPct val="100000"/>
            </a:lnSpc>
            <a:spcBef>
              <a:spcPct val="0"/>
            </a:spcBef>
            <a:spcAft>
              <a:spcPct val="35000"/>
            </a:spcAft>
          </a:pPr>
          <a:r>
            <a:rPr lang="zh-CN" b="1" i="0" u="none" baseline="0">
              <a:solidFill>
                <a:srgbClr val="FF0000"/>
              </a:solidFill>
              <a:latin typeface="微软雅黑" panose="020B0503020204020204" pitchFamily="34" charset="-122"/>
              <a:ea typeface="微软雅黑" panose="020B0503020204020204" pitchFamily="34" charset="-122"/>
              <a:cs typeface="微软雅黑" panose="020B0503020204020204" pitchFamily="34" charset="-122"/>
              <a:rtl val="0"/>
            </a:rPr>
            <a:t>营销子系统</a:t>
          </a:r>
          <a:endParaRPr lang="zh-CN" altLang="en-US" b="1" i="0" u="none" baseline="0">
            <a:solidFill>
              <a:srgbClr val="FF0000"/>
            </a:solidFill>
            <a:latin typeface="微软雅黑" panose="020B0503020204020204" pitchFamily="34" charset="-122"/>
            <a:ea typeface="微软雅黑" panose="020B0503020204020204" pitchFamily="34" charset="-122"/>
            <a:cs typeface="微软雅黑" panose="020B0503020204020204" pitchFamily="34" charset="-122"/>
            <a:rtl val="0"/>
          </a:endParaRPr>
        </a:p>
      </dsp:txBody>
      <dsp:txXfrm>
        <a:off x="5909289" y="49278"/>
        <a:ext cx="1727862" cy="633600"/>
      </dsp:txXfrm>
    </dsp:sp>
    <dsp:sp modelId="{7F3F4794-9143-4A56-AB69-1AD274B3E080}">
      <dsp:nvSpPr>
        <dsp:cNvPr id="10" name="矩形 9"/>
        <dsp:cNvSpPr/>
      </dsp:nvSpPr>
      <dsp:spPr bwMode="white">
        <a:xfrm>
          <a:off x="5909289" y="682878"/>
          <a:ext cx="1727862" cy="347916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vert="horz" wrap="square" lIns="117348" tIns="117348" rIns="156464" bIns="176022"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1" algn="ctr">
            <a:lnSpc>
              <a:spcPct val="100000"/>
            </a:lnSpc>
            <a:spcBef>
              <a:spcPct val="0"/>
            </a:spcBef>
            <a:spcAft>
              <a:spcPct val="15000"/>
            </a:spcAft>
            <a:buChar char="•"/>
          </a:pPr>
          <a:r>
            <a:rPr lang="zh-CN" b="0" i="0" u="none" baseline="0">
              <a:solidFill>
                <a:srgbClr val="FF0000"/>
              </a:solidFill>
              <a:latin typeface="微软雅黑" panose="020B0503020204020204" pitchFamily="34" charset="-122"/>
              <a:ea typeface="微软雅黑" panose="020B0503020204020204" pitchFamily="34" charset="-122"/>
              <a:rtl val="0"/>
            </a:rPr>
            <a:t>线索管理</a:t>
          </a:r>
          <a:endParaRPr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rgbClr val="FF0000"/>
              </a:solidFill>
              <a:latin typeface="微软雅黑" panose="020B0503020204020204" pitchFamily="34" charset="-122"/>
              <a:ea typeface="微软雅黑" panose="020B0503020204020204" pitchFamily="34" charset="-122"/>
              <a:rtl val="0"/>
            </a:rPr>
            <a:t>客户管理</a:t>
          </a:r>
          <a:endParaRPr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rgbClr val="FF0000"/>
              </a:solidFill>
              <a:latin typeface="微软雅黑" panose="020B0503020204020204" pitchFamily="34" charset="-122"/>
              <a:ea typeface="微软雅黑" panose="020B0503020204020204" pitchFamily="34" charset="-122"/>
              <a:rtl val="0"/>
            </a:rPr>
            <a:t>供应管理</a:t>
          </a:r>
          <a:endParaRPr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rgbClr val="FF0000"/>
              </a:solidFill>
              <a:latin typeface="微软雅黑" panose="020B0503020204020204" pitchFamily="34" charset="-122"/>
              <a:ea typeface="微软雅黑" panose="020B0503020204020204" pitchFamily="34" charset="-122"/>
              <a:rtl val="0"/>
            </a:rPr>
            <a:t>项目管理</a:t>
          </a:r>
          <a:endParaRPr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rgbClr val="FF0000"/>
              </a:solidFill>
              <a:latin typeface="微软雅黑" panose="020B0503020204020204" pitchFamily="34" charset="-122"/>
              <a:ea typeface="微软雅黑" panose="020B0503020204020204" pitchFamily="34" charset="-122"/>
              <a:rtl val="0"/>
            </a:rPr>
            <a:t>报价管理</a:t>
          </a:r>
          <a:endParaRPr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rgbClr val="FF0000"/>
              </a:solidFill>
              <a:latin typeface="微软雅黑" panose="020B0503020204020204" pitchFamily="34" charset="-122"/>
              <a:ea typeface="微软雅黑" panose="020B0503020204020204" pitchFamily="34" charset="-122"/>
              <a:rtl val="0"/>
            </a:rPr>
            <a:t>销售管理</a:t>
          </a:r>
          <a:endParaRPr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rgbClr val="FF0000"/>
              </a:solidFill>
              <a:latin typeface="微软雅黑" panose="020B0503020204020204" pitchFamily="34" charset="-122"/>
              <a:ea typeface="微软雅黑" panose="020B0503020204020204" pitchFamily="34" charset="-122"/>
              <a:rtl val="0"/>
            </a:rPr>
            <a:t>采购管理</a:t>
          </a:r>
          <a:endParaRPr altLang="en-US">
            <a:solidFill>
              <a:srgbClr val="FF0000"/>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rgbClr val="FF0000"/>
              </a:solidFill>
              <a:latin typeface="微软雅黑" panose="020B0503020204020204" pitchFamily="34" charset="-122"/>
              <a:ea typeface="微软雅黑" panose="020B0503020204020204" pitchFamily="34" charset="-122"/>
              <a:rtl val="0"/>
            </a:rPr>
            <a:t>提成管理</a:t>
          </a:r>
          <a:endParaRPr lang="zh-CN" altLang="en-US" b="0" i="0" u="none" baseline="0">
            <a:solidFill>
              <a:srgbClr val="FF0000"/>
            </a:solidFill>
            <a:latin typeface="微软雅黑" panose="020B0503020204020204" pitchFamily="34" charset="-122"/>
            <a:ea typeface="微软雅黑" panose="020B0503020204020204" pitchFamily="34" charset="-122"/>
            <a:rtl val="0"/>
          </a:endParaRPr>
        </a:p>
      </dsp:txBody>
      <dsp:txXfrm>
        <a:off x="5909289" y="682878"/>
        <a:ext cx="1727862" cy="3479165"/>
      </dsp:txXfrm>
    </dsp:sp>
    <dsp:sp modelId="{C13A39B6-750E-448A-9446-EEA107BE74F3}">
      <dsp:nvSpPr>
        <dsp:cNvPr id="11" name="矩形 10"/>
        <dsp:cNvSpPr/>
      </dsp:nvSpPr>
      <dsp:spPr bwMode="white">
        <a:xfrm>
          <a:off x="7879053" y="49278"/>
          <a:ext cx="1727862" cy="633600"/>
        </a:xfrm>
        <a:prstGeom prst="rect">
          <a:avLst/>
        </a:prstGeom>
      </dsp:spPr>
      <dsp:style>
        <a:lnRef idx="2">
          <a:schemeClr val="accent1"/>
        </a:lnRef>
        <a:fillRef idx="1">
          <a:schemeClr val="accent1"/>
        </a:fillRef>
        <a:effectRef idx="0">
          <a:scrgbClr r="0" g="0" b="0"/>
        </a:effectRef>
        <a:fontRef idx="minor">
          <a:schemeClr val="lt1"/>
        </a:fontRef>
      </dsp:style>
      <dsp:txBody>
        <a:bodyPr vert="horz" wrap="square" lIns="156464" tIns="89408" rIns="156464" bIns="89408"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gn="ctr">
            <a:lnSpc>
              <a:spcPct val="100000"/>
            </a:lnSpc>
            <a:spcBef>
              <a:spcPct val="0"/>
            </a:spcBef>
            <a:spcAft>
              <a:spcPct val="35000"/>
            </a:spcAft>
          </a:pPr>
          <a:r>
            <a:rPr lang="zh-CN" b="1" i="0" u="none" baseline="0">
              <a:latin typeface="微软雅黑" panose="020B0503020204020204" pitchFamily="34" charset="-122"/>
              <a:ea typeface="微软雅黑" panose="020B0503020204020204" pitchFamily="34" charset="-122"/>
              <a:cs typeface="微软雅黑" panose="020B0503020204020204" pitchFamily="34" charset="-122"/>
              <a:rtl val="0"/>
            </a:rPr>
            <a:t>产品子系统</a:t>
          </a:r>
          <a:endParaRPr altLang="en-US">
            <a:latin typeface="微软雅黑" panose="020B0503020204020204" pitchFamily="34" charset="-122"/>
            <a:ea typeface="微软雅黑" panose="020B0503020204020204" pitchFamily="34" charset="-122"/>
            <a:cs typeface="微软雅黑" panose="020B0503020204020204" pitchFamily="34" charset="-122"/>
          </a:endParaRPr>
        </a:p>
      </dsp:txBody>
      <dsp:txXfrm>
        <a:off x="7879053" y="49278"/>
        <a:ext cx="1727862" cy="633600"/>
      </dsp:txXfrm>
    </dsp:sp>
    <dsp:sp modelId="{9396F0D2-E30F-45F6-8CE4-4D8CCC0D727C}">
      <dsp:nvSpPr>
        <dsp:cNvPr id="12" name="矩形 11"/>
        <dsp:cNvSpPr/>
      </dsp:nvSpPr>
      <dsp:spPr bwMode="white">
        <a:xfrm>
          <a:off x="7879053" y="682878"/>
          <a:ext cx="1727862" cy="347916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vert="horz" wrap="square" lIns="117348" tIns="117348" rIns="156464" bIns="176022"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研发管理</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制造管理</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质量管理</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原料管理</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数据管理</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仓储管理</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物流管理</a:t>
          </a:r>
          <a:endParaRPr altLang="en-US">
            <a:solidFill>
              <a:schemeClr val="dk1"/>
            </a:solidFill>
            <a:latin typeface="微软雅黑" panose="020B0503020204020204" pitchFamily="34" charset="-122"/>
            <a:ea typeface="微软雅黑" panose="020B0503020204020204" pitchFamily="34" charset="-122"/>
          </a:endParaRPr>
        </a:p>
        <a:p>
          <a:pPr lvl="1" algn="ctr">
            <a:lnSpc>
              <a:spcPct val="100000"/>
            </a:lnSpc>
            <a:spcBef>
              <a:spcPct val="0"/>
            </a:spcBef>
            <a:spcAft>
              <a:spcPct val="15000"/>
            </a:spcAft>
            <a:buChar char="•"/>
          </a:pPr>
          <a:r>
            <a:rPr lang="zh-CN" b="0" i="0" u="none" baseline="0">
              <a:solidFill>
                <a:schemeClr val="dk1"/>
              </a:solidFill>
              <a:latin typeface="微软雅黑" panose="020B0503020204020204" pitchFamily="34" charset="-122"/>
              <a:ea typeface="微软雅黑" panose="020B0503020204020204" pitchFamily="34" charset="-122"/>
              <a:rtl val="0"/>
            </a:rPr>
            <a:t>合规管控</a:t>
          </a:r>
          <a:endParaRPr altLang="en-US">
            <a:solidFill>
              <a:schemeClr val="dk1"/>
            </a:solidFill>
            <a:latin typeface="微软雅黑" panose="020B0503020204020204" pitchFamily="34" charset="-122"/>
            <a:ea typeface="微软雅黑" panose="020B0503020204020204" pitchFamily="34" charset="-122"/>
          </a:endParaRPr>
        </a:p>
      </dsp:txBody>
      <dsp:txXfrm>
        <a:off x="7879053" y="682878"/>
        <a:ext cx="1727862" cy="3479165"/>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8B1D1A-3876-4B4A-A777-7EC535B808C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3F8C2B-74AA-455F-A2FA-752319426A4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各位尊敬的同事、合作伙伴们，大家好！我是今天的培训讲师。非常荣幸能站在这里，为大家带来《道简网络运行系统》之《道简网络操作系统培训》。</a:t>
            </a:r>
            <a:r>
              <a:rPr lang="en-US" altLang="zh-CN"/>
              <a:t>
</a:t>
            </a:r>
            <a:r>
              <a:rPr lang="zh-CN" altLang="en-US"/>
              <a:t>在当今竞争激烈的商业环境中，企业面临着各种各样的问题，像是责任不明、沟通不畅、执行力低下等。这些问题的根源就在于企业缺乏有效的运行系统。而《道简网络运行系统》正是解决这些问题的关键，它能够把团队中优秀成员的智慧挖掘呈现出来，并形成集体智慧，规范成书面的无形资产。</a:t>
            </a:r>
            <a:r>
              <a:rPr lang="en-US" altLang="zh-CN"/>
              <a:t>
</a:t>
            </a:r>
            <a:r>
              <a:rPr lang="zh-CN" altLang="en-US"/>
              <a:t>通过这次培训，我希望大家能够深入了解道简网络操作系统，掌握其核心知识和技能，将所学应用到实际工作中，提升企业的运营效率和竞争力。只有这样，我们才能在市场中脱颖而出，实现企业的长远发展。</a:t>
            </a:r>
            <a:r>
              <a:rPr lang="en-US" altLang="zh-CN"/>
              <a:t>
</a:t>
            </a:r>
            <a:r>
              <a:rPr lang="zh-CN" altLang="en-US"/>
              <a:t>现在，让我们一起开启这场充满挑战与机遇的学习之旅！</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看到图中现象，大家不妨深入思考一番。在企业的日常运营里，会引发我们诸多联想。我们需要探究多数企业究竟存在哪些问题。</a:t>
            </a:r>
            <a:r>
              <a:rPr lang="en-US" altLang="zh-CN"/>
              <a:t>
</a:t>
            </a:r>
            <a:r>
              <a:rPr lang="zh-CN" altLang="en-US"/>
              <a:t>多数企业可能会面临不担当、互相推诿、责任不明的状况，导致工作无法高效推进。横向沟通障碍，信息不通畅，使得部门之间协作困难。部门各自为政、各自护短、协调不畅，让企业难以形成合力。上有政策、下有对策，指挥不灵，削弱了企业的执行力。错误频出、标准不清，使得工作质量难以保证。执行力低下、重复工作、工作无效，造成资源的浪费。借口多多、结果少少，让老板感到无奈。</a:t>
            </a:r>
            <a:r>
              <a:rPr lang="en-US" altLang="zh-CN"/>
              <a:t>
</a:t>
            </a:r>
            <a:r>
              <a:rPr lang="zh-CN" altLang="en-US"/>
              <a:t>而这些问题的根源究竟在哪儿呢？这值得我们进一步深入挖掘。只有找到问题的根源，才能从根本上解决企业面临的困境，推动企业持续健康发展。</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多数企业在运营过程中暴露出诸多问题，这些问题严重制约着企业的发展。其一，不担当、互相推诿、责任不明的现象屡见不鲜。在工作中，员工遇到问题都想把责任往外推，导致问题无人解决，这不仅影响工作效率，还会让团队凝聚力下降。</a:t>
            </a:r>
            <a:r>
              <a:rPr lang="en-US" altLang="zh-CN"/>
              <a:t>
</a:t>
            </a:r>
            <a:r>
              <a:rPr lang="zh-CN" altLang="en-US"/>
              <a:t>其二，横向沟通障碍，信息不通畅。各部门之间缺乏有效的沟通渠道，信息传递不及时、不准确，使得工作无法顺利对接，容易出现重复劳动或工作遗漏的情况。</a:t>
            </a:r>
            <a:r>
              <a:rPr lang="en-US" altLang="zh-CN"/>
              <a:t>
</a:t>
            </a:r>
            <a:r>
              <a:rPr lang="zh-CN" altLang="en-US"/>
              <a:t>其三，部门各自为政、各自护短、协调不畅。每个部门只考虑自身利益，忽视了企业的整体利益，遇到问题互相扯皮，难以形成合力。</a:t>
            </a:r>
            <a:r>
              <a:rPr lang="en-US" altLang="zh-CN"/>
              <a:t>
</a:t>
            </a:r>
            <a:r>
              <a:rPr lang="zh-CN" altLang="en-US"/>
              <a:t>其四，</a:t>
            </a:r>
            <a:r>
              <a:rPr lang="en-US" altLang="zh-CN"/>
              <a:t>“</a:t>
            </a:r>
            <a:r>
              <a:rPr lang="zh-CN" altLang="en-US"/>
              <a:t>上有政策、下有对策</a:t>
            </a:r>
            <a:r>
              <a:rPr lang="en-US" altLang="zh-CN"/>
              <a:t>”</a:t>
            </a:r>
            <a:r>
              <a:rPr lang="zh-CN" altLang="en-US"/>
              <a:t>，指挥不灵。企业制定的政策无法得到有效执行，基层员工对上级的指令阳奉阴违，这使得企业的战略目标难以实现。</a:t>
            </a:r>
            <a:r>
              <a:rPr lang="en-US" altLang="zh-CN"/>
              <a:t>
</a:t>
            </a:r>
            <a:r>
              <a:rPr lang="zh-CN" altLang="en-US"/>
              <a:t>其五，错误频出、标准不清。由于缺乏明确的工作标准和规范，员工在工作中容易犯错，而且犯错后也难以进行有效的纠正和改进。</a:t>
            </a:r>
            <a:r>
              <a:rPr lang="en-US" altLang="zh-CN"/>
              <a:t>
</a:t>
            </a:r>
            <a:r>
              <a:rPr lang="zh-CN" altLang="en-US"/>
              <a:t>其六，执行力低下、重复工作、工作无效。员工对工作任务的执行不到位，导致工作进度缓慢，而且还会出现大量的重复劳动，浪费了企业的资源。</a:t>
            </a:r>
            <a:r>
              <a:rPr lang="en-US" altLang="zh-CN"/>
              <a:t>
</a:t>
            </a:r>
            <a:r>
              <a:rPr lang="zh-CN" altLang="en-US"/>
              <a:t>最后，借口多多、结果少少，老板无奈。员工在面对工作中的问题时，总是找各种借口来推卸责任，而不是积极寻找解决问题的方法，这让老板感到十分无奈。这些问题如果得不到及时解决，企业将难以在激烈的市场竞争中立足。</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前面列举了多数企业存在的问题，那么问题的根源究竟在哪里呢？就在于企业缺乏有效的《企业运行系统》。</a:t>
            </a:r>
            <a:r>
              <a:rPr lang="en-US" altLang="zh-CN"/>
              <a:t>
</a:t>
            </a:r>
            <a:r>
              <a:rPr lang="zh-CN" altLang="en-US"/>
              <a:t>《企业运行系统》意义重大，其本质是挖掘企业团队中优秀成员大脑里的智慧，聚沙成塔形成集体智慧，再经过规范转化为书面的无形资产。构建这一系统，就是企业把众多优秀成员的好经验、好方法沉淀下来，统一做事标准，进而实现模式化和复制。</a:t>
            </a:r>
            <a:r>
              <a:rPr lang="en-US" altLang="zh-CN"/>
              <a:t>
</a:t>
            </a:r>
            <a:r>
              <a:rPr lang="zh-CN" altLang="en-US"/>
              <a:t>这就好比有了一本通用的操作指南，《企业运行系统》成为老员工工作、新员工受训的实用教材。老员工可以依据系统规范高效工作，新员工也能通过学习系统内容快速上手。如此一来，就能彻底解决企业用人难、育人难的老大难问题，让企业发展更稳健、更高效。</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前面我们剖析了多数企业存在的各种问题以及根源所在，那该如何构建企业运行系统呢？答案是将成功因子，也就是商业模式进行模式化，具体体现为标准化、模块化、流程化。</a:t>
            </a:r>
            <a:r>
              <a:rPr lang="en-US" altLang="zh-CN"/>
              <a:t>
</a:t>
            </a:r>
            <a:r>
              <a:rPr lang="zh-CN" altLang="en-US"/>
              <a:t>标准化是构建企业运行系统的基础。它意味着把企业运营过程中的各项工作、各个环节都制定出明确、统一的标准。就像生产线上的产品规格一样，让每个员工都清楚知道该如何做、做到什么程度，这样能避免错误频出、标准不清的问题，提高工作的质量和效率。</a:t>
            </a:r>
            <a:r>
              <a:rPr lang="en-US" altLang="zh-CN"/>
              <a:t>
</a:t>
            </a:r>
            <a:r>
              <a:rPr lang="zh-CN" altLang="en-US"/>
              <a:t>模块化则是将企业的业务拆分成一个个相对独立又相互关联的模块。每个模块都有其特定的功能和目标，就像搭积木一样，可以根据企业的需求进行灵活组合和调整。这样做能使企业的组织架构更加清晰，部门之间的协调也会更加顺畅，减少各自为政、协调不畅的现象。</a:t>
            </a:r>
            <a:r>
              <a:rPr lang="en-US" altLang="zh-CN"/>
              <a:t>
</a:t>
            </a:r>
            <a:r>
              <a:rPr lang="zh-CN" altLang="en-US"/>
              <a:t>流程化是按照一定的顺序和逻辑，将各个模块和工作环节串联起来，形成一个完整的工作流程。它能确保信息的流通顺畅，避免横向沟通障碍和信息不通的情况。同时，流程化也有助于提高执行力，减少重复工作和无效劳动。</a:t>
            </a:r>
            <a:r>
              <a:rPr lang="en-US" altLang="zh-CN"/>
              <a:t>
</a:t>
            </a:r>
            <a:r>
              <a:rPr lang="zh-CN" altLang="en-US"/>
              <a:t>将成功因子模式化，就是把企业的成功经验和方法进行沉淀和固化，形成可复制的模式，从而构建起有效的企业运行系统，解决企业用人难、育人难等一系列难题。</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道简网络运行系统由运行系统（</a:t>
            </a:r>
            <a:r>
              <a:rPr lang="en-US" altLang="zh-CN"/>
              <a:t>DJRS</a:t>
            </a:r>
            <a:r>
              <a:rPr lang="zh-CN" altLang="en-US"/>
              <a:t>）、操作系统（</a:t>
            </a:r>
            <a:r>
              <a:rPr lang="en-US" altLang="zh-CN"/>
              <a:t>DJOS</a:t>
            </a:r>
            <a:r>
              <a:rPr lang="zh-CN" altLang="en-US"/>
              <a:t>）、管控系统（</a:t>
            </a:r>
            <a:r>
              <a:rPr lang="en-US" altLang="zh-CN"/>
              <a:t>DJMS</a:t>
            </a:r>
            <a:r>
              <a:rPr lang="zh-CN" altLang="en-US"/>
              <a:t>）和应用系统（</a:t>
            </a:r>
            <a:r>
              <a:rPr lang="en-US" altLang="zh-CN"/>
              <a:t>DJAS</a:t>
            </a:r>
            <a:r>
              <a:rPr lang="zh-CN" altLang="en-US"/>
              <a:t>）构成。这几个系统层层递进，相互协作，共同保障企业的高效运转。</a:t>
            </a:r>
            <a:r>
              <a:rPr lang="en-US" altLang="zh-CN"/>
              <a:t>
</a:t>
            </a:r>
            <a:r>
              <a:rPr lang="zh-CN" altLang="en-US"/>
              <a:t>从更深层次来看，运行系统代表着</a:t>
            </a:r>
            <a:r>
              <a:rPr lang="en-US" altLang="zh-CN"/>
              <a:t>“</a:t>
            </a:r>
            <a:r>
              <a:rPr lang="zh-CN" altLang="en-US"/>
              <a:t>道</a:t>
            </a:r>
            <a:r>
              <a:rPr lang="en-US" altLang="zh-CN"/>
              <a:t>”</a:t>
            </a:r>
            <a:r>
              <a:rPr lang="zh-CN" altLang="en-US"/>
              <a:t>，它是整个系统的核心与灵魂，为企业的发展指明方向；操作系统对应</a:t>
            </a:r>
            <a:r>
              <a:rPr lang="en-US" altLang="zh-CN"/>
              <a:t>“</a:t>
            </a:r>
            <a:r>
              <a:rPr lang="zh-CN" altLang="en-US"/>
              <a:t>法</a:t>
            </a:r>
            <a:r>
              <a:rPr lang="en-US" altLang="zh-CN"/>
              <a:t>”</a:t>
            </a:r>
            <a:r>
              <a:rPr lang="zh-CN" altLang="en-US"/>
              <a:t>，是企业运行的规则和制度，确保各项工作有章可循；管控系统如同</a:t>
            </a:r>
            <a:r>
              <a:rPr lang="en-US" altLang="zh-CN"/>
              <a:t>“</a:t>
            </a:r>
            <a:r>
              <a:rPr lang="zh-CN" altLang="en-US"/>
              <a:t>术</a:t>
            </a:r>
            <a:r>
              <a:rPr lang="en-US" altLang="zh-CN"/>
              <a:t>”</a:t>
            </a:r>
            <a:r>
              <a:rPr lang="zh-CN" altLang="en-US"/>
              <a:t>，负责对企业的各项活动进行监督和控制，保证企业按照既定的方向前进；应用系统则是具体的流程、制度和工具，是企业运行的具体手段和方法。</a:t>
            </a:r>
            <a:r>
              <a:rPr lang="en-US" altLang="zh-CN"/>
              <a:t>
</a:t>
            </a:r>
            <a:r>
              <a:rPr lang="zh-CN" altLang="en-US"/>
              <a:t>这几个系统的有机结合，能够将企业中优秀成员的智慧挖掘出来，形成集体智慧，并进一步规范为书面的无形资产。通过将成功因子模式化，实现企业做事标准的统一和复制，从而解决企业用人难、育人难的问题。只有各个系统协同配合，企业才能在激烈的市场竞争中立于不败之地。</a:t>
            </a:r>
            <a:endParaRPr lang="zh-CN" altLang="en-US"/>
          </a:p>
        </p:txBody>
      </p:sp>
      <p:sp>
        <p:nvSpPr>
          <p:cNvPr id="4" name="灯片编号占位符 3"/>
          <p:cNvSpPr>
            <a:spLocks noGrp="1"/>
          </p:cNvSpPr>
          <p:nvPr>
            <p:ph type="sldNum" sz="quarter" idx="5"/>
          </p:nvPr>
        </p:nvSpPr>
        <p:spPr/>
        <p:txBody>
          <a:bodyPr/>
          <a:p>
            <a:fld id="{39BFEB8F-72F4-45AF-99ED-E06CDC71B07A}" type="slidenum">
              <a:rPr lang="en-US" altLang="zh-CN"/>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前面我们探讨了如何构建企业运行系统以及其组成部分。现在，我们来到了运行系统模块这一关键内容。运行系统模块就像系统的骨架，支撑着整个企业运行系统的运转。它具体包含哪些关键模块，又会如何影响系统的运行呢？让我们一探究竟。</a:t>
            </a:r>
            <a:endParaRPr lang="zh-CN" altLang="en-US"/>
          </a:p>
        </p:txBody>
      </p:sp>
      <p:sp>
        <p:nvSpPr>
          <p:cNvPr id="4" name="灯片编号占位符 3"/>
          <p:cNvSpPr>
            <a:spLocks noGrp="1"/>
          </p:cNvSpPr>
          <p:nvPr>
            <p:ph type="sldNum" sz="quarter" idx="5"/>
          </p:nvPr>
        </p:nvSpPr>
        <p:spPr/>
        <p:txBody>
          <a:bodyPr/>
          <a:p>
            <a:fld id="{39BFEB8F-72F4-45AF-99ED-E06CDC71B07A}" type="slidenum">
              <a:rPr lang="en-US" altLang="zh-CN"/>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前面我们了解了运行系统模块，这为我们理解运行系统搭建了框架。而接下来要讲的运行系统标准至关重要，它就像一把精准的尺子，能衡量运行系统是否有效。明确了标准，才能让运行系统更好地发挥作用。那具体有哪些标准呢？让我们一探究竟。</a:t>
            </a:r>
            <a:endParaRPr lang="zh-CN" altLang="en-US"/>
          </a:p>
        </p:txBody>
      </p:sp>
      <p:sp>
        <p:nvSpPr>
          <p:cNvPr id="4" name="灯片编号占位符 3"/>
          <p:cNvSpPr>
            <a:spLocks noGrp="1"/>
          </p:cNvSpPr>
          <p:nvPr>
            <p:ph type="sldNum" sz="quarter" idx="5"/>
          </p:nvPr>
        </p:nvSpPr>
        <p:spPr/>
        <p:txBody>
          <a:bodyPr/>
          <a:p>
            <a:fld id="{39BFEB8F-72F4-45AF-99ED-E06CDC71B07A}" type="slidenum">
              <a:rPr lang="en-US" altLang="zh-CN"/>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次课程内容主要分为两大部分，一是认识操作系统，二是制作操作系统。我们前面提到企业缺乏有效的《企业运行系统》会面临用人难、育人难等问题，而操作系统作为运行系统的重要组成部分，对企业来说至关重要。</a:t>
            </a:r>
            <a:r>
              <a:rPr lang="en-US" altLang="zh-CN"/>
              <a:t>
</a:t>
            </a:r>
            <a:r>
              <a:rPr lang="zh-CN" altLang="en-US"/>
              <a:t>先来看认识操作系统。企业员工的做事方式有多种，多数中小企业员工存在按感觉做事的情况，这是因为缺乏流程体系。认识操作系统，就是要让员工明白做事应遵循的程序和标准，从凭感觉做事转变为按流程标准做事。只有清晰地认识操作系统，员工才能理解企业的运作逻辑，提高工作效率和质量。</a:t>
            </a:r>
            <a:r>
              <a:rPr lang="en-US" altLang="zh-CN"/>
              <a:t>
</a:t>
            </a:r>
            <a:r>
              <a:rPr lang="zh-CN" altLang="en-US"/>
              <a:t>而制作操作系统则是将认识转化为实践的过程。它需要把成功因子（商业模式）模式化，包括标准化、模块化、流程化等，将众多优秀成员的好经验、好方法沉淀下来，形成统一的做事标准。通过制作操作系统，企业可以构建起有效的《企业运行系统》，解决用人和育人难题，实现可持续发展。</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认识操作系统方面，企业员工做事方式可归纳为四种。第一种是不知道按什么程序做事，这类员工做事基本处于混沌状态，像无头苍蝇，缺乏明确指引，工作效率和成果难以保证。第二种是知道程序但不清楚做到什么程度，他们虽有方向，却像在迷雾中摸索，不清楚工作的质量标准和边界，容易导致工作结果参差不齐。</a:t>
            </a:r>
            <a:r>
              <a:rPr lang="en-US" altLang="zh-CN"/>
              <a:t>
</a:t>
            </a:r>
            <a:r>
              <a:rPr lang="zh-CN" altLang="en-US"/>
              <a:t>第三种是按各自认定的程序、程度做事，这会使企业内部像个</a:t>
            </a:r>
            <a:r>
              <a:rPr lang="en-US" altLang="zh-CN"/>
              <a:t>“</a:t>
            </a:r>
            <a:r>
              <a:rPr lang="zh-CN" altLang="en-US"/>
              <a:t>小社会</a:t>
            </a:r>
            <a:r>
              <a:rPr lang="en-US" altLang="zh-CN"/>
              <a:t>”</a:t>
            </a:r>
            <a:r>
              <a:rPr lang="zh-CN" altLang="en-US"/>
              <a:t>，每个人都有自己的规则，缺乏统一标准，团队协作困难，资源难以有效整合。第四种是按公司统一的程序、程度做事，这是企业所期望的理想状态，员工行动一致，能形成强大的合力，推动企业高效有序运转。这四种做事方式反映了企业管理水平和员工素养的差异，对企业发展有重要影响。</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企业员工做事方式可分为四类，前两种是不知道按什么程序做事，或知道程序但不清楚做到什么程度，这属于凭感觉做事；后两种是按各自认定的程序、程度做事，或按公司统一的程序、程度做事，这属于按流程标准做事。</a:t>
            </a:r>
            <a:r>
              <a:rPr lang="en-US" altLang="zh-CN"/>
              <a:t>
</a:t>
            </a:r>
            <a:r>
              <a:rPr lang="zh-CN" altLang="en-US"/>
              <a:t>在中国多数中小企业里，前两种做事方式更为普遍。这背后的根源在于缺乏完善的流程体系。缺乏流程体系，企业就像一艘没有航线的船，员工只能依靠感觉来摸索前行。</a:t>
            </a:r>
            <a:r>
              <a:rPr lang="en-US" altLang="zh-CN"/>
              <a:t>
</a:t>
            </a:r>
            <a:r>
              <a:rPr lang="zh-CN" altLang="en-US"/>
              <a:t>比如，在项目执行过程中，由于没有明确的流程和标准，不同员工可能采用不同的方法，导致工作效率低下，成果参差不齐。长此以往，企业发展会受到严重阻碍。所以，中小企业想要提升竞争力，建立健全流程体系刻不容缓。</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前面我们提到企业员工做事方式以及流程体系的重要性，那究竟什么是流程呢？接下来用接力赛跑这个例子来为大家详细说明。</a:t>
            </a:r>
            <a:r>
              <a:rPr lang="en-US" altLang="zh-CN"/>
              <a:t>
</a:t>
            </a:r>
            <a:r>
              <a:rPr lang="zh-CN" altLang="en-US"/>
              <a:t>接力赛跑是一项大家都熟悉的运动项目，它其实很好地体现了企业的业务流程。在接力赛跑中，每一位运动员都有自己明确的任务和位置，就如同企业里的各个部门和岗位。从第一棒运动员起跑，到后面每一棒的交接，这一系列有序的动作，就像是企业业务流程中的各个环节。</a:t>
            </a:r>
            <a:r>
              <a:rPr lang="en-US" altLang="zh-CN"/>
              <a:t>
</a:t>
            </a:r>
            <a:r>
              <a:rPr lang="zh-CN" altLang="en-US"/>
              <a:t>接力赛跑的顺利进行，依赖于每一棒运动员之间的紧密配合和无缝衔接。这与企业业务流程中的跨职能流程和岗位内流程是相似的。跨职能流程就如同部门和岗位之间的接力跑，需要各部门之间相互协作，才能使流程顺畅、业务运作加快；岗位内流程则如同节点之间的接力跑，每个岗位的员工都要做好自己的工作，让流程按环节有序流转。所以，接力赛跑这个例子能帮助我们更直观地理解流程的概念。</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用接力赛跑形容企业的业务流程十分恰当。企业业务流程分为跨职能流程和岗位内流程。跨职能流程恰似部门、岗位间的接力跑。每个部门和岗位都是这场接力赛中的运动员，都有着各自的使命和责任。在一场完美的接力跑中，运动员之间不仅交接棒的动作要连贯迅速，还需彼此了解、配合默契。这就如同企业中不同部门和岗位之间，要做好信息共享、沟通协作。如果各部门、岗位各自为战，缺乏有效的沟通和协作，就会像接力赛中交接棒失误一样，导致流程中断、效率低下。只有各个部门和岗位密切配合，才能使流程顺畅，业务运作的速度也会大大加快。</a:t>
            </a:r>
            <a:r>
              <a:rPr lang="en-US" altLang="zh-CN"/>
              <a:t>
</a:t>
            </a:r>
            <a:r>
              <a:rPr lang="zh-CN" altLang="en-US"/>
              <a:t>岗位内流程如同节点间的接力跑。岗位中的每个工作环节就是一个节点，这些节点共同构成了岗位的工作流程。要想让流程顺利流转，就需要每个节点都能高效、准确地完成任务。就像接力赛中，每个运动员都要在自己的赛程中全力以赴，保证速度和质量。只要每个环节都做好了，整个流程就能按部就班、顺畅地推进下去了。</a:t>
            </a:r>
            <a:r>
              <a:rPr lang="en-US" altLang="zh-CN"/>
              <a:t>
</a:t>
            </a:r>
            <a:r>
              <a:rPr lang="zh-CN" altLang="en-US"/>
              <a:t>所以，无论是跨职能流程还是岗位内流程，做好每个环节的</a:t>
            </a:r>
            <a:r>
              <a:rPr lang="en-US" altLang="zh-CN"/>
              <a:t>“</a:t>
            </a:r>
            <a:r>
              <a:rPr lang="zh-CN" altLang="en-US"/>
              <a:t>接力跑</a:t>
            </a:r>
            <a:r>
              <a:rPr lang="en-US" altLang="zh-CN"/>
              <a:t>”</a:t>
            </a:r>
            <a:r>
              <a:rPr lang="zh-CN" altLang="en-US"/>
              <a:t>，企业的业务才能顺畅开展。</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我们来深入探讨一下流程的定义。流程是一系列能为客户创造价值的、逻辑相关的有序活动集合。这意味着流程并非孤立的活动，而是相互关联、具有逻辑性且有序进行的，其最终目的是为客户创造价值。</a:t>
            </a:r>
            <a:r>
              <a:rPr lang="en-US" altLang="zh-CN"/>
              <a:t>
</a:t>
            </a:r>
            <a:r>
              <a:rPr lang="zh-CN" altLang="en-US"/>
              <a:t>以接力赛跑为例，每个选手的跑动、交接棒等动作都是流程中的一部分，这些动作紧密相连、有序开展，最终完成比赛，就如同企业的业务流程为客户创造价值一样。</a:t>
            </a:r>
            <a:r>
              <a:rPr lang="en-US" altLang="zh-CN"/>
              <a:t>
</a:t>
            </a:r>
            <a:r>
              <a:rPr lang="zh-CN" altLang="en-US"/>
              <a:t>从传统理解来看，流程就是工作的</a:t>
            </a:r>
            <a:r>
              <a:rPr lang="en-US" altLang="zh-CN"/>
              <a:t>“</a:t>
            </a:r>
            <a:r>
              <a:rPr lang="zh-CN" altLang="en-US"/>
              <a:t>程序</a:t>
            </a:r>
            <a:r>
              <a:rPr lang="en-US" altLang="zh-CN"/>
              <a:t>”</a:t>
            </a:r>
            <a:r>
              <a:rPr lang="zh-CN" altLang="en-US"/>
              <a:t>，是将企业管理实务标准化、模块化、流程化的过程。企业通过把各项工作进行标准化，使员工清楚知道该怎么做；模块化则是将复杂的工作拆分成多个相对独立的部分，便于管理和操作；流程化就是让这些标准化、模块化的工作按照一定的顺序进行。</a:t>
            </a:r>
            <a:r>
              <a:rPr lang="en-US" altLang="zh-CN"/>
              <a:t>
</a:t>
            </a:r>
            <a:r>
              <a:rPr lang="zh-CN" altLang="en-US"/>
              <a:t>流程的这种定义对于企业至关重要。只有明确了流程的本质，企业才能更好地构建和优化流程体系，从而提高工作效率，为客户提供更优质的产品和服务，增强自身的竞争力。</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在企业运营里，流程的主导权归属是个关键问题。答案是，流程谁说了算？客户！这是因为流程的核心目标在于为客户创造独特价值，也就是为其提供适配的产品和服务。</a:t>
            </a:r>
            <a:r>
              <a:rPr lang="en-US" altLang="zh-CN"/>
              <a:t>
</a:t>
            </a:r>
            <a:r>
              <a:rPr lang="zh-CN" altLang="en-US"/>
              <a:t>客户是企业生存和发展的根基。企业所做的一切流程设计，从产品研发、生产制造到销售服务，都应紧紧围绕客户需求展开。只有当流程能够精准对接客户需求，为客户带来实实在在的价值时，这样的流程才是有意义的。</a:t>
            </a:r>
            <a:r>
              <a:rPr lang="en-US" altLang="zh-CN"/>
              <a:t>
</a:t>
            </a:r>
            <a:r>
              <a:rPr lang="zh-CN" altLang="en-US"/>
              <a:t>衡量流程是否有效的唯一标准，就是看它是否为客户创造了价值。如果一个流程看似复杂、规范，但却没有给客户带来任何实际的好处，那它就是无效的。比如，有的企业产品生产流程繁琐，却忽略了客户对产品便捷性的需求，导致产品不受市场欢迎。</a:t>
            </a:r>
            <a:r>
              <a:rPr lang="en-US" altLang="zh-CN"/>
              <a:t>
</a:t>
            </a:r>
            <a:r>
              <a:rPr lang="zh-CN" altLang="en-US"/>
              <a:t>所以，企业在设计和优化流程时，必须时刻以客户为中心，以创造客户价值为导向。只有这样，才能确保流程的有效性，提升企业的竞争力，实现可持续发展。</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缺乏流程体系会给企业带来诸多负面现象。即便企业拥有完美战略，一线执行也会缺乏力量。这就如同有了宏伟蓝图，却没有足够的人力去将其变为现实，战略难以落地。</a:t>
            </a:r>
            <a:r>
              <a:rPr lang="en-US" altLang="zh-CN"/>
              <a:t>
</a:t>
            </a:r>
            <a:r>
              <a:rPr lang="zh-CN" altLang="en-US"/>
              <a:t>员工执行力低下，工作拖拉，处于</a:t>
            </a:r>
            <a:r>
              <a:rPr lang="en-US" altLang="zh-CN"/>
              <a:t>“</a:t>
            </a:r>
            <a:r>
              <a:rPr lang="zh-CN" altLang="en-US"/>
              <a:t>养病状态</a:t>
            </a:r>
            <a:r>
              <a:rPr lang="en-US" altLang="zh-CN"/>
              <a:t>”</a:t>
            </a:r>
            <a:r>
              <a:rPr lang="zh-CN" altLang="en-US"/>
              <a:t>。这会导致企业的运转效率大幅降低，就像一辆原本可以高速行驶的汽车，因为发动机动力不足而只能缓慢前行。</a:t>
            </a:r>
            <a:r>
              <a:rPr lang="en-US" altLang="zh-CN"/>
              <a:t>
</a:t>
            </a:r>
            <a:r>
              <a:rPr lang="zh-CN" altLang="en-US"/>
              <a:t>企业内部工作会陷入无序混乱，劳动资源被浪费。各个部门和岗位之间无法协同配合，就像一支没有指挥的乐队，每个人都在演奏，却无法形成和谐的乐章。</a:t>
            </a:r>
            <a:r>
              <a:rPr lang="en-US" altLang="zh-CN"/>
              <a:t>
</a:t>
            </a:r>
            <a:r>
              <a:rPr lang="zh-CN" altLang="en-US"/>
              <a:t>总有下属</a:t>
            </a:r>
            <a:r>
              <a:rPr lang="en-US" altLang="zh-CN"/>
              <a:t>“</a:t>
            </a:r>
            <a:r>
              <a:rPr lang="zh-CN" altLang="en-US"/>
              <a:t>坐、等、靠、要</a:t>
            </a:r>
            <a:r>
              <a:rPr lang="en-US" altLang="zh-CN"/>
              <a:t>”</a:t>
            </a:r>
            <a:r>
              <a:rPr lang="zh-CN" altLang="en-US"/>
              <a:t>，不能自动自发地完成工作。这使得企业缺乏内在的驱动力，如同一个人失去了自主意识，只能依赖外界的推动。这些现象严重制约了企业的发展，必须建立完善的流程体系来解决。</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一套好流程对企业而言具有不可估量的价值，它如同一位优秀的导师，能够培养人、训练人、改造人。通过优化流程，企业员工可以在规范的操作中不断提升自身能力，进而为企业发展贡献更多力量。</a:t>
            </a:r>
            <a:r>
              <a:rPr lang="en-US" altLang="zh-CN"/>
              <a:t>
</a:t>
            </a:r>
            <a:r>
              <a:rPr lang="zh-CN" altLang="en-US"/>
              <a:t>从成本与效率层面来看，好流程能够帮助企业降低成本、提高效率。合理的流程设计可以避免资源的浪费，减少不必要的环节，使得各项工作能够更加高效地进行。这不仅能够提升企业的运营效率，还能够在市场竞争中占据优势。</a:t>
            </a:r>
            <a:r>
              <a:rPr lang="en-US" altLang="zh-CN"/>
              <a:t>
</a:t>
            </a:r>
            <a:r>
              <a:rPr lang="zh-CN" altLang="en-US"/>
              <a:t>从组织与经营能力方面而言，好流程能够增强企业的组织能力，进而提振企业的经营能力。当企业拥有一套完善的流程体系时，各个部门和岗位之间能够更加协调地工作，形成强大的合力。这种组织能力的提升，将直接反映在企业的经营业绩上，使企业在市场中获得更大的成功。</a:t>
            </a:r>
            <a:r>
              <a:rPr lang="en-US" altLang="zh-CN"/>
              <a:t>
</a:t>
            </a:r>
            <a:r>
              <a:rPr lang="zh-CN" altLang="en-US"/>
              <a:t>相反，如果企业缺乏流程体系，管理就会成为一句空话。没有明确的流程指引，员工的工作将变得无序混乱，执行力低下，劳动资源也会被大量浪费。因此，企业要想实现可持续发展，就必须重视流程建设，打造一套适合自身的好流程。</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在激烈的市场竞争中，企业若想脱颖而出，执行力是关键要素。执行力如同企业的生命力，是企业长久生存和成功的必要条件。</a:t>
            </a:r>
            <a:r>
              <a:rPr lang="en-US" altLang="zh-CN"/>
              <a:t>
</a:t>
            </a:r>
            <a:r>
              <a:rPr lang="zh-CN" altLang="en-US"/>
              <a:t>失去执行力，企业战略如同空中楼阁，无法落地实施。即便拥有完美战略，没有强大执行力推动，也只能停留在纸面上。执行力低下，会使员工工作拖拉，企业内部工作无序混乱，造成劳动资源的极大浪费。</a:t>
            </a:r>
            <a:r>
              <a:rPr lang="en-US" altLang="zh-CN"/>
              <a:t>
</a:t>
            </a:r>
            <a:r>
              <a:rPr lang="zh-CN" altLang="en-US"/>
              <a:t>企业的核心竞争力体现在高效执行上。没有执行力，企业就无法将计划转化为实际成果，难以在市场中立足。执行力强的企业，能够迅速响应市场变化，及时调整战略，为客户提供优质的产品和服务，从而在竞争中占据优势。</a:t>
            </a:r>
            <a:r>
              <a:rPr lang="en-US" altLang="zh-CN"/>
              <a:t>
</a:t>
            </a:r>
            <a:r>
              <a:rPr lang="zh-CN" altLang="en-US"/>
              <a:t>因此，企业要想在竞争中脱颖而出，必须重视执行力的提升，打造一支具有强大执行力的团队，确保企业的各项战略和计划能够得到有效执行。</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在企业竞争的大舞台上，执行力是企业脱颖而出的关键因素。那么，如何才能增强执行力呢？答案就是业务流程。</a:t>
            </a:r>
            <a:r>
              <a:rPr lang="en-US" altLang="zh-CN"/>
              <a:t>
</a:t>
            </a:r>
            <a:r>
              <a:rPr lang="zh-CN" altLang="en-US"/>
              <a:t>可以说，执行本质上就是走流程。在实际运营中，我们不应期望每一次执行都能带来完美的结果，因为商业环境的复杂性和不确定性难以完全预知。但是，如果企业能按照合理的流程行事，就相当于给执行加上了一道</a:t>
            </a:r>
            <a:r>
              <a:rPr lang="en-US" altLang="zh-CN"/>
              <a:t>“</a:t>
            </a:r>
            <a:r>
              <a:rPr lang="zh-CN" altLang="en-US"/>
              <a:t>保险锁</a:t>
            </a:r>
            <a:r>
              <a:rPr lang="en-US" altLang="zh-CN"/>
              <a:t>”</a:t>
            </a:r>
            <a:r>
              <a:rPr lang="zh-CN" altLang="en-US"/>
              <a:t>，能在很大程度上避免出现重大失误。</a:t>
            </a:r>
            <a:r>
              <a:rPr lang="en-US" altLang="zh-CN"/>
              <a:t>
</a:t>
            </a:r>
            <a:r>
              <a:rPr lang="zh-CN" altLang="en-US"/>
              <a:t>流程就像企业的</a:t>
            </a:r>
            <a:r>
              <a:rPr lang="en-US" altLang="zh-CN"/>
              <a:t>“</a:t>
            </a:r>
            <a:r>
              <a:rPr lang="zh-CN" altLang="en-US"/>
              <a:t>轨道</a:t>
            </a:r>
            <a:r>
              <a:rPr lang="en-US" altLang="zh-CN"/>
              <a:t>”</a:t>
            </a:r>
            <a:r>
              <a:rPr lang="zh-CN" altLang="en-US"/>
              <a:t>，它为执行提供了明确的方向和规则。它在增强执行力方面发挥着不可或缺的作用，一个明确、高效的流程能够让每个员工清晰地知道自己的任务和职责，从而提高工作的协同性和效率。</a:t>
            </a:r>
            <a:r>
              <a:rPr lang="en-US" altLang="zh-CN"/>
              <a:t>
</a:t>
            </a:r>
            <a:r>
              <a:rPr lang="zh-CN" altLang="en-US"/>
              <a:t>在竞争激烈的市场环境中，企业执行力直接决定了其核心竞争力。有了强大的执行力和完善的流程体系，企业才能在应对各种挑战时更加从容，在市场竞争中占据优势地位。所以，企业一定要重视流程建设，用流程来增强执行力，进而提高竞争力。</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成功企业之所以成功，往往有其共性，持续审视和改善自身业务流程便是其中关键的一点。企业的业务流程并非一成不变的，市场环境在变，客户需求也在变，若企业不能与时俱进地审视和改善业务流程，就很容易被市场淘汰。</a:t>
            </a:r>
            <a:r>
              <a:rPr lang="en-US" altLang="zh-CN"/>
              <a:t>
</a:t>
            </a:r>
            <a:r>
              <a:rPr lang="zh-CN" altLang="en-US"/>
              <a:t>持续审视和改善业务流程，能让企业不断提高运营效率。就像一台精密的机器，不断调试、优化各个部件，其运转自然会更加顺畅。高效的运营意味着企业能够用更少的时间、更低的成本完成更多的工作，从而在竞争中占据优势。</a:t>
            </a:r>
            <a:r>
              <a:rPr lang="en-US" altLang="zh-CN"/>
              <a:t>
</a:t>
            </a:r>
            <a:r>
              <a:rPr lang="zh-CN" altLang="en-US"/>
              <a:t>提升客户满意度也是审视和改善业务流程带来的重要成效。业务流程优化以后，企业能更精准地把握客户需求，为客户提供更优质的产品和服务。当客户的需求得到满足且超乎预期时，满意度自然会提升，企业也就能获得客户的长期支持。</a:t>
            </a:r>
            <a:r>
              <a:rPr lang="en-US" altLang="zh-CN"/>
              <a:t>
</a:t>
            </a:r>
            <a:r>
              <a:rPr lang="zh-CN" altLang="en-US"/>
              <a:t>运营效率提高了，客户满意度提升了，企业的竞争优势也就自然而然地形成了。在激烈的市场竞争中，这样的企业能够脱颖而出，获得更多的市场份额和利润。所以，对企业来说，持续审视和改善业务流程，是走向成功的必经之路。</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我们来看麦当劳的成功案例，它能在全球快速拓展，秘诀就在于流程复制。麦当劳以每</a:t>
            </a:r>
            <a:r>
              <a:rPr lang="en-US" altLang="zh-CN"/>
              <a:t>3</a:t>
            </a:r>
            <a:r>
              <a:rPr lang="zh-CN" altLang="en-US"/>
              <a:t>个小时开一间分店的惊人速度在世界各地扩张业务，如此高效的拓展能力令人惊叹。而这背后强大的支撑就是流程复制。</a:t>
            </a:r>
            <a:r>
              <a:rPr lang="en-US" altLang="zh-CN"/>
              <a:t>
</a:t>
            </a:r>
            <a:r>
              <a:rPr lang="zh-CN" altLang="en-US"/>
              <a:t>在员工培训方面，麦当劳仅用</a:t>
            </a:r>
            <a:r>
              <a:rPr lang="en-US" altLang="zh-CN"/>
              <a:t>6</a:t>
            </a:r>
            <a:r>
              <a:rPr lang="zh-CN" altLang="en-US"/>
              <a:t>小时就能将一名新员工培训上岗。这意味着新员工能迅速融入工作，为店铺运营贡献力量。与之形成鲜明对比的是我们的中式餐厅，培训一个新员工至少需要两三个月，而且即便培训结束，也难以保证员工工作的一致性。</a:t>
            </a:r>
            <a:r>
              <a:rPr lang="en-US" altLang="zh-CN"/>
              <a:t>
</a:t>
            </a:r>
            <a:r>
              <a:rPr lang="zh-CN" altLang="en-US"/>
              <a:t>从这个对比中我们可以清晰地看到流程的巨大作用。流程复制让麦当劳实现了高效的扩张和员工的快速培训，保证了服务和产品的一致性。这表明，一套完善的流程能极大地提升企业的运营效率和竞争力，是企业成功的重要因素。</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从前面的阐述我们可以清晰地看到流程对于企业的重要性，而现在我们得出一个重要结论：企业发展的过程就是企业流程复制的过程。</a:t>
            </a:r>
            <a:r>
              <a:rPr lang="en-US" altLang="zh-CN"/>
              <a:t>
</a:t>
            </a:r>
            <a:r>
              <a:rPr lang="zh-CN" altLang="en-US"/>
              <a:t>一套好的流程能培养、训练和改造员工，降低企业成本、提高效率，增强组织能力和经营能力。当企业有了这样成熟有效的流程后，就可以进行复制。</a:t>
            </a:r>
            <a:r>
              <a:rPr lang="en-US" altLang="zh-CN"/>
              <a:t>
</a:t>
            </a:r>
            <a:r>
              <a:rPr lang="zh-CN" altLang="en-US"/>
              <a:t>就像麦当劳，依靠流程复制实现了快速拓展，每</a:t>
            </a:r>
            <a:r>
              <a:rPr lang="en-US" altLang="zh-CN"/>
              <a:t>3</a:t>
            </a:r>
            <a:r>
              <a:rPr lang="zh-CN" altLang="en-US"/>
              <a:t>个小时就能开一间分店，仅用</a:t>
            </a:r>
            <a:r>
              <a:rPr lang="en-US" altLang="zh-CN"/>
              <a:t>6</a:t>
            </a:r>
            <a:r>
              <a:rPr lang="zh-CN" altLang="en-US"/>
              <a:t>小时就能将新员工培训上岗。与之形成鲜明对比的是中式餐厅，培训新员工不仅耗时两三个月，还难以保证一致性。这充分体现了流程复制的强大力量。</a:t>
            </a:r>
            <a:r>
              <a:rPr lang="en-US" altLang="zh-CN"/>
              <a:t>
</a:t>
            </a:r>
            <a:r>
              <a:rPr lang="zh-CN" altLang="en-US"/>
              <a:t>企业发展过程中，通过不断复制流程，能让不同的人在不同的时间、地点做同样的事得到相同的结果。流程复制还能成为新员工的培训教材，沉淀优秀员工的经验；也能帮助企业减少人力成本，让有能力的员工一人多岗。所以说，企业要发展，就需要不断地复制和优化自身的流程。</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企业发展过程中，提升复制能力至关重要，而达成这一目标的有效工具便是模式化。模式化本质上是将常规工作标准化、模块化及流程化，进而形成自动化的管理模式。</a:t>
            </a:r>
            <a:r>
              <a:rPr lang="en-US" altLang="zh-CN"/>
              <a:t>
</a:t>
            </a:r>
            <a:r>
              <a:rPr lang="zh-CN" altLang="en-US"/>
              <a:t>企业运营中，不同员工在不同时间和地点开展相同工作时，往往会因缺乏统一标准而产生不同结果。模式化的意义就在于消除这种差异，让所有员工遵循既定的标准和流程开展工作，从而保证结果的一致性。</a:t>
            </a:r>
            <a:r>
              <a:rPr lang="en-US" altLang="zh-CN"/>
              <a:t>
</a:t>
            </a:r>
            <a:r>
              <a:rPr lang="zh-CN" altLang="en-US"/>
              <a:t>以麦当劳为例，其依靠流程复制实现了快速拓展，新员工仅需</a:t>
            </a:r>
            <a:r>
              <a:rPr lang="en-US" altLang="zh-CN"/>
              <a:t>6</a:t>
            </a:r>
            <a:r>
              <a:rPr lang="zh-CN" altLang="en-US"/>
              <a:t>小时培训就能上岗。这正是模式化发挥作用的体现，使得麦当劳能够依赖自身成熟的运行系统，在世界各地有条不紊地开设分店。</a:t>
            </a:r>
            <a:r>
              <a:rPr lang="en-US" altLang="zh-CN"/>
              <a:t>
</a:t>
            </a:r>
            <a:r>
              <a:rPr lang="zh-CN" altLang="en-US"/>
              <a:t>模式化还能让企业摆脱对个别员工的过度依赖，即使人员流动，也不会影响企业的正常运转。企业通过将优秀员工的经验模式化，沉淀为标准流程，新员工可以快速学习和掌握，从而提高整体运营效率。</a:t>
            </a:r>
            <a:r>
              <a:rPr lang="en-US" altLang="zh-CN"/>
              <a:t>
</a:t>
            </a:r>
            <a:r>
              <a:rPr lang="zh-CN" altLang="en-US"/>
              <a:t>模式化是提升企业复制能力的关键，能够让企业在激烈的市场竞争中保持稳定、高效的发展态势。</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优秀的工作流程是企业提升实力的宝贵财富，它能成为新员工的优质培训教材。一个优秀的工作流程的形成，是企业将众多员工的好经验和好方法以流程图的形式沉淀下来，再经过多方实践和认可最终确定下来的。这其中蕴含了大量的知识和智慧，是企业多年经营的结晶。</a:t>
            </a:r>
            <a:r>
              <a:rPr lang="en-US" altLang="zh-CN"/>
              <a:t>
</a:t>
            </a:r>
            <a:r>
              <a:rPr lang="zh-CN" altLang="en-US"/>
              <a:t>将优秀员工的经验模式化用作新员工的培训教材，是一种高效且实用的方法。新员工通过学习这些模式化的经验，可以快速了解工作的流程和要点，减少摸索的时间，更快地适应工作环境和岗位要求。同时，这也保证了新员工工作的规范性和一致性，使得企业的各项工作能够顺利开展。</a:t>
            </a:r>
            <a:r>
              <a:rPr lang="en-US" altLang="zh-CN"/>
              <a:t>
</a:t>
            </a:r>
            <a:r>
              <a:rPr lang="zh-CN" altLang="en-US"/>
              <a:t>可以说，这种将优秀经验模式化作为培训教材的做法，不仅有助于新员工的成长和发展，更为企业的稳定运行和持续发展奠定了坚实基础。</a:t>
            </a:r>
            <a:r>
              <a:rPr lang="en-US" altLang="zh-CN"/>
              <a:t> </a:t>
            </a:r>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流程管理对企业的重要性不言而喻，它还能助力企业减少人力成本，这在中小企业身上体现得尤为明显。中小企业往往面临人才短缺的困境，这如同套在企业发展脖子上的枷锁，致使诸多工作难以正常开展。</a:t>
            </a:r>
            <a:r>
              <a:rPr lang="en-US" altLang="zh-CN"/>
              <a:t>
</a:t>
            </a:r>
            <a:r>
              <a:rPr lang="zh-CN" altLang="en-US"/>
              <a:t>不过，若企业实施流程管理，把主要工作都流程化，那么这种困境就能得到有效缓解。这样一来，有能力的员工便可以一人多岗。就好比一个全能选手，在不同的岗位之间灵活切换，既能保证效率，又能保障质量。</a:t>
            </a:r>
            <a:r>
              <a:rPr lang="en-US" altLang="zh-CN"/>
              <a:t>
</a:t>
            </a:r>
            <a:r>
              <a:rPr lang="zh-CN" altLang="en-US"/>
              <a:t>当常规工作实现模式化，就如同为企业打造了一个高效的运转机器。每个环节都按照既定的流程有序进行，无论谁在操作，都能得到相同的结果。这不仅提升了企业的整体效率，还避免了因人员变动而可能带来的质量波动。所以，流程管理是中小企业突破人才短缺瓶颈、降低人力成本的一剂良方。</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在企业的发展征程中，提升经营绩效和竞争力是核心目标。那么，究竟有什么工具能达成这一目标呢？答案就是流程系统，也可称为操作系统。</a:t>
            </a:r>
            <a:r>
              <a:rPr lang="en-US" altLang="zh-CN"/>
              <a:t>
</a:t>
            </a:r>
            <a:r>
              <a:rPr lang="zh-CN" altLang="en-US"/>
              <a:t>从前面的案例可知，麦当劳依靠流程复制实现快速拓展，新员工培训高效且能保证一致性，而中式餐厅则相形见绌。海尔集团实施业务流程管理后，订单响应速度大幅提高，处理周期和周转期显著缩短，还优化了资源配置，减少了管理内耗。</a:t>
            </a:r>
            <a:r>
              <a:rPr lang="en-US" altLang="zh-CN"/>
              <a:t>
</a:t>
            </a:r>
            <a:r>
              <a:rPr lang="zh-CN" altLang="en-US"/>
              <a:t>这些充分表明，流程系统能让企业像精密运转的机器。它将常规工作标准化、模块化及流程化，形成自动化管理模式，使不同人在不同时间、地点做同样的事能得到相同结果。流程系统不仅是新员工的培训教材，还能帮助企业减少人力成本，让企业有条不紊地运行，是提升企业经营绩效和竞争力的关键工具。</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海尔集团通过实施业务流程管理，实现了订单响应速度的大幅提升，由此在市场竞争中取得了巨大优势。以</a:t>
            </a:r>
            <a:r>
              <a:rPr lang="en-US" altLang="zh-CN"/>
              <a:t>2002</a:t>
            </a:r>
            <a:r>
              <a:rPr lang="zh-CN" altLang="en-US"/>
              <a:t>年为例，海尔当年接到</a:t>
            </a:r>
            <a:r>
              <a:rPr lang="en-US" altLang="zh-CN"/>
              <a:t>40</a:t>
            </a:r>
            <a:r>
              <a:rPr lang="zh-CN" altLang="en-US"/>
              <a:t>万个订单，数量同比大幅增加。要是按照传统方式处理，企业可能会陷入手忙脚乱，订单积压、交付延迟等问题都可能出现。</a:t>
            </a:r>
            <a:r>
              <a:rPr lang="en-US" altLang="zh-CN"/>
              <a:t>
</a:t>
            </a:r>
            <a:r>
              <a:rPr lang="zh-CN" altLang="en-US"/>
              <a:t>但采用流程管理后，订单处理周期从原来的</a:t>
            </a:r>
            <a:r>
              <a:rPr lang="en-US" altLang="zh-CN"/>
              <a:t>7</a:t>
            </a:r>
            <a:r>
              <a:rPr lang="zh-CN" altLang="en-US"/>
              <a:t>天骤减到</a:t>
            </a:r>
            <a:r>
              <a:rPr lang="en-US" altLang="zh-CN"/>
              <a:t>1</a:t>
            </a:r>
            <a:r>
              <a:rPr lang="zh-CN" altLang="en-US"/>
              <a:t>小时。这意味着海尔能更快速地满足客户需求，提高客户满意度，在客户心中树立高效的形象。同时，资金和原材料的周转期从</a:t>
            </a:r>
            <a:r>
              <a:rPr lang="en-US" altLang="zh-CN"/>
              <a:t>36</a:t>
            </a:r>
            <a:r>
              <a:rPr lang="zh-CN" altLang="en-US"/>
              <a:t>天缩短到</a:t>
            </a:r>
            <a:r>
              <a:rPr lang="en-US" altLang="zh-CN"/>
              <a:t>10</a:t>
            </a:r>
            <a:r>
              <a:rPr lang="zh-CN" altLang="en-US"/>
              <a:t>天以内。这大大提高了资金的使用效率，减少了库存积压的风险，降低了企业的运营成本。</a:t>
            </a:r>
            <a:r>
              <a:rPr lang="en-US" altLang="zh-CN"/>
              <a:t>
</a:t>
            </a:r>
            <a:r>
              <a:rPr lang="zh-CN" altLang="en-US"/>
              <a:t>海尔的成功案例充分说明，业务流程管理能让企业在面对大量订单时，保持高效的运作，提升自身的竞争力。这也为其他企业提供了借鉴，告诉我们合理的流程管理是企业在市场中立足的重要法宝。</a:t>
            </a:r>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海尔通过流程化塑造业务，合理调整和配置资源结构与人力资源结构，明确了各部门及人员的工作责任。这一举措意义重大，权责清晰能杜绝部门间推诿责任、互相指责的现象。在很多企业中，部门之间的扯皮现象屡见不鲜，不仅消耗了大量时间和精力，还严重影响工作效率。而海尔做到了权责分明，有效减少了管理内耗。</a:t>
            </a:r>
            <a:r>
              <a:rPr lang="en-US" altLang="zh-CN"/>
              <a:t>
</a:t>
            </a:r>
            <a:r>
              <a:rPr lang="zh-CN" altLang="en-US"/>
              <a:t>管理内耗的减少直接带来了运作效率的提高。企业就像一台精密的机器，每个部门都是其中的零部件，只有各个零部件紧密配合、高效运转，整台机器才能发挥出最大效能。海尔通过流程化管理，让各部门、各岗位协同合作，使企业这台</a:t>
            </a:r>
            <a:r>
              <a:rPr lang="en-US" altLang="zh-CN"/>
              <a:t>“</a:t>
            </a:r>
            <a:r>
              <a:rPr lang="zh-CN" altLang="en-US"/>
              <a:t>机器</a:t>
            </a:r>
            <a:r>
              <a:rPr lang="en-US" altLang="zh-CN"/>
              <a:t>”</a:t>
            </a:r>
            <a:r>
              <a:rPr lang="zh-CN" altLang="en-US"/>
              <a:t>运转得更加顺畅，从而在激烈的市场竞争中获得了巨大优势。</a:t>
            </a:r>
            <a:r>
              <a:rPr lang="en-US" altLang="zh-CN"/>
              <a:t>
</a:t>
            </a:r>
            <a:r>
              <a:rPr lang="zh-CN" altLang="en-US"/>
              <a:t>此外，当工作出现变化时，海尔注重及时更新相关流程。这一点至关重要，如果流程文件和实际操作不一致，就会导致工作混乱，降低效率。及时更新流程能确保企业始终保持高效运作，持续增强竞争力，这也是海尔成功的重要秘诀之一。</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海尔的实践为我们揭示了企业运营中的关键要点。企业通常按业务和职能划分部门，但真正推动企业运转、创造价值的是流程。</a:t>
            </a:r>
            <a:r>
              <a:rPr lang="en-US" altLang="zh-CN"/>
              <a:t>
</a:t>
            </a:r>
            <a:r>
              <a:rPr lang="zh-CN" altLang="en-US"/>
              <a:t>每个部门都有其职责，但单独一个部门无法创造完整价值。就像海尔，各项业务流程化后，订单处理周期大幅缩短，资源周转加快，这是各部门在流程框架下协同合作的成果。只有将所有活动纳入流程这个整体框架，才能高效创造价值。</a:t>
            </a:r>
            <a:r>
              <a:rPr lang="en-US" altLang="zh-CN"/>
              <a:t>
</a:t>
            </a:r>
            <a:r>
              <a:rPr lang="zh-CN" altLang="en-US"/>
              <a:t>卓越的流程是提升企业绩效和竞争力的关键。流程明确了各部门和岗位的权责，减少了管理内耗，提高了运作效率。当工作变化时及时更新流程，能避免流程与实际操作脱节。所以，企业应重视流程建设，将其作为提升自身实力的制胜法宝。</a:t>
            </a: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在企业的发展进程中，实现员工职业化、企业自动化是众多企业梦寐以求的目标。那么，究竟依靠什么工具能够达成这一目标呢？答案就是流程系统，它就如同企业的操作系统一般关键。</a:t>
            </a:r>
            <a:r>
              <a:rPr lang="en-US" altLang="zh-CN"/>
              <a:t>
</a:t>
            </a:r>
            <a:r>
              <a:rPr lang="zh-CN" altLang="en-US"/>
              <a:t>我们回顾之前提到的案例，海尔集团通过实施业务流程管理，订单响应速度大幅提高，处理周期从</a:t>
            </a:r>
            <a:r>
              <a:rPr lang="en-US" altLang="zh-CN"/>
              <a:t>7</a:t>
            </a:r>
            <a:r>
              <a:rPr lang="zh-CN" altLang="en-US"/>
              <a:t>天缩短到</a:t>
            </a:r>
            <a:r>
              <a:rPr lang="en-US" altLang="zh-CN"/>
              <a:t>1</a:t>
            </a:r>
            <a:r>
              <a:rPr lang="zh-CN" altLang="en-US"/>
              <a:t>小时，资金和原材料周转期也大幅缩短，这就是流程系统发挥作用的生动体现。流程系统能让企业各部门、各岗位的权责更加清晰，减少管理内耗，提高运作效率。</a:t>
            </a:r>
            <a:r>
              <a:rPr lang="en-US" altLang="zh-CN"/>
              <a:t>
</a:t>
            </a:r>
            <a:r>
              <a:rPr lang="zh-CN" altLang="en-US"/>
              <a:t>对于员工而言，流程系统为他们提供了一套相对固定的操作规范，使他们无需自己摸索从哪儿开始做、怎么去做，就像自动化流水线一样，只要按动控制按钮就可以，从而实现员工职业化。而当所有员工都按照流程工作时，企业也就如同自动化机器一般高效运转，实现了企业自动化。</a:t>
            </a:r>
            <a:r>
              <a:rPr lang="en-US" altLang="zh-CN"/>
              <a:t>
</a:t>
            </a:r>
            <a:r>
              <a:rPr lang="zh-CN" altLang="en-US"/>
              <a:t>所以，流程系统就是让员工职业化、企业自动化的有力工具，它能够帮助企业在激烈的市场竞争中脱颖而出。</a:t>
            </a:r>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要实现员工职业化和企业自动化，流程系统是关键工具。让员工都按照操作流程工作，是达成员工职业化最有效的途径。这意味着员工无需再自行摸索工作的起点和方法，只需依照既定的流程规范操作即可。</a:t>
            </a:r>
            <a:r>
              <a:rPr lang="en-US" altLang="zh-CN"/>
              <a:t>
</a:t>
            </a:r>
            <a:r>
              <a:rPr lang="zh-CN" altLang="en-US"/>
              <a:t>这就如同自动化流水线，只要按下控制按钮，一切就能有序运行。在自动化流水线中，每个环节都有明确的操作步骤和标准，工人只需遵循流程，就能高效地完成生产任务。企业中的操作流程也是如此，它为员工提供了清晰的指引，使他们能够专注于工作本身，提高工作效率和质量。</a:t>
            </a:r>
            <a:r>
              <a:rPr lang="en-US" altLang="zh-CN"/>
              <a:t>
</a:t>
            </a:r>
            <a:r>
              <a:rPr lang="zh-CN" altLang="en-US"/>
              <a:t>当所有员工都能按相对固定的流程规范做事时，企业也就实现了自动化。这不仅能提高员工的工作效率，还能减少人为错误和管理内耗，让企业像一台精密的机器一样，顺畅地运行，从而在激烈的市场竞争中脱颖而出。所以，企业应重视流程系统的建设，为员工提供明确的操作流程，助力员工职业化和企业自动化。</a:t>
            </a:r>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华为作为一家全球知名的科技企业，其成功背后的因素值得深入探究。任正非指出，外界认为华为成功得益于技术、人才、资金、管理及服务等方面，但他觉得最为关键的是让这些因素实现高效运行，也就是将其流程化、标准化。</a:t>
            </a:r>
            <a:r>
              <a:rPr lang="en-US" altLang="zh-CN"/>
              <a:t>
</a:t>
            </a:r>
            <a:r>
              <a:rPr lang="zh-CN" altLang="en-US"/>
              <a:t>这一观点揭示了流程化和标准化对于企业的重要性。流程化就像是为企业搭建了一套精密的运行轨道，让各个环节有序衔接，避免了混乱和内耗。标准化则确保了每个环节的质量和效率，使得企业的产出具有稳定性和可重复性。</a:t>
            </a:r>
            <a:r>
              <a:rPr lang="en-US" altLang="zh-CN"/>
              <a:t>
</a:t>
            </a:r>
            <a:r>
              <a:rPr lang="zh-CN" altLang="en-US"/>
              <a:t>以海尔为例，通过业务流程管理，订单响应速度大幅提升，管理内耗有效减少。华为也是如此，将技术、人才等因素进行流程化、标准化，能够让企业的各项资源得到最优配置，从而在市场竞争中脱颖而出。</a:t>
            </a:r>
            <a:r>
              <a:rPr lang="en-US" altLang="zh-CN"/>
              <a:t>
</a:t>
            </a:r>
            <a:r>
              <a:rPr lang="zh-CN" altLang="en-US"/>
              <a:t>所以，对于其他企业来说，要想取得成功，不妨借鉴华为的经验，重视流程化和标准化建设，让企业的运行更加高效、有序。</a:t>
            </a:r>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华为的成功，离不开其对流程的重视。华为明确了企业存在的核心目的</a:t>
            </a:r>
            <a:r>
              <a:rPr lang="en-US" altLang="zh-CN"/>
              <a:t>——</a:t>
            </a:r>
            <a:r>
              <a:rPr lang="zh-CN" altLang="en-US"/>
              <a:t>为客户服务。这不仅是一句口号，更是企业发展的根本动力。客户需求是企业前进的引擎，而流程则是保障企业能够又快又好地满足客户需求、创造价值的关键。</a:t>
            </a:r>
            <a:r>
              <a:rPr lang="en-US" altLang="zh-CN"/>
              <a:t>
</a:t>
            </a:r>
            <a:r>
              <a:rPr lang="zh-CN" altLang="en-US"/>
              <a:t>在流程执行方面，华为指出了干部常犯的错误。一些在流程上运作的干部，习惯事事请示上级，这其实违背了流程的初衷。已经有规定或者成为惯例的事情，就应该快速通过，而不必再层层请示。因为执行流程，本质上是对事负责制，而事事请示则变成了对人负责制。华为强调要对事不对人，这是为了确保流程能够高效运转，减少不必要的管理环节和内耗。</a:t>
            </a:r>
            <a:r>
              <a:rPr lang="en-US" altLang="zh-CN"/>
              <a:t>
</a:t>
            </a:r>
            <a:r>
              <a:rPr lang="zh-CN" altLang="en-US"/>
              <a:t>从华为的理念中可以看出，一个企业要想成功，必须以客户为导向，建立高效的流程体系，并确保员工能够正确执行流程。只有这样，企业才能在激烈的市场竞争中脱颖而出，实现可持续发展。</a:t>
            </a:r>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要想让公司高效运行，就必须简化不必要确认的内容，减少管理中不重要、不必要的环节。企业管理中，若充斥着大量无意义的确认环节，会导致流程繁琐、效率低下，严重阻碍公司的高效运作。</a:t>
            </a:r>
            <a:r>
              <a:rPr lang="en-US" altLang="zh-CN"/>
              <a:t>
</a:t>
            </a:r>
            <a:r>
              <a:rPr lang="zh-CN" altLang="en-US"/>
              <a:t>在人员职责分配方面，秘书可处理例行的管理工作，经理则聚焦于例外事件以及判别不清的重要例行事件。这样的分工能让各层级人员各司其职，提升管理效率。秘书处理例行工作，能使流程快速推进；经理专注特殊情况，能确保关键问题得到妥善解决。</a:t>
            </a:r>
            <a:r>
              <a:rPr lang="en-US" altLang="zh-CN"/>
              <a:t>
</a:t>
            </a:r>
            <a:r>
              <a:rPr lang="zh-CN" altLang="en-US"/>
              <a:t>例行事务越多，所需的管理人员就越少，成本也会越低。而增加例行事务的唯一方法就是不断完善流程。当流程完善后，许多工作会形成固定模式，员工按流程操作即可，无需过多的人为干预和管理。这不仅能减少人力成本，还能降低管理的复杂性。因此，企业应持续优化流程，让更多工作变得可预测、可标准化，从而实现高效、低成本的运营。</a:t>
            </a:r>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流程的意义究竟何在？这是一个值得深入探讨的问题，而</a:t>
            </a:r>
            <a:r>
              <a:rPr lang="en-US" altLang="zh-CN"/>
              <a:t>“</a:t>
            </a:r>
            <a:r>
              <a:rPr lang="zh-CN" altLang="en-US"/>
              <a:t>坏的流程让好人做不了好事，好的流程让坏人做不了坏事</a:t>
            </a:r>
            <a:r>
              <a:rPr lang="en-US" altLang="zh-CN"/>
              <a:t>”</a:t>
            </a:r>
            <a:r>
              <a:rPr lang="zh-CN" altLang="en-US"/>
              <a:t>这句话给出了精妙的答案。</a:t>
            </a:r>
            <a:r>
              <a:rPr lang="en-US" altLang="zh-CN"/>
              <a:t>
</a:t>
            </a:r>
            <a:r>
              <a:rPr lang="zh-CN" altLang="en-US"/>
              <a:t>坏的流程就像一潭淤泥，即便员工有着满腔热情和十足的能力，也会在其中举步维艰。就像华为，如果没有高效合理的流程，即便拥有顶尖的技术、优秀的人才、充足的资金、完善的管理和服务，也难以将这些因素高效运行，也就无法取得如今的成就。在一些企业中，管理者虽制定了严格的制度，但由于流程不合理，员工在实际工作中依然我行我素，制度形同虚设。</a:t>
            </a:r>
            <a:r>
              <a:rPr lang="en-US" altLang="zh-CN"/>
              <a:t>
</a:t>
            </a:r>
            <a:r>
              <a:rPr lang="zh-CN" altLang="en-US"/>
              <a:t>相反，好的流程就像一套精密的仪器，能让整个企业高效有序地运转。它明确了每个环节的职责和操作规范，让员工能够按部就班地完成工作。在这样的流程下，即便有心思不正的人，也很难找到空子可钻。持续优化流程，让它不断适应企业的发展，应成为企业管理者的重要任务。</a:t>
            </a:r>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深入剖析中国企业现状，会发现一个普遍现象：并非没有流程，而是流程多处于自发状态。企业在日复一日的运营中不断重复这些流程，却鲜有人将其记录下来并深入研究分析。</a:t>
            </a:r>
            <a:r>
              <a:rPr lang="en-US" altLang="zh-CN"/>
              <a:t>
</a:t>
            </a:r>
            <a:r>
              <a:rPr lang="zh-CN" altLang="en-US"/>
              <a:t>这就如同在黑暗中摸索前行，虽然一直在走，却不清楚每一步的意义与价值。任何事情都存在先后顺序，就像</a:t>
            </a:r>
            <a:r>
              <a:rPr lang="en-US" altLang="zh-CN"/>
              <a:t>A - B - C</a:t>
            </a:r>
            <a:r>
              <a:rPr lang="zh-CN" altLang="en-US"/>
              <a:t>和</a:t>
            </a:r>
            <a:r>
              <a:rPr lang="en-US" altLang="zh-CN"/>
              <a:t>B - A - C</a:t>
            </a:r>
            <a:r>
              <a:rPr lang="zh-CN" altLang="en-US"/>
              <a:t>这两种顺序，看似只是顺序不同，实际效果却大相径庭。不同的流程顺序，在效率、成本和质量方面会产生显著差异。</a:t>
            </a:r>
            <a:r>
              <a:rPr lang="en-US" altLang="zh-CN"/>
              <a:t>
</a:t>
            </a:r>
            <a:r>
              <a:rPr lang="zh-CN" altLang="en-US"/>
              <a:t>如果企业不主动去总结和优化流程，就只能一直处于低效、高成本的运营状态。只有积极总结，对现有的流程进行研究分析，找出更优的顺序和方法，才能实现效率提升、成本降低和质量优化。所以，企业要转变观念，重视流程的记录、总结和优化，让流程从自发走向自觉，从无序走向有序。</a:t>
            </a:r>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企业运营中常出现这样的情况，一些管理者反馈，企业有严格制度，岗位工作范围和内容也有明确规定，但实际运营时，这些制度和规定却如同虚设，只停留在纸面上，员工依旧自行其是，命令无法有效执行。这一现象值得深入探究。</a:t>
            </a:r>
            <a:r>
              <a:rPr lang="en-US" altLang="zh-CN"/>
              <a:t>
</a:t>
            </a:r>
            <a:r>
              <a:rPr lang="zh-CN" altLang="en-US"/>
              <a:t>从表面看，员工不遵守制度似乎是执行层面的问题，但深入分析，可能反映出企业管理深层次的不足。一方面，可能是企业管理者对流程的认识不确切，将制度与规定简单等同于流程，却忽略了流程是将管理实务标准化、模块化、流程化的过程。另一方面，企业或许缺乏对员工的有效引导和培训，导致员工未能真正理解制度和规定的意义，难以将其内化到工作行为中。此外，制度本身是否合理、是否符合企业实际情况，也是需要考虑的因素。如果制度过于繁琐或不切实际，员工自然难以遵守。</a:t>
            </a:r>
            <a:r>
              <a:rPr lang="en-US" altLang="zh-CN"/>
              <a:t>
</a:t>
            </a:r>
            <a:r>
              <a:rPr lang="zh-CN" altLang="en-US"/>
              <a:t>要解决这一问题，企业管理者需重新审视对流程的认识，明确制度与流程的区别和联系，同时加强对员工的培训和引导，确保制度能够真正落地执行。</a:t>
            </a:r>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企业运营中，我们常常看到这样的情况：一些企业制定了严格的制度，明确了每个岗位的工作范围与内容，然而在实际运营时，这些制度却如同虚设，员工依旧我行我素，命令得不到有效执行。这背后的根源究竟是什么呢？究其根本，是企业管理者对流程的认识存在偏差。</a:t>
            </a:r>
            <a:r>
              <a:rPr lang="en-US" altLang="zh-CN"/>
              <a:t>
</a:t>
            </a:r>
            <a:r>
              <a:rPr lang="zh-CN" altLang="en-US"/>
              <a:t>很多管理者错误地将企业制度与规定等同于流程。实际上，二者有着本质区别。制度侧重于告诉大家应做什么、不应做什么以及相应的奖惩；而流程则聚焦于应该怎么做、做到什么程度及状态，是将企业管理实务标准化、模块化、流程化的过程。</a:t>
            </a:r>
            <a:r>
              <a:rPr lang="en-US" altLang="zh-CN"/>
              <a:t>
</a:t>
            </a:r>
            <a:r>
              <a:rPr lang="zh-CN" altLang="en-US"/>
              <a:t>如果管理者不能清晰区分这两者，就无法构建科学合理的流程体系。如此一来，企业的运营效率必然受到影响，难以实现高效发展。所以，企业管理者必须准确认识流程，理清流程与制度的关系，才能让企业的各项工作有序开展，提升企业的竞争力。</a:t>
            </a:r>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了解流程与制度的关系，对于企业管理至关重要。制度和流程扮演着不同的角色。制度明确了行为的边界，告知大家应做和不应做的事，以及对应的奖惩措施，就像一座灯塔，为员工的行为指明方向，确保企业在既定的轨道上运行。而流程则聚焦于具体的操作，详细说明该怎么做、做到何种程度与状态，它将企业管理实务标准化、模块化、流程化，如同一张精密的地图，引导员工高效地完成工作。</a:t>
            </a:r>
            <a:r>
              <a:rPr lang="en-US" altLang="zh-CN"/>
              <a:t>
</a:t>
            </a:r>
            <a:r>
              <a:rPr lang="zh-CN" altLang="en-US"/>
              <a:t>制度和流程存在着紧密的联系。制度是流程得以顺利执行的保证，没有制度的约束，流程可能会陷入混乱。而流程是制度的灵魂，它赋予制度以生命力，让制度不再是一纸空文。</a:t>
            </a:r>
            <a:r>
              <a:rPr lang="en-US" altLang="zh-CN"/>
              <a:t>
</a:t>
            </a:r>
            <a:r>
              <a:rPr lang="zh-CN" altLang="en-US"/>
              <a:t>制度和流程基于不同的人性假设。制度从人性本恶的假设出发，认为人需要外在的约束和惩罚来规范行为。因此，制度侧重于事后的奖惩，通过对不良行为的惩罚和对良好行为的奖励，来引导员工遵守规则。而流程则基于人性本善的假设，相信人有自我约束和自我管理的能力。所以，流程更注重事前的梳理，通过合理的规划和设计，让员工能够自然地遵循正确的方法和步骤，从而提高工作效率和质量。</a:t>
            </a:r>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从管理角度来看，制度和流程有着明显的区别与联系。制度倾向于对事后结果进行奖惩，主要起到管人的作用。当员工完成工作后，依据制度来评判他们的表现，表现好给予奖励，表现差则进行惩罚，以此规范员工的行为。而流程则侧重于对事前进行梳理，着重理事。它会把工作的步骤、顺序、要求等提前规划好，让员工清楚该怎么做。</a:t>
            </a:r>
            <a:r>
              <a:rPr lang="en-US" altLang="zh-CN"/>
              <a:t>
</a:t>
            </a:r>
            <a:r>
              <a:rPr lang="zh-CN" altLang="en-US"/>
              <a:t>在一定层面上，简单的流程和制度可以互换。对于一些比较简单、固定的流程，完全可以用制度的方式来规定。这样做既可以保证流程的执行，又能让制度更具可操作性。</a:t>
            </a:r>
            <a:r>
              <a:rPr lang="en-US" altLang="zh-CN"/>
              <a:t>
</a:t>
            </a:r>
            <a:r>
              <a:rPr lang="zh-CN" altLang="en-US"/>
              <a:t>公司制度可分为流程类规章制度和常规类规章制度。流程类规章制度是针对特定流程制定的，它详细规定了流程的每一个环节，确保流程能够顺利执行。常规类规章制度则是普遍适用于公司各个方面的规定，如考勤制度、薪酬制度等。这两类制度相互配合，共同保障公司的正常运转。</a:t>
            </a:r>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流程的目的具有多方面的重要意义。其一，能使组织机构的职能实现统一与集中，进而让企业资源得到有效利用。就像将分散的力量汇聚起来，形成强大的合力，避免资源的分散和浪费，使企业的每一份资源都能发挥最大的价值。</a:t>
            </a:r>
            <a:r>
              <a:rPr lang="en-US" altLang="zh-CN"/>
              <a:t>
</a:t>
            </a:r>
            <a:r>
              <a:rPr lang="zh-CN" altLang="en-US"/>
              <a:t>其二，可以让高层领导站在更高的层面，理清企业的运营脉络，从而明确企业的发展方向。高层就如同企业这艘大船的掌舵者，有了清晰的流程指引，就能准确把握航向，引领企业驶向正确的彼岸。</a:t>
            </a:r>
            <a:r>
              <a:rPr lang="en-US" altLang="zh-CN"/>
              <a:t>
</a:t>
            </a:r>
            <a:r>
              <a:rPr lang="zh-CN" altLang="en-US"/>
              <a:t>其三，能让中层干部不再陷入上下为难的困境。流程为他们指明了工作的方向和方法，增强了他们工作的主动性，提高了工作效率。他们无需再为职责不清、工作协同困难等问题而烦恼，可以更加专注地投入到工作中。</a:t>
            </a:r>
            <a:r>
              <a:rPr lang="en-US" altLang="zh-CN"/>
              <a:t>
</a:t>
            </a:r>
            <a:r>
              <a:rPr lang="zh-CN" altLang="en-US"/>
              <a:t>其四，能让基础员工做事有章可循。员工不用再盲目摸索，工作变得更加简单高效。就像按照清晰的地图行走一样，能够快速、准确地到达目的地。</a:t>
            </a:r>
            <a:r>
              <a:rPr lang="en-US" altLang="zh-CN"/>
              <a:t>
</a:t>
            </a:r>
            <a:r>
              <a:rPr lang="zh-CN" altLang="en-US"/>
              <a:t>总体而言，流程就像是企业的一剂良药，能够消除部门壁垒、职务空白地带、人浮于事、扯皮推诿、职责不清、执行不力等顽疾。它确保企业运行井然有序，效率得到可靠保证，能让企业管理工作变得简单高效，并且保证员工的潜能得到充分释放，实现高效执行。</a:t>
            </a:r>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前面的分享中，我们深入探讨了企业流程的多方面内容。现在来总结一下要点。实现企业管理、企业发展、执行力、竞争力、职业化、自动化等，前提必要条件就是流程体系。流程体系就像企业大厦的基石，是企业各项工作有序开展的根本保障。</a:t>
            </a:r>
            <a:r>
              <a:rPr lang="en-US" altLang="zh-CN"/>
              <a:t>
</a:t>
            </a:r>
            <a:r>
              <a:rPr lang="zh-CN" altLang="en-US"/>
              <a:t>流程能让企业资源有效利用，消除部门壁垒与职责不清等问题，使各层级人员发挥更大效能。高层依靠流程理清运营脉络，明确方向；中层通过流程增强主动性，提高效率；基层员工则按照流程做事，工作更加简单高效。</a:t>
            </a:r>
            <a:r>
              <a:rPr lang="en-US" altLang="zh-CN"/>
              <a:t>
</a:t>
            </a:r>
            <a:r>
              <a:rPr lang="zh-CN" altLang="en-US"/>
              <a:t>可以说，没有流程，企业管理就无从谈起，所有的目标和计划都只能是空中楼阁。一个没有清晰流程的企业，就像一艘没有航线的船，只能在茫茫大海中随波逐流。所以，企业要高度重视流程体系建设，为自身的持续发展奠定坚实基础。</a:t>
            </a:r>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探讨优质流程的宗旨，这是企业运营中极为关键的部分。优质流程的宗旨是以客户为中心，这一理念并非简单的口号，而是企业发展的核心驱动力。以客户为中心意味着企业的所有流程设计、决策制定都要围绕客户的需求和利益展开。</a:t>
            </a:r>
            <a:r>
              <a:rPr lang="en-US" altLang="zh-CN"/>
              <a:t>
</a:t>
            </a:r>
            <a:r>
              <a:rPr lang="zh-CN" altLang="en-US"/>
              <a:t>其本质是实现</a:t>
            </a:r>
            <a:r>
              <a:rPr lang="en-US" altLang="zh-CN"/>
              <a:t>“</a:t>
            </a:r>
            <a:r>
              <a:rPr lang="zh-CN" altLang="en-US"/>
              <a:t>唯我</a:t>
            </a:r>
            <a:r>
              <a:rPr lang="en-US" altLang="zh-CN"/>
              <a:t>”</a:t>
            </a:r>
            <a:r>
              <a:rPr lang="zh-CN" altLang="en-US"/>
              <a:t>思维向</a:t>
            </a:r>
            <a:r>
              <a:rPr lang="en-US" altLang="zh-CN"/>
              <a:t>“</a:t>
            </a:r>
            <a:r>
              <a:rPr lang="zh-CN" altLang="en-US"/>
              <a:t>利他</a:t>
            </a:r>
            <a:r>
              <a:rPr lang="en-US" altLang="zh-CN"/>
              <a:t>”</a:t>
            </a:r>
            <a:r>
              <a:rPr lang="zh-CN" altLang="en-US"/>
              <a:t>思维的转变。在传统的</a:t>
            </a:r>
            <a:r>
              <a:rPr lang="en-US" altLang="zh-CN"/>
              <a:t>“</a:t>
            </a:r>
            <a:r>
              <a:rPr lang="zh-CN" altLang="en-US"/>
              <a:t>唯我</a:t>
            </a:r>
            <a:r>
              <a:rPr lang="en-US" altLang="zh-CN"/>
              <a:t>”</a:t>
            </a:r>
            <a:r>
              <a:rPr lang="zh-CN" altLang="en-US"/>
              <a:t>思维模式下，企业往往更关注自身的利益、生产效率和短期目标，而忽视了客户的真实需求。这种思维可能会导致企业与客户之间的距离越来越远，最终失去市场竞争力。而</a:t>
            </a:r>
            <a:r>
              <a:rPr lang="en-US" altLang="zh-CN"/>
              <a:t>“</a:t>
            </a:r>
            <a:r>
              <a:rPr lang="zh-CN" altLang="en-US"/>
              <a:t>利他</a:t>
            </a:r>
            <a:r>
              <a:rPr lang="en-US" altLang="zh-CN"/>
              <a:t>”</a:t>
            </a:r>
            <a:r>
              <a:rPr lang="zh-CN" altLang="en-US"/>
              <a:t>思维则要求企业站在客户的角度去思考问题，深入了解客户的痛点、期望和价值观，为客户提供真正有价值的产品和服务。</a:t>
            </a:r>
            <a:r>
              <a:rPr lang="en-US" altLang="zh-CN"/>
              <a:t>
</a:t>
            </a:r>
            <a:r>
              <a:rPr lang="zh-CN" altLang="en-US"/>
              <a:t>当企业实现了这种思维转变，就能更好地满足客户需求，提高客户满意度和忠诚度。客户会因为感受到企业的关怀和重视，而更愿意选择该企业的产品和服务，从而为企业带来长期稳定的收益。因此，以客户为中心，实现思维转变，是优质流程的宗旨所在，也是企业持续发展的必由之路。</a:t>
            </a:r>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优质流程有着明确的标准，这些标准分别从员工、人才培训和管理者督导的角度出发，保障流程的实用性和有效性。</a:t>
            </a:r>
            <a:r>
              <a:rPr lang="en-US" altLang="zh-CN"/>
              <a:t>
</a:t>
            </a:r>
            <a:r>
              <a:rPr lang="zh-CN" altLang="en-US"/>
              <a:t>第一个标准是方便员工做事。流程要如同导航仪一般，具备简单、可操作、可执行的特点。员工在日常工作中，需要清晰明确的指引，简单易懂的流程能够让他们迅速上手，避免在复杂的步骤中迷失方向，从而提高工作效率。</a:t>
            </a:r>
            <a:r>
              <a:rPr lang="en-US" altLang="zh-CN"/>
              <a:t>
</a:t>
            </a:r>
            <a:r>
              <a:rPr lang="zh-CN" altLang="en-US"/>
              <a:t>第二个标准是方便培训人才。流程应像教科书一样，具有可学、可教、可持续性。新员工入职后，需要快速融入工作环境，掌握工作技能。一个好的流程能够为培训提供清晰的框架，让新员工能够系统地学习，也便于老员工将经验传授给新人，确保组织的知识和技能能够不断传承。</a:t>
            </a:r>
            <a:r>
              <a:rPr lang="en-US" altLang="zh-CN"/>
              <a:t>
</a:t>
            </a:r>
            <a:r>
              <a:rPr lang="zh-CN" altLang="en-US"/>
              <a:t>第三个标准是方便管理者督导。流程要有操作步骤、细节和标准，就像检查表一样。管理者在监督工作时，需要有明确的依据来判断员工的工作是否达标。详细的操作步骤和标准能够让管理者准确地发现问题，及时给予指导和反馈，保证工作的质量和进度。</a:t>
            </a:r>
            <a:r>
              <a:rPr lang="en-US" altLang="zh-CN"/>
              <a:t>
</a:t>
            </a:r>
            <a:r>
              <a:rPr lang="zh-CN" altLang="en-US"/>
              <a:t>这三个标准相互关联，共同构成了优质流程的评价体系，为企业的高效运行提供了有力保障。</a:t>
            </a:r>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优质流程有着重要的准则，其中首要的准则便是简单化。简单化的核心在于流程化，而流程化本质上是要求结构简单。这意味着什么呢？让我们来深入剖析。</a:t>
            </a:r>
            <a:r>
              <a:rPr lang="en-US" altLang="zh-CN"/>
              <a:t>
</a:t>
            </a:r>
            <a:r>
              <a:rPr lang="zh-CN" altLang="en-US"/>
              <a:t>对于优质的跨职能流程结构而言，明确各关键节点是基础。只有清晰界定了关键节点，不同部门和岗位在工作中才能精准定位自己的工作位置和职责。同时，明确涉及的部门及岗位，能有效避免职责不清、相互推诿的情况发生。确定工作阶段也至关重要，它能让整个工作流程有条不紊地推进。而且，这种结构要符合国际通用的</a:t>
            </a:r>
            <a:r>
              <a:rPr lang="en-US" altLang="zh-CN"/>
              <a:t>“</a:t>
            </a:r>
            <a:r>
              <a:rPr lang="zh-CN" altLang="en-US"/>
              <a:t>矩阵式流程图</a:t>
            </a:r>
            <a:r>
              <a:rPr lang="en-US" altLang="zh-CN"/>
              <a:t>”</a:t>
            </a:r>
            <a:r>
              <a:rPr lang="zh-CN" altLang="en-US"/>
              <a:t>，这有助于与国际接轨，让流程更具规范性和通用性，提升工作效率和质量。</a:t>
            </a:r>
            <a:r>
              <a:rPr lang="en-US" altLang="zh-CN"/>
              <a:t>
</a:t>
            </a:r>
            <a:r>
              <a:rPr lang="zh-CN" altLang="en-US"/>
              <a:t>优质的岗位内流程结构则需要明确岗位价值清单。这个清单要满足可衡量、可量化、可交换的标准。可衡量意味着能够有具体的指标来评价岗位工作成果；可量化使得岗位工作能够用数据进行精准表达；可交换则让岗位的价值在一定程度上能够进行合理的评估和交易。这样的结构能让员工对自己的工作价值有清晰的认识，从而更有动力和方向地开展工作。总之，简单化这一准则是优质流程得以有效运行的重要保障。</a:t>
            </a:r>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优质流程的准则，除了之前提到的简单化，还有专业化和标准化。专业化方面，关键在细节，清晰的细节描述是行动指南。其实，流程中的步骤往往是宏观框架，而细节才是真正让流程落地的关键。就像建造一座大厦，步骤只是勾勒出了大厦的轮廓，而每一块砖的铺设、每一处电路的安装等细节，才决定了大厦是否稳固、功能是否完善。将步骤转化为操作细节，能让员工更清楚自己该做什么、怎么做，从而提高工作的准确性和效率。</a:t>
            </a:r>
            <a:r>
              <a:rPr lang="en-US" altLang="zh-CN"/>
              <a:t>
</a:t>
            </a:r>
            <a:r>
              <a:rPr lang="zh-CN" altLang="en-US"/>
              <a:t>标准化方面，其关键在于规避模糊化，运用可衡量的精确描述实现量化或行为化。在实际工作中，模糊的表述容易导致理解偏差和执行差异。比如，</a:t>
            </a:r>
            <a:r>
              <a:rPr lang="en-US" altLang="zh-CN"/>
              <a:t>“</a:t>
            </a:r>
            <a:r>
              <a:rPr lang="zh-CN" altLang="en-US"/>
              <a:t>尽快完成任务</a:t>
            </a:r>
            <a:r>
              <a:rPr lang="en-US" altLang="zh-CN"/>
              <a:t>”</a:t>
            </a:r>
            <a:r>
              <a:rPr lang="zh-CN" altLang="en-US"/>
              <a:t>这样的要求就很模糊，不同人对</a:t>
            </a:r>
            <a:r>
              <a:rPr lang="en-US" altLang="zh-CN"/>
              <a:t>“</a:t>
            </a:r>
            <a:r>
              <a:rPr lang="zh-CN" altLang="en-US"/>
              <a:t>尽快</a:t>
            </a:r>
            <a:r>
              <a:rPr lang="en-US" altLang="zh-CN"/>
              <a:t>”</a:t>
            </a:r>
            <a:r>
              <a:rPr lang="zh-CN" altLang="en-US"/>
              <a:t>的理解可能不同。但如果说</a:t>
            </a:r>
            <a:r>
              <a:rPr lang="en-US" altLang="zh-CN"/>
              <a:t>“</a:t>
            </a:r>
            <a:r>
              <a:rPr lang="zh-CN" altLang="en-US"/>
              <a:t>在三天内完成任务</a:t>
            </a:r>
            <a:r>
              <a:rPr lang="en-US" altLang="zh-CN"/>
              <a:t>”</a:t>
            </a:r>
            <a:r>
              <a:rPr lang="zh-CN" altLang="en-US"/>
              <a:t>，这就是可衡量的精确描述，员工能明确目标和时间节点。标准化能让流程更加规范，减少不确定性，确保企业的各项工作都能按照统一的标准高效执行。</a:t>
            </a:r>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精华萃取包含内萃和外取两个方面。内萃是在企业内部进行总结传承，外取是从外部吸收转化。这两个方面相辅相成，共同助力企业对知识经验的萃取。</a:t>
            </a:r>
            <a:r>
              <a:rPr lang="en-US" altLang="zh-CN"/>
              <a:t>
</a:t>
            </a:r>
            <a:r>
              <a:rPr lang="zh-CN" altLang="en-US"/>
              <a:t>从更深入的层面看，内萃之所以重要，是因为企业内部员工积累了大量宝贵的经验，这些经验是企业独特的财富。通过内萃，能将员工个人的隐形经验汇聚起来，避免随着员工的流动而流失。外取则让企业能够接触到外部先进的理念、技术和方法，为企业注入新的活力。</a:t>
            </a:r>
            <a:r>
              <a:rPr lang="en-US" altLang="zh-CN"/>
              <a:t>
</a:t>
            </a:r>
            <a:r>
              <a:rPr lang="zh-CN" altLang="en-US"/>
              <a:t>精华萃取的本质是隐形经验显性化。在企业中，许多宝贵的认知都存在于个体的头脑里，呈隐性、碎片化且难以测量。但通过精华萃取，能把这些隐形的经验提炼成可验证、能复制且严谨记录的结构化知识。如此一来，知识就能在企业内部广泛传播，还能为后续的工作提供参考和指引，提升企业的整体竞争力。</a:t>
            </a:r>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精华萃取具有多方面的重要价值。首先，它能够避免知识资产流失。企业中员工流动是常有的事，但员工积累的经验和智慧是宝贵的财富。通过精华萃取，将员工个人智慧当作组织的知识资产去管理，实现</a:t>
            </a:r>
            <a:r>
              <a:rPr lang="en-US" altLang="zh-CN"/>
              <a:t>“</a:t>
            </a:r>
            <a:r>
              <a:rPr lang="zh-CN" altLang="en-US"/>
              <a:t>人可以走，经验留下</a:t>
            </a:r>
            <a:r>
              <a:rPr lang="en-US" altLang="zh-CN"/>
              <a:t>”</a:t>
            </a:r>
            <a:r>
              <a:rPr lang="zh-CN" altLang="en-US"/>
              <a:t>。这就如同把一颗颗散落的珍珠串成项链，让知识得以传承和延续，使企业不会因人员的变动而损失重要的知识资源。</a:t>
            </a:r>
            <a:r>
              <a:rPr lang="en-US" altLang="zh-CN"/>
              <a:t>
</a:t>
            </a:r>
            <a:r>
              <a:rPr lang="zh-CN" altLang="en-US"/>
              <a:t>其次，精华萃取有助于降低组织试错成本。在企业运营过程中，重复犯错会带来巨大的成本消耗，这是组织最大的成本之一。通过经验梳理，将过往的成功经验和失败教训进行总结，员工可以从中学习，避免重复犯错。就像在黑暗中摸索前行的人有了一盏明灯，能够更精准地避免陷阱，少走弯路，提高工作效率。</a:t>
            </a:r>
            <a:r>
              <a:rPr lang="en-US" altLang="zh-CN"/>
              <a:t>
</a:t>
            </a:r>
            <a:r>
              <a:rPr lang="zh-CN" altLang="en-US"/>
              <a:t>最后，它还能优化工作执行标准。一线员工处于工作的最前沿，他们有着最直接和丰富的实践经验，最有资格研究如何把工作做好。从下至上优化标准，能够让标准更加贴合实际工作情况，具备更强的可操作性和针对性。这就好比一场战役，一线打仗的士兵提出的作战方案往往更能适应战场的实际情况，从而推动管理的改善和提升。</a:t>
            </a:r>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培养专业师资队伍是企业发展的重要环节。虽然培训讲究</a:t>
            </a:r>
            <a:r>
              <a:rPr lang="en-US" altLang="zh-CN"/>
              <a:t>“</a:t>
            </a:r>
            <a:r>
              <a:rPr lang="zh-CN" altLang="en-US"/>
              <a:t>内外结合，软硬兼施</a:t>
            </a:r>
            <a:r>
              <a:rPr lang="en-US" altLang="zh-CN"/>
              <a:t>”</a:t>
            </a:r>
            <a:r>
              <a:rPr lang="zh-CN" altLang="en-US"/>
              <a:t>，但内部培训力量才是关键。内部人员熟悉企业的实际情况和业务流程，他们所传授的知识和经验更具针对性和实用性，能让员工更好地将所学应用到工作中。</a:t>
            </a:r>
            <a:r>
              <a:rPr lang="en-US" altLang="zh-CN"/>
              <a:t>
</a:t>
            </a:r>
            <a:r>
              <a:rPr lang="zh-CN" altLang="en-US"/>
              <a:t>构建内部学习文化能营造良好的学习氛围。当企业里人人皆需为师、人人皆能为师时，知识和经验就能在员工之间广泛传播。这不仅能让新员工快速成长，也能促使老员工不断学习和更新知识，形成一个良性的学习循环。</a:t>
            </a:r>
            <a:r>
              <a:rPr lang="en-US" altLang="zh-CN"/>
              <a:t>
</a:t>
            </a:r>
            <a:r>
              <a:rPr lang="zh-CN" altLang="en-US"/>
              <a:t>打造人才培养体系是为企业创造价值的最高方式。企业的发展离不开人才，而完善的人才培养体系能解决人才培养的关键难题。通过科学的培养体系，企业可以挖掘和培养出更多符合自身发展需求的人才，为企业的长远发展提供坚实的人才保障。</a:t>
            </a:r>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在企业流程管理的推进过程中，我们常常会听到一些负面声音。有人认为流程就是官僚，这反映出部分人觉得流程会带来繁琐的层级审批，降低工作效率，仿佛是一种权力的象征，而不是为了更好地完成工作。</a:t>
            </a:r>
            <a:r>
              <a:rPr lang="en-US" altLang="zh-CN"/>
              <a:t>
</a:t>
            </a:r>
            <a:r>
              <a:rPr lang="zh-CN" altLang="en-US"/>
              <a:t>有人觉得流程是负担，这表明流程在实施时可能过于复杂，给员工增加了额外的工作量，让大家疲于应对各种流程环节，而忽略了工作本身的价值。</a:t>
            </a:r>
            <a:r>
              <a:rPr lang="en-US" altLang="zh-CN"/>
              <a:t>
</a:t>
            </a:r>
            <a:r>
              <a:rPr lang="zh-CN" altLang="en-US"/>
              <a:t>认为流程就是画图的观点，体现出有人觉得流程只是形式上的图表展示，缺乏实际的操作性和指导意义，没有真正与工作实践相结合。</a:t>
            </a:r>
            <a:r>
              <a:rPr lang="en-US" altLang="zh-CN"/>
              <a:t>
</a:t>
            </a:r>
            <a:r>
              <a:rPr lang="zh-CN" altLang="en-US"/>
              <a:t>说流程是捣蛋，意味着流程可能打乱了员工原本的工作节奏和习惯，使得工作变得不顺畅，引发了大家的反感。</a:t>
            </a:r>
            <a:r>
              <a:rPr lang="en-US" altLang="zh-CN"/>
              <a:t>
</a:t>
            </a:r>
            <a:r>
              <a:rPr lang="zh-CN" altLang="en-US"/>
              <a:t>觉得流程是摆设，说明流程在实际执行中可能没有得到有效落实，成为了一种可有可无的存在，无法发挥其应有的作用。</a:t>
            </a:r>
            <a:r>
              <a:rPr lang="en-US" altLang="zh-CN"/>
              <a:t>
</a:t>
            </a:r>
            <a:r>
              <a:rPr lang="zh-CN" altLang="en-US"/>
              <a:t>认为流程是照搬，则指出了流程可能没有结合企业自身的实际情况，盲目借鉴其他企业的模式，导致水土不服。</a:t>
            </a:r>
            <a:r>
              <a:rPr lang="en-US" altLang="zh-CN"/>
              <a:t>
</a:t>
            </a:r>
            <a:r>
              <a:rPr lang="zh-CN" altLang="en-US"/>
              <a:t>这些声音提醒我们，在设计和实施流程时，要充分考虑员工的感受和实际工作需求，确保流程既简单高效，又具有可操作性和实用性。</a:t>
            </a:r>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设计流程必然会引发一系列的变化，包括组织架构的调整、权力的重新分配、员工工作习惯的改变、既得利益格局的打破、人事安排的变动、理念的碰撞以及标准的重新制定等。在这一系列的变化过程中，思想理念问题成为了流程体系建立的最大阻碍。</a:t>
            </a:r>
            <a:r>
              <a:rPr lang="en-US" altLang="zh-CN"/>
              <a:t>
</a:t>
            </a:r>
            <a:r>
              <a:rPr lang="zh-CN" altLang="en-US"/>
              <a:t>企业流程思想的建立至关重要，它决定了企业能否顺利推进流程管理工作。大家对流程管理的概念以及对流程建立或优化的认识是否统一，直接关系到流程建立的成败。如果员工对流程管理的理念存在分歧，那么在执行过程中就会出现各种问题，导致流程无法有效运行。</a:t>
            </a:r>
            <a:r>
              <a:rPr lang="en-US" altLang="zh-CN"/>
              <a:t>
</a:t>
            </a:r>
            <a:r>
              <a:rPr lang="zh-CN" altLang="en-US"/>
              <a:t>统一思想就像是一件强大的武器，能够让企业上下齐心协力，共同为实现企业的目标而努力。当员工对流程管理的重要性有了一致的认识，他们就会更加积极主动地参与到流程的建立和优化中来，从而提高企业的运营效率和管理水平。因此，开展理念培训，统一员工的思想认识，是企业建立有效流程体系的关键一步。</a:t>
            </a:r>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制作流程时，设计标准至关重要，关乎流程能否有效落地与执行。</a:t>
            </a:r>
            <a:r>
              <a:rPr lang="en-US" altLang="zh-CN"/>
              <a:t>
</a:t>
            </a:r>
            <a:r>
              <a:rPr lang="zh-CN" altLang="en-US"/>
              <a:t>首先，内容需准确清楚、顺畅自然。这意味着流程内容要如实反映事物的本来面目，就像一幅精准的地图，让执行者明确知晓该做什么、如何去做以及在什么时间完成任务。准确清晰的内容能避免执行者在操作过程中产生困惑，减少错误和失误的发生。</a:t>
            </a:r>
            <a:r>
              <a:rPr lang="en-US" altLang="zh-CN"/>
              <a:t>
</a:t>
            </a:r>
            <a:r>
              <a:rPr lang="zh-CN" altLang="en-US"/>
              <a:t>其次，流程内容要揭示工作内在联系，反映工作衔接逻辑联系。工作就像一条环环相扣的链条，每个环节都紧密相连。流程设计要把这种内在联系和逻辑关系清晰地展现出来，让执行者明白自己的工作在整个流程中的位置和作用，以及与其他环节的协同关系。如此，才能确保工作的连续性和高效性，避免出现工作脱节或重复劳动的情况。</a:t>
            </a:r>
            <a:r>
              <a:rPr lang="en-US" altLang="zh-CN"/>
              <a:t>
</a:t>
            </a:r>
            <a:r>
              <a:rPr lang="zh-CN" altLang="en-US"/>
              <a:t>总之，遵循设计标准制作流程，才能为企业的高效运作奠定坚实基础。</a:t>
            </a:r>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制作流程时，形式的设计至关重要，需做到简洁美观、有的放矢。一个一目了然的流程图，能够让使用者迅速抓住关键信息，提高使用效率。这就好比一幅精准的地图，清晰地指引着前行的方向，让每一个执行者都能轻松找到自己的位置和职责。</a:t>
            </a:r>
            <a:r>
              <a:rPr lang="en-US" altLang="zh-CN"/>
              <a:t>
</a:t>
            </a:r>
            <a:r>
              <a:rPr lang="zh-CN" altLang="en-US"/>
              <a:t>要实现这一目标，就得学会做</a:t>
            </a:r>
            <a:r>
              <a:rPr lang="en-US" altLang="zh-CN"/>
              <a:t>“</a:t>
            </a:r>
            <a:r>
              <a:rPr lang="zh-CN" altLang="en-US"/>
              <a:t>减法</a:t>
            </a:r>
            <a:r>
              <a:rPr lang="en-US" altLang="zh-CN"/>
              <a:t>”</a:t>
            </a:r>
            <a:r>
              <a:rPr lang="zh-CN" altLang="en-US"/>
              <a:t>。对于那些多余的流程和环节，果断省略和放弃。就像修剪一棵树木，去除那些无用的枝桠，才能让树木茁壮成长。多余的流程只会增加复杂性，降低效率，甚至可能导致混乱。所以，我们要以简洁为美，让流程更加高效。</a:t>
            </a:r>
            <a:r>
              <a:rPr lang="en-US" altLang="zh-CN"/>
              <a:t>
</a:t>
            </a:r>
            <a:r>
              <a:rPr lang="zh-CN" altLang="en-US"/>
              <a:t>同时，我们也要明白内容与形式是相辅相成的关系。内容是流程的核心，它决定了形式的呈现方式。而形式则是内容的载体，它能够影响内容的传达效果。如果内容准确清晰，但形式杂乱无章，那么执行者可能会在理解上出现偏差；反之，如果形式美观，但内容空洞无物，那么流程也就失去了实际意义。因此，在制作流程时，我们要兼顾内容与形式，让它们相互促进，共同为实现企业的目标服务。</a:t>
            </a:r>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制作流程的使用标准至关重要，它关乎流程能否真正发挥作用。首先，流程应具备一目了然、掌握整体的特性。这意味着流程要清晰呈现，让人一眼就能把握其全貌和核心要点。就像一幅精准的地图，能让人瞬间了解整体地形和方向，不会在复杂的流程中迷失方向。</a:t>
            </a:r>
            <a:r>
              <a:rPr lang="en-US" altLang="zh-CN"/>
              <a:t>
</a:t>
            </a:r>
            <a:r>
              <a:rPr lang="zh-CN" altLang="en-US"/>
              <a:t>其次，流程要按图索骥、容易上手。这要求流程设计贴合实际操作，执行者能依据流程顺利开展工作。就如同简单易懂的说明书，即使是新手也能迅速掌握操作方法，减少学习成本和时间浪费。</a:t>
            </a:r>
            <a:r>
              <a:rPr lang="en-US" altLang="zh-CN"/>
              <a:t>
</a:t>
            </a:r>
            <a:r>
              <a:rPr lang="zh-CN" altLang="en-US"/>
              <a:t>最后，对于流程中的疏忽之处，要适时调整或更正。因为实际情况复杂多变，流程在实施过程中难免会出现一些问题或漏洞。我们需要保持敏锐的洞察力，及时发现并解决这些问题，确保流程始终适应实际需求，为企业的高效运行提供有力支持。只有遵循这些使用标准，流程才能真正成为企业发展的助推器。</a:t>
            </a:r>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制作流程有两个基本导向，一是以结果为导向，二是以过程为保障。以结果为导向，要求我们注重结果，因为只有结果才是衡量流程价值的最终标准。每一个动作、每一个步骤都要符合结果的要求，否则就失去了意义。就像一艘船，如果没有明确的目的地，那么无论它行驶多远，都可能只是在原地打转。而企业的最终结果是实现效益最大化，这就要求我们在制作流程时，时刻牢记这个目标，防止本末倒置。</a:t>
            </a:r>
            <a:r>
              <a:rPr lang="en-US" altLang="zh-CN"/>
              <a:t>
</a:t>
            </a:r>
            <a:r>
              <a:rPr lang="zh-CN" altLang="en-US"/>
              <a:t>以过程为保障，意味着我们要做好过程。结果和过程是相辅相成的关系，结果指导过程，只有明确了结果，才能知道过程中应该做什么、怎么做。同时，过程也体现结果，只有把每一个步骤都做好，才能实现最终的结果。就像一场马拉松比赛，只有每一段路程都认真对待，才能顺利到达终点。所以，我们在关注结果的同时，不能忽视过程的重要性，要确保每一个环节都严谨、高效，为实现最终结果提供坚实的保障。</a:t>
            </a:r>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制作跨职能流程要以公司业务分解为依据，将其划分为三个层级，这里先着重讲一级流程。一级流程也就是公司级流程，它是公司整体事务按照特定程序和标准运行而形成的做事流程。</a:t>
            </a:r>
            <a:r>
              <a:rPr lang="en-US" altLang="zh-CN"/>
              <a:t>
</a:t>
            </a:r>
            <a:r>
              <a:rPr lang="zh-CN" altLang="en-US"/>
              <a:t>公司在运营过程中，各项事务都遵循着一定的规则和程序，这些规则和程序相互关联，构成了公司级的流程体系。而公司顶层流程环节的复杂程度决定了不同业务节点的划分方式，我们可以依据此将不同的业务节点归到不同的职能部门。</a:t>
            </a:r>
            <a:r>
              <a:rPr lang="en-US" altLang="zh-CN"/>
              <a:t>
</a:t>
            </a:r>
            <a:r>
              <a:rPr lang="zh-CN" altLang="en-US"/>
              <a:t>这就意味着一级流程具有跨部门的特性。在实际工作中，一个项目或者任务往往需要多个部门协同合作才能完成，一级流程就是要打破部门之间的壁垒，让各个部门能够按照统一的流程和标准，高效地完成工作。它就像是公司运营的</a:t>
            </a:r>
            <a:r>
              <a:rPr lang="en-US" altLang="zh-CN"/>
              <a:t>“</a:t>
            </a:r>
            <a:r>
              <a:rPr lang="zh-CN" altLang="en-US"/>
              <a:t>指挥棒</a:t>
            </a:r>
            <a:r>
              <a:rPr lang="en-US" altLang="zh-CN"/>
              <a:t>”</a:t>
            </a:r>
            <a:r>
              <a:rPr lang="zh-CN" altLang="en-US"/>
              <a:t>，引导着各个部门朝着共同的目标前进，确保公司整体事务的顺利运行。</a:t>
            </a:r>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制作跨职能流程时，除了一级流程，还有二级和三级流程。二级流程即部门级流程，部门整体事务运行有其特定流程。依据部门顶层流程环节的复杂程度，能够把不同业务节点划分成不同业务班组，所以二级流程属于跨班组流程。这就好比一个部门内，各个业务班组之间相互协作，共同完成部门的整体事务。</a:t>
            </a:r>
            <a:r>
              <a:rPr lang="en-US" altLang="zh-CN"/>
              <a:t>
</a:t>
            </a:r>
            <a:r>
              <a:rPr lang="zh-CN" altLang="en-US"/>
              <a:t>三级流程指的是班组级流程，班组整体事务运行也遵循一定流程。按照班组顶层流程环节的复杂程度，可将不同业务节点划分为不同工作岗位，因此三级流程可能是跨岗位流程。就像一个班组里，不同岗位的人员相互配合，共同达成班组的工作目标。</a:t>
            </a:r>
            <a:r>
              <a:rPr lang="en-US" altLang="zh-CN"/>
              <a:t>
</a:t>
            </a:r>
            <a:r>
              <a:rPr lang="zh-CN" altLang="en-US"/>
              <a:t>从一级流程到二级流程再到三级流程，是一个逐步细化的过程。一级流程确定了公司整体的业务框架和方向，二级流程进一步在部门层面进行细化和分工，三级流程则在班组层面将工作落实到具体岗位。这三个层级的流程相互关联、相互支撑，共同构成了跨职能流程的完整体系，确保公司各项事务能够高效、有序地运行。</a:t>
            </a:r>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前面我们了解了制作跨职能流程的导向和层级划分。而运行系统模块在跨职能流程中极为关键，它就像一个动力中枢，让流程能够顺畅运转。运行系统模块具体有哪些构成和运行机制？带着这些疑问，接下来我们一起深入探究。</a:t>
            </a:r>
            <a:endParaRPr lang="zh-CN" altLang="en-US"/>
          </a:p>
        </p:txBody>
      </p:sp>
      <p:sp>
        <p:nvSpPr>
          <p:cNvPr id="4" name="灯片编号占位符 3"/>
          <p:cNvSpPr>
            <a:spLocks noGrp="1"/>
          </p:cNvSpPr>
          <p:nvPr>
            <p:ph type="sldNum" sz="quarter" idx="5"/>
          </p:nvPr>
        </p:nvSpPr>
        <p:spPr/>
        <p:txBody>
          <a:bodyPr/>
          <a:p>
            <a:fld id="{39BFEB8F-72F4-45AF-99ED-E06CDC71B07A}" type="slidenum">
              <a:rPr lang="en-US" altLang="zh-CN"/>
            </a:fld>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制作跨职能流程需逐级进行，首先要制作一级流程，它也被称为跨部门流程。这是整个跨职能流程体系的基础，对企业整体业务的高效运行起着关键作用。</a:t>
            </a:r>
            <a:r>
              <a:rPr lang="en-US" altLang="zh-CN"/>
              <a:t>
</a:t>
            </a:r>
            <a:r>
              <a:rPr lang="zh-CN" altLang="en-US"/>
              <a:t>制作一级流程的首要步骤是确定业务框架。这需要依据企业的战略定位来开展。企业的战略定位如同指南针，为业务框架的搭建指明方向。我们要将企业的主要事务进行系统梳理，找出其中的关键节点。这些关键节点就像是链条上的重要环节，对业务的推进起着决定性作用。</a:t>
            </a:r>
            <a:r>
              <a:rPr lang="en-US" altLang="zh-CN"/>
              <a:t>
</a:t>
            </a:r>
            <a:r>
              <a:rPr lang="zh-CN" altLang="en-US"/>
              <a:t>然后，把这些关键节点相互衔接、优化组合，形成一级流程体系框架。这一框架就如同企业业务运行的</a:t>
            </a:r>
            <a:r>
              <a:rPr lang="en-US" altLang="zh-CN"/>
              <a:t>“</a:t>
            </a:r>
            <a:r>
              <a:rPr lang="zh-CN" altLang="en-US"/>
              <a:t>交通地图</a:t>
            </a:r>
            <a:r>
              <a:rPr lang="en-US" altLang="zh-CN"/>
              <a:t>”</a:t>
            </a:r>
            <a:r>
              <a:rPr lang="zh-CN" altLang="en-US"/>
              <a:t>，清晰地展示了各个业务环节之间的关系和流转路径。一个合理、完善的一级流程体系框架，能够让企业的各项业务有序开展，提高运营效率，避免资源的浪费和内耗。</a:t>
            </a:r>
            <a:r>
              <a:rPr lang="en-US" altLang="zh-CN"/>
              <a:t>
</a:t>
            </a:r>
            <a:r>
              <a:rPr lang="zh-CN" altLang="en-US"/>
              <a:t>以万科房地产为例，它依据战略规划重新梳理业务框架，确定关键业务环节，设置职能部门，形成了适合自身的一级业务流程结构。这充分说明了确定业务框架对于企业提高效能的重要性。</a:t>
            </a:r>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在制作一级流程时，把握业务环节至关重要。我们要对业务内容进行深入分析，精准理解其要点。这就如同医生诊断病情，只有全面了解症状和病因，才能开出有效的药方。</a:t>
            </a:r>
            <a:r>
              <a:rPr lang="en-US" altLang="zh-CN"/>
              <a:t>
</a:t>
            </a:r>
            <a:r>
              <a:rPr lang="zh-CN" altLang="en-US"/>
              <a:t>在分析过程中，要针对不同要求对业务环节进行取舍。流程环节并非越多越好，过多的环节可能会导致流程繁琐、效率低下。我们必须有所放弃、有所侧重，就像行军打仗，要明确战略重点，集中优势兵力攻克关键目标。</a:t>
            </a:r>
            <a:r>
              <a:rPr lang="en-US" altLang="zh-CN"/>
              <a:t>
</a:t>
            </a:r>
            <a:r>
              <a:rPr lang="zh-CN" altLang="en-US"/>
              <a:t>在保证完成目标的前提下，我们要具备敏锐的洞察力，分辨出哪些是必要的环节，哪些是不必要的环节。这需要我们结合实际情况，进行全面的考量。只有把必要的环节找出来，才能让流程高效执行，避免资源的浪费。就像万科房地产，通过对业务内容的深度分析和环节取舍，确定了关键业务环节，从而形成了适合企业的一级业务流程结构，提高了企业效能。所以，把握业务环节是制作一级流程的关键步骤，它直接关系到流程的质量和企业的效益。</a:t>
            </a:r>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过万科房地产的例子，我们能深入理解如何构建一级流程。万科为提升企业效能，以战略规划为导向，重新梳理业务框架。这一举措意义重大，战略规划是企业发展的指明灯，依据它梳理业务框架，能确保企业的所有事务都朝着正确方向前进。</a:t>
            </a:r>
            <a:r>
              <a:rPr lang="en-US" altLang="zh-CN"/>
              <a:t>
</a:t>
            </a:r>
            <a:r>
              <a:rPr lang="zh-CN" altLang="en-US"/>
              <a:t>接着，万科以实现客户价值为前提，对公司顶层业务内容进行深度剖析。这是因为客户是企业生存的根本，只有深度满足客户需求，企业才能在市场中立足。在分析过程中，万科对每个业务节点进行了细致的取舍考量。要知道，业务流程并非环节越多越好，关键在于精准把握必要环节，有所侧重才能高效执行。</a:t>
            </a:r>
            <a:r>
              <a:rPr lang="en-US" altLang="zh-CN"/>
              <a:t>
</a:t>
            </a:r>
            <a:r>
              <a:rPr lang="zh-CN" altLang="en-US"/>
              <a:t>在明确了关键业务环节后，万科又根据业务环节的复杂程度来设置职能部门。不同的业务环节有着不同的要求和复杂度，这样设置职能部门能让各个部门专注于自身的核心业务，提高工作效率。最终，万科成功构建出最适合自身的一级业务流程结构，也就是主流程。这不仅为企业的高效运作奠定了基础，也为其他企业提供了宝贵的借鉴经验。</a:t>
            </a:r>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万科房地产业务开发流程涵盖多个关键环节与程序，这些环节相互关联、层层递进，共同构成了完整的业务链条。</a:t>
            </a:r>
            <a:r>
              <a:rPr lang="en-US" altLang="zh-CN"/>
              <a:t>
</a:t>
            </a:r>
            <a:r>
              <a:rPr lang="zh-CN" altLang="en-US"/>
              <a:t>项目论证是整个流程的起点，它为后续决策提供了科学依据，只有经过严谨论证的项目，才能确保具有可行性和发展潜力。项目策划则在论证基础上，对项目进行全面规划和设计，为项目的顺利推进指明方向。设计管理关乎项目的品质和特色，通过精心设计，能提升项目的吸引力和竞争力。</a:t>
            </a:r>
            <a:r>
              <a:rPr lang="en-US" altLang="zh-CN"/>
              <a:t>
</a:t>
            </a:r>
            <a:r>
              <a:rPr lang="zh-CN" altLang="en-US"/>
              <a:t>工程管理是项目从蓝图变为现实的关键阶段，它确保工程质量和进度符合要求。销售管理负责将建成的房产推向市场，实现项目的经济价值。入住管理则在客户入住后，提供优质的服务，提升客户的满意度。物业管理则是项目长期运营的保障，为业主创造舒适、安全的居住环境。</a:t>
            </a:r>
            <a:r>
              <a:rPr lang="en-US" altLang="zh-CN"/>
              <a:t>
</a:t>
            </a:r>
            <a:r>
              <a:rPr lang="zh-CN" altLang="en-US"/>
              <a:t>这一系列跨部门的流程，体现了万科对房地产开发的系统性和专业性。每个环节都紧密相连，任何一个环节出现问题，都可能影响整个项目的成败。万科通过优化这些流程，实现了高效运作，为企业的持续发展奠定了坚实基础。</a:t>
            </a:r>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万科房地产开发拥有极具系统性的一级主流程关键环节结构，涵盖了七大核心流程，即项目论证流程、项目策划流程、设计管理流程、工程管理流程、销售管理流程、入住管理流程以及物业管理流程，这些也被称为二级主流程。</a:t>
            </a:r>
            <a:r>
              <a:rPr lang="en-US" altLang="zh-CN"/>
              <a:t>
</a:t>
            </a:r>
            <a:r>
              <a:rPr lang="zh-CN" altLang="en-US"/>
              <a:t>项目论证流程是整个开发的起点，如同建造大厦的基石，对项目的可行性、市场前景等进行全面评估，为后续工作奠定基础。项目策划流程则在论证的基础上，对项目进行整体规划和设计，明确项目的定位和方向。设计管理流程确保项目的设计符合规划要求，兼具美观与实用。</a:t>
            </a:r>
            <a:r>
              <a:rPr lang="en-US" altLang="zh-CN"/>
              <a:t>
</a:t>
            </a:r>
            <a:r>
              <a:rPr lang="zh-CN" altLang="en-US"/>
              <a:t>工程管理流程是项目从图纸变为现实的关键阶段，把控工程进度、质量和安全。销售管理流程负责将建成的房产推向市场，实现资金回笼。入住管理流程则在业主入住时提供服务，保障业主顺利入住。物业管理流程为业主提供长期的物业服务，提升业主的居住体验。</a:t>
            </a:r>
            <a:r>
              <a:rPr lang="en-US" altLang="zh-CN"/>
              <a:t>
</a:t>
            </a:r>
            <a:r>
              <a:rPr lang="zh-CN" altLang="en-US"/>
              <a:t>这七大核心流程环环相扣，形成了一个有机的整体，每一个流程都对项目的成功至关重要。正是这种科学合理的流程结构，使得万科在房地产开发领域能够高效运作，取得卓越的成果。</a:t>
            </a:r>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万科流程管理体系带来了显著成果。首先是服从流程，这意味着在万科并非任何时候都要求下级服从上级，而是所有人在任何时候都要服从流程管理。这一转变打破了传统的层级观念，将流程置于至高无上的地位，使得企业的运营更加规范和有序。</a:t>
            </a:r>
            <a:r>
              <a:rPr lang="en-US" altLang="zh-CN"/>
              <a:t>
</a:t>
            </a:r>
            <a:r>
              <a:rPr lang="zh-CN" altLang="en-US"/>
              <a:t>其次是提供工作指引，流程的内容聚焦于事情本身，它明确告知员工具体事情该如何操作，而不是让员工去考虑向何人请示。这种方式让员工能够更加专注于工作任务，依据流程按部就班地开展工作，减少了不必要的沟通成本和决策时间。</a:t>
            </a:r>
            <a:r>
              <a:rPr lang="en-US" altLang="zh-CN"/>
              <a:t>
</a:t>
            </a:r>
            <a:r>
              <a:rPr lang="zh-CN" altLang="en-US"/>
              <a:t>通过这两个方面的成果，万科的流程管理体系不仅提升了员工的工作效率，还为企业营造了公平公正的工作环境，让员工能够凭借对流程的熟悉来开展工作和参与竞争，而不是依靠人际关系。这无疑增强了企业的整体竞争力，为企业的持续发展奠定了坚实的基础。</a:t>
            </a:r>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万科规范的流程体系带来了显著的工作高效成果。由于流程清晰明确，万科内部很少出现烦琐的请示汇报情况。通常在缺乏规范流程的企业中，员工遇到问题往往需要层层请示，这不仅浪费大量时间，还会增加沟通成本。而在万科，员工依据流程就能明确工作方向和方法，无需在请示汇报上耗费精力，极大提高了工作效率，降低了人力和时间成本。</a:t>
            </a:r>
            <a:r>
              <a:rPr lang="en-US" altLang="zh-CN"/>
              <a:t>
</a:t>
            </a:r>
            <a:r>
              <a:rPr lang="zh-CN" altLang="en-US"/>
              <a:t>此外，万科员工坚持以流程为工作和竞争的原则。在其他企业，人际关系有时会影响工作的开展和竞争的公平性。但在万科，员工凭借对流程的熟悉来进行工作和竞争。这意味着员工只需专注于提升自身对流程的理解和执行能力，而非花费心思去经营人际关系。这种方式营造了公平公正的工作环境，让员工能将更多精力投入到工作中，进一步提升了企业的整体竞争力。</a:t>
            </a:r>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万科之所以强大，有几个关键因素起着重要作用。</a:t>
            </a:r>
            <a:r>
              <a:rPr lang="en-US" altLang="zh-CN"/>
              <a:t>
</a:t>
            </a:r>
            <a:r>
              <a:rPr lang="zh-CN" altLang="en-US"/>
              <a:t>首先是地产工业化，快速复制。万科向制造业学习，将工业化的生产方式引入地产领域。这使得万科能够像制造业一样，实现标准化、规模化的生产，从而提高生产效率，快速复制项目。这种模式不仅缩短了项目的开发周期，还能保证产品质量的稳定性和一致性。</a:t>
            </a:r>
            <a:r>
              <a:rPr lang="en-US" altLang="zh-CN"/>
              <a:t>
</a:t>
            </a:r>
            <a:r>
              <a:rPr lang="zh-CN" altLang="en-US"/>
              <a:t>其次，高效的运行体系是万科强大的重要支撑。万科建立了完善的流程和制度库，所有员工都服从流程管理。流程明确了工作的步骤和方法，为员工提供了清晰的工作指引，减少了不必要的请示汇报，提高了工作效率，降低了运营成本。员工凭借对流程的熟悉开展工作和竞争，而不是依靠人际关系，保证了企业的公平性和高效性。</a:t>
            </a:r>
            <a:r>
              <a:rPr lang="en-US" altLang="zh-CN"/>
              <a:t>
</a:t>
            </a:r>
            <a:r>
              <a:rPr lang="zh-CN" altLang="en-US"/>
              <a:t>再者，强有力的成本管理也是万科的优势之一。在房地产开发过程中，成本控制至关重要。万科通过精细化的成本管理，从土地获取、规划设计、施工建设到销售运营等各个环节，都严格把控成本，提高了企业的盈利能力和市场竞争力。</a:t>
            </a:r>
            <a:r>
              <a:rPr lang="en-US" altLang="zh-CN"/>
              <a:t>
</a:t>
            </a:r>
            <a:r>
              <a:rPr lang="zh-CN" altLang="en-US"/>
              <a:t>最后，集权化的管控确保了万科决策的高效性和一致性。在集权化的管理模式下，万科能够迅速做出决策，统一调配资源，使企业的战略能够得到有效执行，避免了因决策分散而导致的效率低下和资源浪费。</a:t>
            </a:r>
            <a:r>
              <a:rPr lang="en-US" altLang="zh-CN"/>
              <a:t>
</a:t>
            </a:r>
            <a:r>
              <a:rPr lang="zh-CN" altLang="en-US"/>
              <a:t>综上所述，这几个关键因素相互配合，共同造就了万科的强大。</a:t>
            </a:r>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万科原董事长王石的这番话，揭示了万科强大背后的经营哲学。</a:t>
            </a:r>
            <a:r>
              <a:rPr lang="en-US" altLang="zh-CN"/>
              <a:t>“</a:t>
            </a:r>
            <a:r>
              <a:rPr lang="zh-CN" altLang="en-US"/>
              <a:t>做简单，而非做复杂</a:t>
            </a:r>
            <a:r>
              <a:rPr lang="en-US" altLang="zh-CN"/>
              <a:t>”</a:t>
            </a:r>
            <a:r>
              <a:rPr lang="zh-CN" altLang="en-US"/>
              <a:t>，意味着去除不必要的繁琐环节，聚焦核心业务，提高运营效率。简单的业务模式能让员工更清晰地理解工作目标，减少沟通成本和决策时间，使企业能够快速响应市场变化。</a:t>
            </a:r>
            <a:r>
              <a:rPr lang="en-US" altLang="zh-CN"/>
              <a:t>
“</a:t>
            </a:r>
            <a:r>
              <a:rPr lang="zh-CN" altLang="en-US"/>
              <a:t>做开放，而非做封闭</a:t>
            </a:r>
            <a:r>
              <a:rPr lang="en-US" altLang="zh-CN"/>
              <a:t>”</a:t>
            </a:r>
            <a:r>
              <a:rPr lang="zh-CN" altLang="en-US"/>
              <a:t>，体现了万科积极拥抱外部资源和创新的态度。开放的企业善于与合作伙伴、竞争对手交流合作，汲取新的理念和技术，不断拓展业务边界。这种开放的心态有助于企业在不断变化的市场环境中保持竞争力，实现可持续发展。</a:t>
            </a:r>
            <a:r>
              <a:rPr lang="en-US" altLang="zh-CN"/>
              <a:t>
“</a:t>
            </a:r>
            <a:r>
              <a:rPr lang="zh-CN" altLang="en-US"/>
              <a:t>做规范，而非做谋权</a:t>
            </a:r>
            <a:r>
              <a:rPr lang="en-US" altLang="zh-CN"/>
              <a:t>”</a:t>
            </a:r>
            <a:r>
              <a:rPr lang="zh-CN" altLang="en-US"/>
              <a:t>，强调了制度和流程的重要性。规范的企业依靠完善的制度和流程来管理，而不是个人的权力和关系。这样可以确保企业的决策公正、透明，避免内部的权力斗争和腐败现象，提高企业的公信力和稳定性。</a:t>
            </a:r>
            <a:r>
              <a:rPr lang="en-US" altLang="zh-CN"/>
              <a:t>
</a:t>
            </a:r>
            <a:r>
              <a:rPr lang="zh-CN" altLang="en-US"/>
              <a:t>王石认为，只有坚持这三条底线标准，企业才能实现长久发展。这不仅是万科的成功之道，也为其他企业提供了宝贵的借鉴。</a:t>
            </a:r>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前面我们了解了万科房地产开发的七大核心流程以及流程管理体系的成果等内容，现在来看一级流程的一个示例</a:t>
            </a:r>
            <a:r>
              <a:rPr lang="en-US" altLang="zh-CN"/>
              <a:t>——</a:t>
            </a:r>
            <a:r>
              <a:rPr lang="zh-CN" altLang="en-US"/>
              <a:t>营销业务流程。它是连接产品与市场、客户的关键环节。</a:t>
            </a:r>
            <a:r>
              <a:rPr lang="en-US" altLang="zh-CN"/>
              <a:t>
</a:t>
            </a:r>
            <a:r>
              <a:rPr lang="zh-CN" altLang="en-US"/>
              <a:t>一个完善的营销业务一级流程，能通过精准的市场定位、有效的宣传推广等环节打开市场、实现销售目标。营销业务流程的起始点或许是项目的市场调研，了解目标客户群体的需求、偏好等；终结点很可能是房产的成功销售。其中涉及的角色众多，包括营销策划人员、销售人员、市场调研人员等，各角色分工不同且相互协作。</a:t>
            </a:r>
            <a:r>
              <a:rPr lang="en-US" altLang="zh-CN"/>
              <a:t>
</a:t>
            </a:r>
            <a:r>
              <a:rPr lang="zh-CN" altLang="en-US"/>
              <a:t>这个流程中需要做的事也繁杂多样，有广告投放、举办促销活动、客户接待等，并且这些任务有些是必选动作，是为了保证营销活动的基本推进，有些可能是根据具体情况可选的创新举措。整个营销业务一级流程需在合适的时间、地点完成各项任务，期间也会产出大量文档，如市场调研报告、营销策划方案等。这样一个清晰合理的一级营销业务流程，能助力在竞争激烈的房地产市场中脱颖而出。</a:t>
            </a:r>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接下来探讨二级流程的制作。二级流程本质上是跨部门流程，这是因为一级流程的不同节点大多由不同部门负责实施。而且每个节点的业务，通常需要不同班组协作完成，这些协作就形成了子流程，也就是跨班组的二级流程。</a:t>
            </a:r>
            <a:r>
              <a:rPr lang="en-US" altLang="zh-CN"/>
              <a:t>
</a:t>
            </a:r>
            <a:r>
              <a:rPr lang="zh-CN" altLang="en-US"/>
              <a:t>值得注意的是，二级流程的关键节点并非都会进一步细化分解成三级流程。是否分解取决于该节点涉及的</a:t>
            </a:r>
            <a:r>
              <a:rPr lang="en-US" altLang="zh-CN"/>
              <a:t>“</a:t>
            </a:r>
            <a:r>
              <a:rPr lang="zh-CN" altLang="en-US"/>
              <a:t>活动</a:t>
            </a:r>
            <a:r>
              <a:rPr lang="en-US" altLang="zh-CN"/>
              <a:t>”</a:t>
            </a:r>
            <a:r>
              <a:rPr lang="zh-CN" altLang="en-US"/>
              <a:t>和</a:t>
            </a:r>
            <a:r>
              <a:rPr lang="en-US" altLang="zh-CN"/>
              <a:t>“</a:t>
            </a:r>
            <a:r>
              <a:rPr lang="zh-CN" altLang="en-US"/>
              <a:t>角色</a:t>
            </a:r>
            <a:r>
              <a:rPr lang="en-US" altLang="zh-CN"/>
              <a:t>”</a:t>
            </a:r>
            <a:r>
              <a:rPr lang="zh-CN" altLang="en-US"/>
              <a:t>复杂程度。如果节点涉及的活动简单、角色单一，那么可能就不需要再细分；但要是活动复杂、涉及角色众多，细化分解成三级流程就很有必要。</a:t>
            </a:r>
            <a:r>
              <a:rPr lang="en-US" altLang="zh-CN"/>
              <a:t>
</a:t>
            </a:r>
            <a:r>
              <a:rPr lang="zh-CN" altLang="en-US"/>
              <a:t>这种根据实际情况灵活决定流程细化程度的方式，能够让企业的流程管理既具规范性，又有灵活性，避免过度细化导致管理成本增加，或者因缺乏细化而使流程执行不够精准。</a:t>
            </a:r>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跨职能流程的呈现形式以流程图与流程说明文件相结合，能够达到图文并茂、层次清晰的效果。流程图具备直观性，以图形化的方式将流程的各个环节呈现出来，能让相关人员迅速把握流程的整体架构和走向。通过各种符号和线条的运用，能清晰展示流程的起始、结束、具体任务、决策点等要素，使复杂的流程变得一目了然。</a:t>
            </a:r>
            <a:r>
              <a:rPr lang="en-US" altLang="zh-CN"/>
              <a:t>
</a:t>
            </a:r>
            <a:r>
              <a:rPr lang="zh-CN" altLang="en-US"/>
              <a:t>而流程说明文件则具有详细性和准确性。它以文字形式对流程进行深入阐释，明确流程发起者或监督者的要求以及流程运行的目标，界定事务工作或活动内容，包括</a:t>
            </a:r>
            <a:r>
              <a:rPr lang="en-US" altLang="zh-CN"/>
              <a:t>“</a:t>
            </a:r>
            <a:r>
              <a:rPr lang="zh-CN" altLang="en-US"/>
              <a:t>谁做</a:t>
            </a:r>
            <a:r>
              <a:rPr lang="en-US" altLang="zh-CN"/>
              <a:t>”“</a:t>
            </a:r>
            <a:r>
              <a:rPr lang="zh-CN" altLang="en-US"/>
              <a:t>怎么做</a:t>
            </a:r>
            <a:r>
              <a:rPr lang="en-US" altLang="zh-CN"/>
              <a:t>”“</a:t>
            </a:r>
            <a:r>
              <a:rPr lang="zh-CN" altLang="en-US"/>
              <a:t>做好的标准</a:t>
            </a:r>
            <a:r>
              <a:rPr lang="en-US" altLang="zh-CN"/>
              <a:t>”</a:t>
            </a:r>
            <a:r>
              <a:rPr lang="zh-CN" altLang="en-US"/>
              <a:t>等关键信息，为流程的执行提供具体的指导和规范。</a:t>
            </a:r>
            <a:r>
              <a:rPr lang="en-US" altLang="zh-CN"/>
              <a:t>
</a:t>
            </a:r>
            <a:r>
              <a:rPr lang="zh-CN" altLang="en-US"/>
              <a:t>二者相辅相成，流程图让流程的宏观结构一目了然，流程说明文件则对微观细节进行补充说明。这种图文结合的呈现形式，能有效提高信息传达的效率和准确性，使不同岗位、不同专业背景的人员都能准确理解和执行跨职能流程。</a:t>
            </a:r>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理解流程图的符号，有助于更清晰地呈现和解读流程。流程的开始或结束符号标志着整个流程的起点与终点，如同一场旅程的出发与归来，明确界定了流程的边界。具体任务或工作符号则代表着流程中切实要完成的事项，是流程的核心组成部分，好比建造房屋时的每一块砖瓦。</a:t>
            </a:r>
            <a:r>
              <a:rPr lang="en-US" altLang="zh-CN"/>
              <a:t>
</a:t>
            </a:r>
            <a:r>
              <a:rPr lang="zh-CN" altLang="en-US"/>
              <a:t>决策、判断、审批符号用于表示需要做出抉择或进行审核的环节，这是流程中的关键节点，犹如航行中的舵手把握方向。单向流程线指示着流程按照单一方向推进，就像单行道引导车辆有序前行；双向流程线则允许两个方向的流动，增加了流程的灵活性，如同双向车道。</a:t>
            </a:r>
            <a:r>
              <a:rPr lang="en-US" altLang="zh-CN"/>
              <a:t>
</a:t>
            </a:r>
            <a:r>
              <a:rPr lang="zh-CN" altLang="en-US"/>
              <a:t>两项工作跨越、不相交符号表明两项工作各自独立进行，互不干扰，如同两条并行的轨道。两项工作连接符号使两项原本独立的工作产生关联，形成一个有机的整体。数据表单符号代表流程中涉及的数据收集和整理工具，而文档符号则涵盖了流程中产生或使用的各种文件资料。这些符号相互配合，构成了流程图的基本元素，让复杂的流程变得直观易懂。</a:t>
            </a:r>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绘制流程图时，明确关键要素至关重要。流程的起始点和终结点是基础，起始点如同旅程的起点，决定了流程的源头和初始状态；终结点则像目的地，标志着流程的结束。清晰界定这两点，能让整个流程有明确的方向和范围。</a:t>
            </a:r>
            <a:r>
              <a:rPr lang="en-US" altLang="zh-CN"/>
              <a:t>
</a:t>
            </a:r>
            <a:r>
              <a:rPr lang="zh-CN" altLang="en-US"/>
              <a:t>流程中涉及的角色也不容忽视。不同角色扮演着不同的职能，他们的参与和协作构成了流程的运转。明确角色，能避免职责不清，提高流程的执行效率。</a:t>
            </a:r>
            <a:r>
              <a:rPr lang="en-US" altLang="zh-CN"/>
              <a:t>
</a:t>
            </a:r>
            <a:r>
              <a:rPr lang="zh-CN" altLang="en-US"/>
              <a:t>明确流程中需要做的事，以及这些会议和任务是可选还是必选，能让执行者清楚工作的重点和优先级。必选的任务是流程顺利推进的关键，而可选任务则可根据实际情况灵活安排。</a:t>
            </a:r>
            <a:r>
              <a:rPr lang="en-US" altLang="zh-CN"/>
              <a:t>
</a:t>
            </a:r>
            <a:r>
              <a:rPr lang="zh-CN" altLang="en-US"/>
              <a:t>流程的时间、地点以及产出文档同样关键。时间限制确保了流程的高效执行，地点则关系到资源的调配和协作的便利性。而产出文档不仅是流程的成果体现，也是后续复盘和优化的重要依据。只有全面把握这些关键要素，才能绘制出实用、高效的流程图。</a:t>
            </a:r>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在流程管理中，选择合适的流程图模板至关重要，而国际通用的</a:t>
            </a:r>
            <a:r>
              <a:rPr lang="en-US" altLang="zh-CN"/>
              <a:t>“</a:t>
            </a:r>
            <a:r>
              <a:rPr lang="zh-CN" altLang="en-US"/>
              <a:t>矩阵式流程图</a:t>
            </a:r>
            <a:r>
              <a:rPr lang="en-US" altLang="zh-CN"/>
              <a:t>”</a:t>
            </a:r>
            <a:r>
              <a:rPr lang="zh-CN" altLang="en-US"/>
              <a:t>就是一个绝佳的选择。它有着独特的结构和强大的功能。</a:t>
            </a:r>
            <a:r>
              <a:rPr lang="en-US" altLang="zh-CN"/>
              <a:t>
</a:t>
            </a:r>
            <a:r>
              <a:rPr lang="zh-CN" altLang="en-US"/>
              <a:t>从结构上看，纵向代表工作的先后顺序，这就如同给工作排了一个清晰的时间表，让我们能直观地看到各项工作是如何依次推进的。比如在一个项目中，先进行市场调研，接着进行产品设计，然后是生产制造等，纵向的排列能让我们清晰把握整个工作的节奏和脉络。</a:t>
            </a:r>
            <a:r>
              <a:rPr lang="en-US" altLang="zh-CN"/>
              <a:t>
</a:t>
            </a:r>
            <a:r>
              <a:rPr lang="zh-CN" altLang="en-US"/>
              <a:t>横向则表示承担该项工作的部门和职位，这明确了每个环节的责任主体。就像一场接力赛，每个部门和职位都清楚自己在哪个阶段需要接棒、完成什么任务。这样一来，各部门之间的协作就会更加顺畅，避免了职责不清导致的混乱。</a:t>
            </a:r>
            <a:r>
              <a:rPr lang="en-US" altLang="zh-CN"/>
              <a:t>
</a:t>
            </a:r>
            <a:r>
              <a:rPr lang="zh-CN" altLang="en-US"/>
              <a:t>通过纵、横两个象限的坐标，矩阵式流程图可以精准地定位每一项工作，达到我们的工作要求。它不仅能清晰展示工作流程，还能体现出各部门之间的协作关系，为流程管理提供了一个全面、清晰的视角。无论是对于项目的规划、执行还是监控，矩阵式流程图都能发挥重要作用，帮助我们提高工作效率和管理水平。</a:t>
            </a:r>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流程说明文件一般采用三段式结构。第一段需说明流程发起者或监督者对流程工作或活动的要求，明确指出流程运行的目标。这就如同为一场长途旅行设定目的地，让所有参与者清楚知晓努力的方向，避免盲目行动。</a:t>
            </a:r>
            <a:r>
              <a:rPr lang="en-US" altLang="zh-CN"/>
              <a:t>
</a:t>
            </a:r>
            <a:r>
              <a:rPr lang="zh-CN" altLang="en-US"/>
              <a:t>第二段是整个说明文件的关键和重点，要界定流程的事务工作或活动内容，清晰介绍工作或活动</a:t>
            </a:r>
            <a:r>
              <a:rPr lang="en-US" altLang="zh-CN"/>
              <a:t>“</a:t>
            </a:r>
            <a:r>
              <a:rPr lang="zh-CN" altLang="en-US"/>
              <a:t>谁做</a:t>
            </a:r>
            <a:r>
              <a:rPr lang="en-US" altLang="zh-CN"/>
              <a:t>”“</a:t>
            </a:r>
            <a:r>
              <a:rPr lang="zh-CN" altLang="en-US"/>
              <a:t>怎么做</a:t>
            </a:r>
            <a:r>
              <a:rPr lang="en-US" altLang="zh-CN"/>
              <a:t>”“</a:t>
            </a:r>
            <a:r>
              <a:rPr lang="zh-CN" altLang="en-US"/>
              <a:t>做好的标准</a:t>
            </a:r>
            <a:r>
              <a:rPr lang="en-US" altLang="zh-CN"/>
              <a:t>”</a:t>
            </a:r>
            <a:r>
              <a:rPr lang="zh-CN" altLang="en-US"/>
              <a:t>三点内容。按照流程进程先后进行文字描述，并以数字对进程先后标号，如同绘制一幅详细的地图，为每一步行动提供明确指引，使执行者清楚自身职责、操作方法和预期成果。</a:t>
            </a:r>
            <a:r>
              <a:rPr lang="en-US" altLang="zh-CN"/>
              <a:t>
</a:t>
            </a:r>
            <a:r>
              <a:rPr lang="zh-CN" altLang="en-US"/>
              <a:t>第三段则阐述该流程工作或活动运行达到的目的。这是对整个流程意义的总结和升华，让参与者明白所做工作的价值和影响，激励他们更积极地投入其中。三段式结构相互配合，共同构成一个完整的流程说明文件，确保流程的顺利运行和目标的实现。</a:t>
            </a:r>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在跨职能流程框架中，线索管理作为二级流程具有至关重要的地位，它是企业业务顺利开展的关键环节。从整个业务流程来看，线索管理就像是一座桥梁，连接着市场前端的潜在客户发现和后端的销售转化。</a:t>
            </a:r>
            <a:r>
              <a:rPr lang="en-US" altLang="zh-CN"/>
              <a:t>
</a:t>
            </a:r>
            <a:r>
              <a:rPr lang="zh-CN" altLang="en-US"/>
              <a:t>在实际操作中，线索管理流程涵盖了线索的收集、筛选、分配和跟进等多个关键步骤。收集环节，需要整合各种渠道的潜在客户信息，这要求我们具备敏锐的市场洞察力和多元化的信息获取能力。筛选环节，则要精准判断线索的质量和价值，区分出哪些是真正有潜力转化的优质线索，哪些是无效或低价值线索。分配环节，要根据销售团队的专业能力和业务范围，合理地将线索分配给合适的销售人员，以提高线索转化的效率。跟进环节，销售人员需要与潜在客户保持密切沟通，了解他们的需求和痛点，及时提供解决方案，推动线索向订单的转化。</a:t>
            </a:r>
            <a:r>
              <a:rPr lang="en-US" altLang="zh-CN"/>
              <a:t>
</a:t>
            </a:r>
            <a:r>
              <a:rPr lang="zh-CN" altLang="en-US"/>
              <a:t>线索管理流程的有效实施，能够为企业带来显著的效益。一方面，它可以提高销售团队的工作效率，避免资源的浪费，使销售精力集中在高价值线索上；另一方面，它有助于提升客户满意度，通过及时、专业的跟进，增强潜在客户对企业的信任和认可，从而促进业务的长期发展。</a:t>
            </a:r>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现在聚焦二级流程示例中的线索管理这一主题。线索管理在整个业务流程里占据着关键位置，如同精密仪器中的重要部件，对业务的开展有着深远的影响。</a:t>
            </a:r>
            <a:r>
              <a:rPr lang="en-US" altLang="zh-CN"/>
              <a:t>
</a:t>
            </a:r>
            <a:r>
              <a:rPr lang="zh-CN" altLang="en-US"/>
              <a:t>线索管理的重要性不言而喻。它是业务流程的起点，优质的线索管理能够为后续的业务推进提供坚实的基础。有效的线索管理可以筛选出有价值的线索，避免资源的浪费，提高业务效率。</a:t>
            </a:r>
            <a:r>
              <a:rPr lang="en-US" altLang="zh-CN"/>
              <a:t>
</a:t>
            </a:r>
            <a:r>
              <a:rPr lang="zh-CN" altLang="en-US"/>
              <a:t>在实际操作中，线索管理需要遵循一定的序号规则。序号不仅是一种标识，更是一种逻辑顺序的体现。通过合理的序号编排，可以清晰地展示线索的来源、处理进度等信息，便于团队成员之间的协作和沟通。</a:t>
            </a:r>
            <a:r>
              <a:rPr lang="en-US" altLang="zh-CN"/>
              <a:t>
</a:t>
            </a:r>
            <a:r>
              <a:rPr lang="zh-CN" altLang="en-US"/>
              <a:t>同时，线索管理的序号规则需要与整个业务流程相匹配。它要能够适应业务的变化和发展，及时调整和优化。只有这样，才能确保线索管理的有效性和高效性，为业务的成功奠定坚实的基础。</a:t>
            </a:r>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此次聚焦二级流程示例中的线索管理。线索管理在企业流程管理里占据关键地位，是连接市场与销售的重要环节。合理的线索管理流程能够提高销售效率，降低成本，为企业带来更多的商业机会。</a:t>
            </a:r>
            <a:r>
              <a:rPr lang="en-US" altLang="zh-CN"/>
              <a:t>
</a:t>
            </a:r>
            <a:r>
              <a:rPr lang="zh-CN" altLang="en-US"/>
              <a:t>线索管理流程一般包含线索的收集、评估、分配、跟进等环节。收集线索需运用多种渠道，如市场活动、网络营销、客户推荐等，以确保获取足够的潜在客户信息。评估线索则要依据一定的标准，筛选出有价值的线索，提高销售转化率。分配线索需根据销售人员的能力和业务范围，合理分配线索，确保线索得到及时有效的跟进。跟进线索则需要销售人员与潜在客户保持密切的沟通，了解客户需求，提供解决方案，促进销售成交。</a:t>
            </a:r>
            <a:r>
              <a:rPr lang="en-US" altLang="zh-CN"/>
              <a:t>
</a:t>
            </a:r>
            <a:r>
              <a:rPr lang="zh-CN" altLang="en-US"/>
              <a:t>通过对线索管理流程的优化和改进，企业能够更好地管理潜在客户，提高销售效率和业绩。同时，线索管理流程的规范化和标准化也有助于提高企业的管理水平和运营效率。因此，企业应重视线索管理流程的建设和优化，不断提升自身的竞争力。</a:t>
            </a:r>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跨职能流程在企业组织管理中有着重要的划分，具体分为跨部门流程、跨班组流程以及跨岗位流程。这一划分方式，为企业合理设置组织架构提供了清晰的指引。</a:t>
            </a:r>
            <a:r>
              <a:rPr lang="en-US" altLang="zh-CN"/>
              <a:t>
</a:t>
            </a:r>
            <a:r>
              <a:rPr lang="zh-CN" altLang="en-US"/>
              <a:t>通过跨职能流程来设置部门、班组和岗位，是一种基于流程职能分工的科学方法。一级流程的职能分工是设置各部门的依据，这意味着企业在规划部门时，要充分考虑一级流程所涉及的各项职能，确保部门的设置能够与流程紧密配合，实现高效协作。</a:t>
            </a:r>
            <a:r>
              <a:rPr lang="en-US" altLang="zh-CN"/>
              <a:t>
</a:t>
            </a:r>
            <a:r>
              <a:rPr lang="zh-CN" altLang="en-US"/>
              <a:t>二级流程的职能分工则用于合理设置各班组。班组作为企业的基层组织，其设置的合理性直接影响到工作的执行效率。根据二级流程的要求来组建班组，能够使班组的工作更加聚焦，提高工作的专业性和协同性。</a:t>
            </a:r>
            <a:r>
              <a:rPr lang="en-US" altLang="zh-CN"/>
              <a:t>
</a:t>
            </a:r>
            <a:r>
              <a:rPr lang="zh-CN" altLang="en-US"/>
              <a:t>三级流程的职能分工决定了岗位的设置。岗位是企业最基本的工作单元，明确每个岗位在三级流程中的职责和任务，能够让员工清楚自己的工作方向和目标，从而提高工作质量和效率。</a:t>
            </a:r>
            <a:r>
              <a:rPr lang="en-US" altLang="zh-CN"/>
              <a:t>
</a:t>
            </a:r>
            <a:r>
              <a:rPr lang="zh-CN" altLang="en-US"/>
              <a:t>总之，依据跨职能流程的不同层级来设置部门、班组和岗位，能够使企业的组织架构更加科学合理，提高企业的整体运营效率。</a:t>
            </a:r>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流程管理实施过程中，项目幸福度即企业收益度与项目组人员满意度之和，并非平稳上升，而是呈波动发展态势。在初始阶段，人们往往带着好奇投身其中，对流程管理充满期待。然而，随之而来的便是</a:t>
            </a:r>
            <a:r>
              <a:rPr lang="en-US" altLang="zh-CN"/>
              <a:t>“</a:t>
            </a:r>
            <a:r>
              <a:rPr lang="zh-CN" altLang="en-US"/>
              <a:t>观望</a:t>
            </a:r>
            <a:r>
              <a:rPr lang="en-US" altLang="zh-CN"/>
              <a:t>”</a:t>
            </a:r>
            <a:r>
              <a:rPr lang="zh-CN" altLang="en-US"/>
              <a:t>时期，大家会谨慎观察流程推进的效果与走向，内心存在一定疑虑。</a:t>
            </a:r>
            <a:r>
              <a:rPr lang="en-US" altLang="zh-CN"/>
              <a:t>
</a:t>
            </a:r>
            <a:r>
              <a:rPr lang="zh-CN" altLang="en-US"/>
              <a:t>紧接着，可能会进入</a:t>
            </a:r>
            <a:r>
              <a:rPr lang="en-US" altLang="zh-CN"/>
              <a:t>“</a:t>
            </a:r>
            <a:r>
              <a:rPr lang="zh-CN" altLang="en-US"/>
              <a:t>混乱</a:t>
            </a:r>
            <a:r>
              <a:rPr lang="en-US" altLang="zh-CN"/>
              <a:t>”</a:t>
            </a:r>
            <a:r>
              <a:rPr lang="zh-CN" altLang="en-US"/>
              <a:t>阶段，这是因为流程管理的实施并非一帆风顺，新流程与旧习惯的冲突、人员对新流程的不熟悉等，都可能导致工作出现混乱。但当顺利度过这一阶段，进入</a:t>
            </a:r>
            <a:r>
              <a:rPr lang="en-US" altLang="zh-CN"/>
              <a:t>“</a:t>
            </a:r>
            <a:r>
              <a:rPr lang="zh-CN" altLang="en-US"/>
              <a:t>控制</a:t>
            </a:r>
            <a:r>
              <a:rPr lang="en-US" altLang="zh-CN"/>
              <a:t>”</a:t>
            </a:r>
            <a:r>
              <a:rPr lang="zh-CN" altLang="en-US"/>
              <a:t>时期，意味着对流程有了一定的掌控能力。之后达到</a:t>
            </a:r>
            <a:r>
              <a:rPr lang="en-US" altLang="zh-CN"/>
              <a:t>“</a:t>
            </a:r>
            <a:r>
              <a:rPr lang="zh-CN" altLang="en-US"/>
              <a:t>满意</a:t>
            </a:r>
            <a:r>
              <a:rPr lang="en-US" altLang="zh-CN"/>
              <a:t>”</a:t>
            </a:r>
            <a:r>
              <a:rPr lang="zh-CN" altLang="en-US"/>
              <a:t>和</a:t>
            </a:r>
            <a:r>
              <a:rPr lang="en-US" altLang="zh-CN"/>
              <a:t>“</a:t>
            </a:r>
            <a:r>
              <a:rPr lang="zh-CN" altLang="en-US"/>
              <a:t>稳定</a:t>
            </a:r>
            <a:r>
              <a:rPr lang="en-US" altLang="zh-CN"/>
              <a:t>”</a:t>
            </a:r>
            <a:r>
              <a:rPr lang="zh-CN" altLang="en-US"/>
              <a:t>阶段，项目组人员能适应流程，企业也开始收获一定收益。</a:t>
            </a:r>
            <a:r>
              <a:rPr lang="en-US" altLang="zh-CN"/>
              <a:t>
</a:t>
            </a:r>
            <a:r>
              <a:rPr lang="zh-CN" altLang="en-US"/>
              <a:t>最为关键的是</a:t>
            </a:r>
            <a:r>
              <a:rPr lang="en-US" altLang="zh-CN"/>
              <a:t>“</a:t>
            </a:r>
            <a:r>
              <a:rPr lang="zh-CN" altLang="en-US"/>
              <a:t>持续改善</a:t>
            </a:r>
            <a:r>
              <a:rPr lang="en-US" altLang="zh-CN"/>
              <a:t>”</a:t>
            </a:r>
            <a:r>
              <a:rPr lang="zh-CN" altLang="en-US"/>
              <a:t>阶段，一旦顺利抵达并坚持下去，幸福度便能持续走高。这表明持续优化流程能不断提升企业效益和人员满意度，推动项目迈向更高水平。所以，我们应坚定信心，不断改进流程，以实现项目幸福度的持续提升。</a:t>
            </a:r>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流程优化并非完全由时间决定，而是受环境变化、竞争者行为变化和客户需求变化这三个变量的影响。</a:t>
            </a:r>
            <a:r>
              <a:rPr lang="en-US" altLang="zh-CN"/>
              <a:t>
</a:t>
            </a:r>
            <a:r>
              <a:rPr lang="zh-CN" altLang="en-US"/>
              <a:t>环境变化是推动流程改变的重要因素。当组织引入新设备或新的信息系统时，原有的流程往往需要做出调整。就像随着信息系统的普及，扫码点餐在服务机构中逐渐成为主流。这一变化使得人工点餐流程逐渐被取代，服务人员的工作内容也从单纯的点餐服务转变为引导客户使用网上点餐或订餐系统。这不仅提高了点餐效率，也提升了客户的用餐体验。</a:t>
            </a:r>
            <a:r>
              <a:rPr lang="en-US" altLang="zh-CN"/>
              <a:t>
</a:t>
            </a:r>
            <a:r>
              <a:rPr lang="zh-CN" altLang="en-US"/>
              <a:t>这启示我们，企业需要敏锐地感知环境的变化，及时调整流程，以适应新的发展需求。只有这样，企业才能在不断变化的市场环境中保持竞争力，实现可持续发展。</a:t>
            </a:r>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商业竞争的浪潮中，竞争者行为的变化犹如一颗投入平静湖面的石子，会引发一系列的连锁反应，进而推动同行的流程升级。当某个企业采取了更具竞争力的行为时，同行往往会敏锐地捕捉到这一动态，并选择效仿，以保持自身的竞争力。</a:t>
            </a:r>
            <a:r>
              <a:rPr lang="en-US" altLang="zh-CN"/>
              <a:t>
</a:t>
            </a:r>
            <a:r>
              <a:rPr lang="zh-CN" altLang="en-US"/>
              <a:t>以超市行业为例，</a:t>
            </a:r>
            <a:r>
              <a:rPr lang="en-US" altLang="zh-CN"/>
              <a:t>“</a:t>
            </a:r>
            <a:r>
              <a:rPr lang="zh-CN" altLang="en-US"/>
              <a:t>多点</a:t>
            </a:r>
            <a:r>
              <a:rPr lang="en-US" altLang="zh-CN"/>
              <a:t>”</a:t>
            </a:r>
            <a:r>
              <a:rPr lang="zh-CN" altLang="en-US"/>
              <a:t>信息系统的引进就是一个典型的案例。这一系统能够精准了解客户的购买偏好，使超市可以进行精准的产品和服务信息推送。这种精准营销的方式不仅能够提高客户的购物体验，还能增加超市的销售额。然而，这一创新举措也意味着超市的收银流程需要进行相应的调整。</a:t>
            </a:r>
            <a:r>
              <a:rPr lang="en-US" altLang="zh-CN"/>
              <a:t>
</a:t>
            </a:r>
            <a:r>
              <a:rPr lang="zh-CN" altLang="en-US"/>
              <a:t>这背后反映出的是市场竞争的本质</a:t>
            </a:r>
            <a:r>
              <a:rPr lang="en-US" altLang="zh-CN"/>
              <a:t>——</a:t>
            </a:r>
            <a:r>
              <a:rPr lang="zh-CN" altLang="en-US"/>
              <a:t>不断创新和适应变化。企业不能固步自封，必须时刻关注竞争者的动态，及时调整自身的流程和策略。只有这样，才能在激烈的市场竞争中立于不败之地。就像逆水行舟，不进则退，企业唯有不断学习和改进，才能跟上市场的步伐，实现持续发展。</a:t>
            </a:r>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企业若想让流程简单高效且落到实处，可从三方面着手。首先，简化流程，减少不必要的环节。这就如同清理复杂的河道，去除那些阻碍水流的杂物，让流程像清澈的河水一样顺畅流动。很多时候，企业流程中存在着一些冗余的步骤，它们不仅耗费时间和资源，还可能导致信息传递的延误和偏差。通过精简流程，能提高工作效率，让团队成员将精力集中在关键业务上。</a:t>
            </a:r>
            <a:r>
              <a:rPr lang="en-US" altLang="zh-CN"/>
              <a:t>
</a:t>
            </a:r>
            <a:r>
              <a:rPr lang="zh-CN" altLang="en-US"/>
              <a:t>其次，只按流程做事，不按命令做事。流程是经过科学设计和实践验证的工作方式，它代表着一种规范化和标准化。如果随意听从命令而忽视流程，就会破坏流程的稳定性和权威性，导致工作的混乱和无序。就像交通规则一样，大家都遵守规则，交通才能有序运行。按流程做事能确保工作的质量和一致性，避免个人主观因素的干扰。</a:t>
            </a:r>
            <a:r>
              <a:rPr lang="en-US" altLang="zh-CN"/>
              <a:t>
</a:t>
            </a:r>
            <a:r>
              <a:rPr lang="zh-CN" altLang="en-US"/>
              <a:t>最后，执行人直接负责，领导不过多干预。执行人是最了解具体工作情况的人，赋予他们直接负责的权力，能激发他们的责任感和主动性。领导过多干预可能会束缚执行人的手脚，抑制他们的创造力和积极性。领导应扮演好监督和支持的角色，为执行人提供必要的资源和指导，让他们在自己的职责范围内充分发挥能力。</a:t>
            </a:r>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企业操作系统》中有个精妙比喻，人就像珍珠，而企业流程则是串起珍珠的线。珍珠若只是零散分布，其价值难以充分展现，只有被线串在一起，才能成为更具价值的饰品。企业中的人才亦是如此，流程就是将人才凝聚起来、发挥更大效能的关键因素。</a:t>
            </a:r>
            <a:r>
              <a:rPr lang="en-US" altLang="zh-CN"/>
              <a:t>
</a:t>
            </a:r>
            <a:r>
              <a:rPr lang="zh-CN" altLang="en-US"/>
              <a:t>为何同一个人，在管理无序的企业中难以施展拳脚，而在管理有序的企业里却能大放光彩？这背后的核心原因就是流程的差异。管理无序的企业，流程往往混乱不堪，人才在其中会受到诸多掣肘，难以按照自己的能力和意愿开展工作。而管理有序的企业，拥有简洁高效的流程，这为人才提供了清晰的工作路径和明确的目标，减少了不必要的内耗和干扰，让人才能够专注于发挥自己的优势。</a:t>
            </a:r>
            <a:r>
              <a:rPr lang="en-US" altLang="zh-CN"/>
              <a:t>
</a:t>
            </a:r>
            <a:r>
              <a:rPr lang="zh-CN" altLang="en-US"/>
              <a:t>由此可见，简洁高效的流程就像是人才的催化剂，能够让人才的价值实现倍增。企业若想充分发挥人才的潜力，就必须重视流程的建设和优化。</a:t>
            </a:r>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现在我们来复盘企业运行系统框架。企业运行系统主要由三部分构成。</a:t>
            </a:r>
            <a:r>
              <a:rPr lang="en-US" altLang="zh-CN"/>
              <a:t>
</a:t>
            </a:r>
            <a:r>
              <a:rPr lang="zh-CN" altLang="en-US"/>
              <a:t>第一部分是操作系统，它是整个企业运行系统的基础，如同大厦的根基一般。操作系统构建为企业提供了最基本的运行规则和架构，是企业各项活动有序开展的保障。</a:t>
            </a:r>
            <a:r>
              <a:rPr lang="en-US" altLang="zh-CN"/>
              <a:t>
</a:t>
            </a:r>
            <a:r>
              <a:rPr lang="zh-CN" altLang="en-US"/>
              <a:t>第二部分是管控系统，它承担着监督和调控企业运行的重要职责。就像交通警察指挥交通一样，管控系统确保企业的各项流程和活动都在合理的轨道上运行，避免出现混乱和失控的情况。</a:t>
            </a:r>
            <a:r>
              <a:rPr lang="en-US" altLang="zh-CN"/>
              <a:t>
</a:t>
            </a:r>
            <a:r>
              <a:rPr lang="zh-CN" altLang="en-US"/>
              <a:t>第三部分是应用系统，它是企业运行系统与实际业务相结合的部分。应用系统直接服务于企业的各项业务，帮助企业实现具体的目标和任务，就像是企业的</a:t>
            </a:r>
            <a:r>
              <a:rPr lang="en-US" altLang="zh-CN"/>
              <a:t>“</a:t>
            </a:r>
            <a:r>
              <a:rPr lang="zh-CN" altLang="en-US"/>
              <a:t>武器库</a:t>
            </a:r>
            <a:r>
              <a:rPr lang="en-US" altLang="zh-CN"/>
              <a:t>”</a:t>
            </a:r>
            <a:r>
              <a:rPr lang="zh-CN" altLang="en-US"/>
              <a:t>，为企业在市场竞争中提供有力的支持。</a:t>
            </a:r>
            <a:r>
              <a:rPr lang="en-US" altLang="zh-CN"/>
              <a:t>
</a:t>
            </a:r>
            <a:r>
              <a:rPr lang="zh-CN" altLang="en-US"/>
              <a:t>而运行系统管理与实施则贯穿于这三个部分，将它们有机地结合在一起，确保企业运行系统能够高效、稳定地运行。总之，清晰地理解和把握企业运行系统框架，对于企业的发展至关重要。</a:t>
            </a:r>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各位，今天我们一同探讨了企业流程管理的诸多要点。跨职能流程的合理设置、流程管理实施路线上的幸福曲线、流程优化的关键变量以及让流程简单高效的方法等内容，都让我们深刻认识到企业流程就如同串起珍珠的那条线，能让人才价值倍增。时代不断变化，企业的流程也需顺势而变，学习、迭代、思考与创造是我们跟上甚至引领时代的法宝。感谢大家的聆听与参与，希望大家能将这些理念运用到实际工作中，在不断优化企业流程的道路上持续前行，共同创造企业更加美好的未来！谢谢！</a:t>
            </a:r>
            <a:endParaRPr lang="zh-CN" altLang="en-US"/>
          </a:p>
        </p:txBody>
      </p:sp>
      <p:sp>
        <p:nvSpPr>
          <p:cNvPr id="4" name="灯片编号占位符 3"/>
          <p:cNvSpPr>
            <a:spLocks noGrp="1"/>
          </p:cNvSpPr>
          <p:nvPr>
            <p:ph type="sldNum" sz="quarter" idx="5"/>
          </p:nvPr>
        </p:nvSpPr>
        <p:spPr/>
        <p:txBody>
          <a:bodyPr/>
          <a:p>
            <a:fld id="{39BFEB8F-72F4-45AF-99ED-E06CDC71B07A}" type="slidenum">
              <a:rPr lang="en-US" altLang="zh-CN"/>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4179E91-0FA9-452E-8CC1-92285D84157C}"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CC5067C-D5FA-4ECE-B93F-08FC86BD5AFF}"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2B24EC01-4815-4F2E-888D-6AFA63B602A5}"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6081ADE-F651-44B0-B4A6-B28E80E2501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36FCB94-CF6A-4184-B220-4BCA82E7DB8E}"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3558F28-63DE-4A69-B1BC-37157B6F6BF2}"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FEB3438-D9C4-4B76-9CCE-746E4F416E69}"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2CB1BFD1-AD26-45E2-B119-B2A8877BCE60}"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82F1744-6E94-4664-88AE-7E77C8BE24BF}"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B1F3D9F-6EB2-4516-93D2-34A5FF40FC89}"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D0E016A-00F6-46F2-B09D-4AE6E848E6CB}"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57809"/>
            <a:ext cx="8266043" cy="1332879"/>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0C25E6-D6E3-4A4C-A1D5-80F69D656A93}"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15891"/>
            <a:ext cx="2743200" cy="365125"/>
          </a:xfrm>
          <a:prstGeom prst="rect">
            <a:avLst/>
          </a:prstGeom>
        </p:spPr>
        <p:txBody>
          <a:bodyPr vert="horz" lIns="91440" tIns="45720" rIns="91440" bIns="45720" rtlCol="0" anchor="ctr"/>
          <a:lstStyle>
            <a:lvl1pPr algn="r">
              <a:defRPr sz="1800">
                <a:solidFill>
                  <a:schemeClr val="tx1">
                    <a:tint val="75000"/>
                  </a:schemeClr>
                </a:solidFill>
                <a:latin typeface="微软雅黑" panose="020B0503020204020204" pitchFamily="34" charset="-122"/>
                <a:ea typeface="微软雅黑" panose="020B0503020204020204" pitchFamily="34" charset="-122"/>
              </a:defRPr>
            </a:lvl1pPr>
          </a:lstStyle>
          <a:p>
            <a:fld id="{2B2480BF-4544-46C3-88FF-29CB4BD8896C}" type="slidenum">
              <a:rPr lang="zh-CN" altLang="en-US" smtClean="0"/>
            </a:fld>
            <a:endParaRPr lang="zh-CN" altLang="en-US"/>
          </a:p>
        </p:txBody>
      </p:sp>
      <p:pic>
        <p:nvPicPr>
          <p:cNvPr id="7" name="图片 6" descr="C:\Users\YL\Desktop\公司资料\1.总经办\3.文档模板\图标\85f9280f172e3125306d265b1b2c586 - 副本.jpg85f9280f172e3125306d265b1b2c586 - 副本"/>
          <p:cNvPicPr>
            <a:picLocks noChangeAspect="1"/>
          </p:cNvPicPr>
          <p:nvPr userDrawn="1"/>
        </p:nvPicPr>
        <p:blipFill>
          <a:blip r:embed="rId12"/>
          <a:srcRect/>
          <a:stretch>
            <a:fillRect/>
          </a:stretch>
        </p:blipFill>
        <p:spPr>
          <a:xfrm>
            <a:off x="9273886" y="68896"/>
            <a:ext cx="2705735" cy="662940"/>
          </a:xfrm>
          <a:prstGeom prst="rect">
            <a:avLst/>
          </a:prstGeom>
        </p:spPr>
      </p:pic>
      <p:sp>
        <p:nvSpPr>
          <p:cNvPr id="8" name="Rectangle 9"/>
          <p:cNvSpPr/>
          <p:nvPr userDrawn="1"/>
        </p:nvSpPr>
        <p:spPr>
          <a:xfrm>
            <a:off x="12001846" y="2011680"/>
            <a:ext cx="190154"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6"/>
          <p:cNvSpPr/>
          <p:nvPr userDrawn="1"/>
        </p:nvSpPr>
        <p:spPr>
          <a:xfrm>
            <a:off x="12001846" y="0"/>
            <a:ext cx="190153" cy="21336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accent1">
                  <a:lumMod val="75000"/>
                </a:schemeClr>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0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6.xml"/><Relationship Id="rId2" Type="http://schemas.openxmlformats.org/officeDocument/2006/relationships/tags" Target="../tags/tag3.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notesSlide" Target="../notesSlides/notesSlide58.xml"/><Relationship Id="rId7"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tags" Target="../tags/tag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6.xml.rels><?xml version="1.0" encoding="UTF-8" standalone="yes"?>
<Relationships xmlns="http://schemas.openxmlformats.org/package/2006/relationships"><Relationship Id="rId6" Type="http://schemas.openxmlformats.org/officeDocument/2006/relationships/notesSlide" Target="../notesSlides/notesSlide76.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tags" Target="../tags/tag5.xml"/></Relationships>
</file>

<file path=ppt/slides/_rels/slide77.xml.rels><?xml version="1.0" encoding="UTF-8" standalone="yes"?>
<Relationships xmlns="http://schemas.openxmlformats.org/package/2006/relationships"><Relationship Id="rId6" Type="http://schemas.openxmlformats.org/officeDocument/2006/relationships/notesSlide" Target="../notesSlides/notesSlide77.xml"/><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image" Target="../media/image7.emf"/><Relationship Id="rId2" Type="http://schemas.openxmlformats.org/officeDocument/2006/relationships/oleObject" Target="../embeddings/oleObject2.bin"/><Relationship Id="rId1" Type="http://schemas.openxmlformats.org/officeDocument/2006/relationships/tags" Target="../tags/tag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占位符 6" descr="b082446323a0a41e37b9848b75d577bc"/>
          <p:cNvPicPr>
            <a:picLocks noChangeAspect="1"/>
          </p:cNvPicPr>
          <p:nvPr/>
        </p:nvPicPr>
        <p:blipFill>
          <a:blip r:embed="rId1"/>
          <a:stretch>
            <a:fillRect/>
          </a:stretch>
        </p:blipFill>
        <p:spPr>
          <a:xfrm>
            <a:off x="96947" y="0"/>
            <a:ext cx="11840845" cy="4846320"/>
          </a:xfrm>
          <a:prstGeom prst="rect">
            <a:avLst/>
          </a:prstGeom>
        </p:spPr>
      </p:pic>
      <p:sp>
        <p:nvSpPr>
          <p:cNvPr id="2" name="文本框 1"/>
          <p:cNvSpPr txBox="1"/>
          <p:nvPr/>
        </p:nvSpPr>
        <p:spPr>
          <a:xfrm>
            <a:off x="389255" y="4846320"/>
            <a:ext cx="10485755" cy="1753235"/>
          </a:xfrm>
          <a:prstGeom prst="rect">
            <a:avLst/>
          </a:prstGeom>
          <a:noFill/>
        </p:spPr>
        <p:txBody>
          <a:bodyPr wrap="square" rtlCol="0">
            <a:spAutoFit/>
          </a:bodyPr>
          <a:lstStyle/>
          <a:p>
            <a:pPr>
              <a:lnSpc>
                <a:spcPct val="150000"/>
              </a:lnSpc>
            </a:pPr>
            <a:r>
              <a:rPr lang="en-US" altLang="zh-CN" sz="2800" b="1" dirty="0">
                <a:solidFill>
                  <a:schemeClr val="tx1"/>
                </a:solidFill>
                <a:latin typeface="微软雅黑" panose="020B0503020204020204" pitchFamily="34" charset="-122"/>
                <a:ea typeface="微软雅黑" panose="020B0503020204020204" pitchFamily="34" charset="-122"/>
              </a:rPr>
              <a:t>《</a:t>
            </a:r>
            <a:r>
              <a:rPr lang="zh-CN" altLang="en-US" sz="2800" b="1" dirty="0">
                <a:solidFill>
                  <a:schemeClr val="tx1"/>
                </a:solidFill>
                <a:latin typeface="微软雅黑" panose="020B0503020204020204" pitchFamily="34" charset="-122"/>
                <a:ea typeface="微软雅黑" panose="020B0503020204020204" pitchFamily="34" charset="-122"/>
              </a:rPr>
              <a:t>道简网络运行系统</a:t>
            </a:r>
            <a:r>
              <a:rPr lang="en-US" altLang="zh-CN" sz="2800" b="1" dirty="0">
                <a:solidFill>
                  <a:schemeClr val="tx1"/>
                </a:solidFill>
                <a:latin typeface="微软雅黑" panose="020B0503020204020204" pitchFamily="34" charset="-122"/>
                <a:ea typeface="微软雅黑" panose="020B0503020204020204" pitchFamily="34" charset="-122"/>
              </a:rPr>
              <a:t>》</a:t>
            </a:r>
            <a:r>
              <a:rPr lang="zh-CN" altLang="en-US" sz="2800" b="1" dirty="0">
                <a:solidFill>
                  <a:schemeClr val="tx1"/>
                </a:solidFill>
                <a:latin typeface="微软雅黑" panose="020B0503020204020204" pitchFamily="34" charset="-122"/>
                <a:ea typeface="微软雅黑" panose="020B0503020204020204" pitchFamily="34" charset="-122"/>
              </a:rPr>
              <a:t>之</a:t>
            </a:r>
            <a:endParaRPr lang="zh-CN" altLang="en-US" sz="2800" b="1" dirty="0">
              <a:solidFill>
                <a:schemeClr val="tx1"/>
              </a:solidFill>
              <a:latin typeface="微软雅黑" panose="020B0503020204020204" pitchFamily="34" charset="-122"/>
              <a:ea typeface="微软雅黑" panose="020B0503020204020204" pitchFamily="34" charset="-122"/>
            </a:endParaRPr>
          </a:p>
          <a:p>
            <a:pPr algn="ctr">
              <a:lnSpc>
                <a:spcPct val="150000"/>
              </a:lnSpc>
            </a:pPr>
            <a:r>
              <a:rPr lang="zh-CN" altLang="en-US" sz="4400" b="1" dirty="0">
                <a:latin typeface="微软雅黑" panose="020B0503020204020204" pitchFamily="34" charset="-122"/>
                <a:ea typeface="微软雅黑" panose="020B0503020204020204" pitchFamily="34" charset="-122"/>
              </a:rPr>
              <a:t>道简网络操作系统培训</a:t>
            </a:r>
            <a:endParaRPr lang="en-US" altLang="zh-CN" sz="4400" b="1"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373505"/>
            <a:ext cx="10515600" cy="4351338"/>
          </a:xfrm>
        </p:spPr>
        <p:txBody>
          <a:bodyPr>
            <a:normAutofit/>
          </a:bodyPr>
          <a:lstStyle/>
          <a:p>
            <a:pPr marL="0" indent="0">
              <a:lnSpc>
                <a:spcPct val="150000"/>
              </a:lnSpc>
              <a:buNone/>
            </a:pPr>
            <a:r>
              <a:rPr lang="zh-CN" altLang="en-US" sz="3200" b="1" dirty="0">
                <a:solidFill>
                  <a:schemeClr val="tx1"/>
                </a:solidFill>
              </a:rPr>
              <a:t>由图中现象：</a:t>
            </a:r>
            <a:endParaRPr lang="zh-CN" altLang="en-US" sz="3200" b="1" dirty="0">
              <a:solidFill>
                <a:schemeClr val="tx1"/>
              </a:solidFill>
            </a:endParaRPr>
          </a:p>
          <a:p>
            <a:pPr marL="0" indent="0">
              <a:lnSpc>
                <a:spcPct val="150000"/>
              </a:lnSpc>
              <a:buNone/>
            </a:pPr>
            <a:r>
              <a:rPr lang="zh-CN" altLang="en-US" sz="3200" b="1" dirty="0">
                <a:solidFill>
                  <a:schemeClr val="tx1"/>
                </a:solidFill>
              </a:rPr>
              <a:t>您想到了什么</a:t>
            </a:r>
            <a:r>
              <a:rPr lang="en-US" altLang="zh-CN" sz="3200" b="1" dirty="0">
                <a:solidFill>
                  <a:schemeClr val="tx1"/>
                </a:solidFill>
              </a:rPr>
              <a:t>？</a:t>
            </a:r>
            <a:endParaRPr lang="en-US" altLang="zh-CN" sz="3200" b="1" dirty="0">
              <a:solidFill>
                <a:schemeClr val="tx1"/>
              </a:solidFill>
            </a:endParaRPr>
          </a:p>
          <a:p>
            <a:pPr marL="0" indent="0">
              <a:lnSpc>
                <a:spcPct val="150000"/>
              </a:lnSpc>
              <a:buNone/>
            </a:pPr>
            <a:r>
              <a:rPr lang="zh-CN" altLang="en-US" sz="3200" b="1" dirty="0">
                <a:solidFill>
                  <a:schemeClr val="tx1"/>
                </a:solidFill>
              </a:rPr>
              <a:t>多数企业存在哪些问题</a:t>
            </a:r>
            <a:r>
              <a:rPr lang="en-US" altLang="zh-CN" sz="3200" b="1" dirty="0">
                <a:solidFill>
                  <a:schemeClr val="tx1"/>
                </a:solidFill>
              </a:rPr>
              <a:t>？</a:t>
            </a:r>
            <a:endParaRPr lang="en-US" altLang="zh-CN" sz="3200" b="1" dirty="0">
              <a:solidFill>
                <a:schemeClr val="tx1"/>
              </a:solidFill>
            </a:endParaRPr>
          </a:p>
          <a:p>
            <a:pPr marL="0" indent="0">
              <a:lnSpc>
                <a:spcPct val="150000"/>
              </a:lnSpc>
              <a:buNone/>
            </a:pPr>
            <a:r>
              <a:rPr lang="zh-CN" altLang="en-US" sz="3200" b="1" dirty="0">
                <a:solidFill>
                  <a:schemeClr val="tx1"/>
                </a:solidFill>
              </a:rPr>
              <a:t>问题的根源在哪儿呢</a:t>
            </a:r>
            <a:r>
              <a:rPr lang="en-US" altLang="zh-CN" sz="3200" b="1" dirty="0">
                <a:solidFill>
                  <a:schemeClr val="tx1"/>
                </a:solidFill>
              </a:rPr>
              <a:t>？</a:t>
            </a:r>
            <a:endParaRPr lang="en-US" altLang="zh-CN" sz="32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pic>
        <p:nvPicPr>
          <p:cNvPr id="6" name="图片 5"/>
          <p:cNvPicPr>
            <a:picLocks noChangeAspect="1"/>
          </p:cNvPicPr>
          <p:nvPr/>
        </p:nvPicPr>
        <p:blipFill>
          <a:blip r:embed="rId1"/>
          <a:stretch>
            <a:fillRect/>
          </a:stretch>
        </p:blipFill>
        <p:spPr>
          <a:xfrm>
            <a:off x="5178425" y="1129665"/>
            <a:ext cx="6465570" cy="44227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662305"/>
            <a:ext cx="10515600" cy="5549265"/>
          </a:xfrm>
        </p:spPr>
        <p:txBody>
          <a:bodyPr>
            <a:noAutofit/>
          </a:bodyPr>
          <a:lstStyle/>
          <a:p>
            <a:pPr marL="0" indent="0">
              <a:lnSpc>
                <a:spcPct val="150000"/>
              </a:lnSpc>
              <a:buNone/>
            </a:pPr>
            <a:r>
              <a:rPr lang="zh-CN" altLang="en-US" b="1" dirty="0">
                <a:solidFill>
                  <a:srgbClr val="7030A0"/>
                </a:solidFill>
              </a:rPr>
              <a:t>多数企业存在的问题：</a:t>
            </a:r>
            <a:endParaRPr lang="zh-CN" altLang="en-US" b="1" dirty="0">
              <a:solidFill>
                <a:srgbClr val="7030A0"/>
              </a:solidFill>
            </a:endParaRPr>
          </a:p>
          <a:p>
            <a:pPr marL="0" indent="0">
              <a:lnSpc>
                <a:spcPct val="150000"/>
              </a:lnSpc>
              <a:buNone/>
            </a:pPr>
            <a:r>
              <a:rPr lang="en-US" altLang="zh-CN" sz="2000" b="1" dirty="0">
                <a:solidFill>
                  <a:schemeClr val="tx1"/>
                </a:solidFill>
              </a:rPr>
              <a:t>——</a:t>
            </a:r>
            <a:r>
              <a:rPr lang="zh-CN" altLang="en-US" sz="2000" b="1" dirty="0">
                <a:solidFill>
                  <a:schemeClr val="tx1"/>
                </a:solidFill>
              </a:rPr>
              <a:t>不担当、互相推诿、责任不明；</a:t>
            </a:r>
            <a:endParaRPr lang="zh-CN" altLang="en-US" sz="2000" b="1" dirty="0">
              <a:solidFill>
                <a:schemeClr val="tx1"/>
              </a:solidFill>
            </a:endParaRPr>
          </a:p>
          <a:p>
            <a:pPr marL="0" indent="0">
              <a:lnSpc>
                <a:spcPct val="150000"/>
              </a:lnSpc>
              <a:buNone/>
            </a:pPr>
            <a:r>
              <a:rPr lang="en-US" altLang="zh-CN" sz="2000" b="1" dirty="0">
                <a:solidFill>
                  <a:schemeClr val="tx1"/>
                </a:solidFill>
              </a:rPr>
              <a:t>——</a:t>
            </a:r>
            <a:r>
              <a:rPr lang="zh-CN" altLang="en-US" sz="2000" b="1" dirty="0">
                <a:solidFill>
                  <a:schemeClr val="tx1"/>
                </a:solidFill>
              </a:rPr>
              <a:t>横向沟通障碍，信息不通；</a:t>
            </a:r>
            <a:endParaRPr lang="zh-CN" altLang="en-US" sz="2000" b="1" dirty="0">
              <a:solidFill>
                <a:schemeClr val="tx1"/>
              </a:solidFill>
            </a:endParaRPr>
          </a:p>
          <a:p>
            <a:pPr marL="0" indent="0">
              <a:lnSpc>
                <a:spcPct val="150000"/>
              </a:lnSpc>
              <a:buNone/>
            </a:pPr>
            <a:r>
              <a:rPr lang="en-US" altLang="zh-CN" sz="2000" b="1" dirty="0">
                <a:solidFill>
                  <a:schemeClr val="tx1"/>
                </a:solidFill>
              </a:rPr>
              <a:t>——</a:t>
            </a:r>
            <a:r>
              <a:rPr lang="zh-CN" altLang="en-US" sz="2000" b="1" dirty="0">
                <a:solidFill>
                  <a:schemeClr val="tx1"/>
                </a:solidFill>
              </a:rPr>
              <a:t>部门各自为政、各自护短、协调不畅；</a:t>
            </a:r>
            <a:endParaRPr lang="zh-CN" altLang="en-US" sz="2000" b="1" dirty="0">
              <a:solidFill>
                <a:schemeClr val="tx1"/>
              </a:solidFill>
            </a:endParaRPr>
          </a:p>
          <a:p>
            <a:pPr marL="0" indent="0">
              <a:lnSpc>
                <a:spcPct val="150000"/>
              </a:lnSpc>
              <a:buNone/>
            </a:pPr>
            <a:r>
              <a:rPr lang="en-US" altLang="zh-CN" sz="2000" b="1" dirty="0">
                <a:solidFill>
                  <a:schemeClr val="tx1"/>
                </a:solidFill>
              </a:rPr>
              <a:t>——</a:t>
            </a:r>
            <a:r>
              <a:rPr lang="zh-CN" altLang="en-US" sz="2000" b="1" dirty="0">
                <a:solidFill>
                  <a:schemeClr val="tx1"/>
                </a:solidFill>
              </a:rPr>
              <a:t>上有政策、下有对策，指挥不灵；</a:t>
            </a:r>
            <a:endParaRPr lang="zh-CN" altLang="en-US" sz="2000" b="1" dirty="0">
              <a:solidFill>
                <a:schemeClr val="tx1"/>
              </a:solidFill>
            </a:endParaRPr>
          </a:p>
          <a:p>
            <a:pPr marL="0" indent="0">
              <a:lnSpc>
                <a:spcPct val="150000"/>
              </a:lnSpc>
              <a:buNone/>
            </a:pPr>
            <a:r>
              <a:rPr lang="en-US" altLang="zh-CN" sz="2000" b="1" dirty="0">
                <a:solidFill>
                  <a:schemeClr val="tx1"/>
                </a:solidFill>
              </a:rPr>
              <a:t>——</a:t>
            </a:r>
            <a:r>
              <a:rPr lang="zh-CN" altLang="en-US" sz="2000" b="1" dirty="0">
                <a:solidFill>
                  <a:schemeClr val="tx1"/>
                </a:solidFill>
              </a:rPr>
              <a:t>错误频出、标准不清；</a:t>
            </a:r>
            <a:endParaRPr lang="zh-CN" altLang="en-US" sz="2000" b="1" dirty="0">
              <a:solidFill>
                <a:schemeClr val="tx1"/>
              </a:solidFill>
            </a:endParaRPr>
          </a:p>
          <a:p>
            <a:pPr marL="0" indent="0">
              <a:lnSpc>
                <a:spcPct val="150000"/>
              </a:lnSpc>
              <a:buNone/>
            </a:pPr>
            <a:r>
              <a:rPr lang="en-US" altLang="zh-CN" sz="2000" b="1" dirty="0">
                <a:solidFill>
                  <a:schemeClr val="tx1"/>
                </a:solidFill>
              </a:rPr>
              <a:t>——</a:t>
            </a:r>
            <a:r>
              <a:rPr lang="zh-CN" altLang="en-US" sz="2000" b="1" dirty="0">
                <a:solidFill>
                  <a:schemeClr val="tx1"/>
                </a:solidFill>
              </a:rPr>
              <a:t>执行力低下、重复工作、工作无效；</a:t>
            </a:r>
            <a:endParaRPr lang="zh-CN" altLang="en-US" sz="2000" b="1" dirty="0">
              <a:solidFill>
                <a:schemeClr val="tx1"/>
              </a:solidFill>
            </a:endParaRPr>
          </a:p>
          <a:p>
            <a:pPr marL="0" indent="0">
              <a:lnSpc>
                <a:spcPct val="150000"/>
              </a:lnSpc>
              <a:buNone/>
            </a:pPr>
            <a:r>
              <a:rPr lang="en-US" altLang="zh-CN" sz="2000" b="1" dirty="0">
                <a:solidFill>
                  <a:schemeClr val="tx1"/>
                </a:solidFill>
              </a:rPr>
              <a:t>——</a:t>
            </a:r>
            <a:r>
              <a:rPr lang="zh-CN" altLang="en-US" sz="2000" b="1" dirty="0">
                <a:solidFill>
                  <a:schemeClr val="tx1"/>
                </a:solidFill>
              </a:rPr>
              <a:t>借口多多、结果少少，老板无奈；</a:t>
            </a:r>
            <a:endParaRPr lang="zh-CN" altLang="en-US" sz="2000" b="1" dirty="0">
              <a:solidFill>
                <a:schemeClr val="tx1"/>
              </a:solidFill>
            </a:endParaRPr>
          </a:p>
          <a:p>
            <a:pPr marL="0" indent="0">
              <a:lnSpc>
                <a:spcPct val="150000"/>
              </a:lnSpc>
              <a:buNone/>
            </a:pPr>
            <a:r>
              <a:rPr lang="en-US" altLang="zh-CN" sz="2000" b="1" dirty="0">
                <a:sym typeface="+mn-ea"/>
              </a:rPr>
              <a:t>——</a:t>
            </a:r>
            <a:r>
              <a:rPr lang="en-US" altLang="zh-CN" sz="2000" b="1" dirty="0">
                <a:solidFill>
                  <a:schemeClr val="tx1"/>
                </a:solidFill>
                <a:sym typeface="+mn-ea"/>
              </a:rPr>
              <a:t>……</a:t>
            </a:r>
            <a:endParaRPr lang="en-US" altLang="zh-CN" sz="2000" b="1" dirty="0">
              <a:solidFill>
                <a:schemeClr val="tx1"/>
              </a:solidFill>
              <a:sym typeface="+mn-ea"/>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720090"/>
            <a:ext cx="10515600" cy="5471795"/>
          </a:xfrm>
        </p:spPr>
        <p:txBody>
          <a:bodyPr>
            <a:noAutofit/>
          </a:bodyPr>
          <a:lstStyle/>
          <a:p>
            <a:pPr marL="0" indent="457200" algn="l">
              <a:lnSpc>
                <a:spcPct val="150000"/>
              </a:lnSpc>
              <a:buClrTx/>
              <a:buSzTx/>
              <a:buNone/>
            </a:pPr>
            <a:r>
              <a:rPr lang="zh-CN" altLang="en-US" sz="2800" b="1" dirty="0">
                <a:solidFill>
                  <a:srgbClr val="7030A0"/>
                </a:solidFill>
                <a:sym typeface="+mn-ea"/>
              </a:rPr>
              <a:t>问题的根源在哪里？</a:t>
            </a:r>
            <a:endParaRPr lang="zh-CN" altLang="en-US" sz="2800" b="1" dirty="0">
              <a:solidFill>
                <a:srgbClr val="7030A0"/>
              </a:solidFill>
              <a:sym typeface="+mn-ea"/>
            </a:endParaRPr>
          </a:p>
          <a:p>
            <a:pPr marL="0" indent="457200" algn="ctr">
              <a:lnSpc>
                <a:spcPct val="150000"/>
              </a:lnSpc>
              <a:buClrTx/>
              <a:buSzTx/>
              <a:buNone/>
            </a:pPr>
            <a:r>
              <a:rPr lang="zh-CN" altLang="en-US" b="1" dirty="0">
                <a:solidFill>
                  <a:schemeClr val="tx1"/>
                </a:solidFill>
                <a:sym typeface="+mn-ea"/>
              </a:rPr>
              <a:t>企业缺乏有效的</a:t>
            </a:r>
            <a:r>
              <a:rPr lang="zh-CN" altLang="en-US" b="1" dirty="0">
                <a:solidFill>
                  <a:srgbClr val="FF0000"/>
                </a:solidFill>
                <a:sym typeface="+mn-ea"/>
              </a:rPr>
              <a:t>《企业运行系统》</a:t>
            </a:r>
            <a:r>
              <a:rPr lang="zh-CN" altLang="en-US" b="1" dirty="0">
                <a:solidFill>
                  <a:schemeClr val="tx1"/>
                </a:solidFill>
                <a:sym typeface="+mn-ea"/>
              </a:rPr>
              <a:t>！</a:t>
            </a:r>
            <a:endParaRPr lang="zh-CN" altLang="en-US" b="1" dirty="0">
              <a:solidFill>
                <a:schemeClr val="tx1"/>
              </a:solidFill>
              <a:sym typeface="+mn-ea"/>
            </a:endParaRPr>
          </a:p>
          <a:p>
            <a:pPr marL="0" indent="457200" fontAlgn="auto">
              <a:lnSpc>
                <a:spcPct val="150000"/>
              </a:lnSpc>
              <a:buNone/>
            </a:pPr>
            <a:r>
              <a:rPr lang="zh-CN" altLang="en-US" b="1" dirty="0">
                <a:solidFill>
                  <a:schemeClr val="tx1"/>
                </a:solidFill>
                <a:sym typeface="+mn-ea"/>
              </a:rPr>
              <a:t>《企业运行系统》的本质就是企业把团队中优秀成员大脑中的智慧挖掘呈现出来并形成</a:t>
            </a:r>
            <a:r>
              <a:rPr lang="zh-CN" altLang="en-US" b="1" dirty="0">
                <a:solidFill>
                  <a:srgbClr val="FF0000"/>
                </a:solidFill>
                <a:sym typeface="+mn-ea"/>
              </a:rPr>
              <a:t>集体智慧</a:t>
            </a:r>
            <a:r>
              <a:rPr lang="zh-CN" altLang="en-US" b="1" dirty="0">
                <a:solidFill>
                  <a:schemeClr val="tx1"/>
                </a:solidFill>
                <a:sym typeface="+mn-ea"/>
              </a:rPr>
              <a:t>，</a:t>
            </a:r>
            <a:r>
              <a:rPr lang="zh-CN" altLang="en-US" b="1" dirty="0">
                <a:solidFill>
                  <a:schemeClr val="tx1"/>
                </a:solidFill>
                <a:sym typeface="+mn-ea"/>
              </a:rPr>
              <a:t>进一步规范而形成书面的</a:t>
            </a:r>
            <a:r>
              <a:rPr lang="zh-CN" altLang="en-US" b="1" dirty="0">
                <a:solidFill>
                  <a:srgbClr val="FF0000"/>
                </a:solidFill>
                <a:sym typeface="+mn-ea"/>
              </a:rPr>
              <a:t>无形资产</a:t>
            </a:r>
            <a:r>
              <a:rPr lang="zh-CN" altLang="en-US" b="1" dirty="0">
                <a:solidFill>
                  <a:schemeClr val="tx1"/>
                </a:solidFill>
                <a:sym typeface="+mn-ea"/>
              </a:rPr>
              <a:t>。</a:t>
            </a:r>
            <a:endParaRPr lang="zh-CN" altLang="en-US" b="1" dirty="0">
              <a:solidFill>
                <a:schemeClr val="tx1"/>
              </a:solidFill>
              <a:sym typeface="+mn-ea"/>
            </a:endParaRPr>
          </a:p>
          <a:p>
            <a:pPr marL="0" indent="457200" fontAlgn="auto">
              <a:lnSpc>
                <a:spcPct val="150000"/>
              </a:lnSpc>
              <a:buNone/>
            </a:pPr>
            <a:r>
              <a:rPr lang="zh-CN" altLang="en-US" b="1" dirty="0">
                <a:solidFill>
                  <a:schemeClr val="tx1"/>
                </a:solidFill>
                <a:sym typeface="+mn-ea"/>
              </a:rPr>
              <a:t>企业构建《企业运行系统》的</a:t>
            </a:r>
            <a:r>
              <a:rPr lang="zh-CN" altLang="en-US" b="1" dirty="0">
                <a:solidFill>
                  <a:srgbClr val="FF0000"/>
                </a:solidFill>
                <a:sym typeface="+mn-ea"/>
              </a:rPr>
              <a:t>过程</a:t>
            </a:r>
            <a:r>
              <a:rPr lang="zh-CN" altLang="en-US" b="1" dirty="0">
                <a:solidFill>
                  <a:schemeClr val="tx1"/>
                </a:solidFill>
                <a:sym typeface="+mn-ea"/>
              </a:rPr>
              <a:t>就是企业将众多优秀成员的好经验、好方法沉淀下来并</a:t>
            </a:r>
            <a:r>
              <a:rPr lang="zh-CN" altLang="en-US" b="1" dirty="0">
                <a:solidFill>
                  <a:srgbClr val="FF0000"/>
                </a:solidFill>
                <a:sym typeface="+mn-ea"/>
              </a:rPr>
              <a:t>统一做事标准</a:t>
            </a:r>
            <a:r>
              <a:rPr lang="zh-CN" altLang="en-US" b="1" dirty="0">
                <a:solidFill>
                  <a:schemeClr val="tx1"/>
                </a:solidFill>
                <a:sym typeface="+mn-ea"/>
              </a:rPr>
              <a:t>，</a:t>
            </a:r>
            <a:r>
              <a:rPr lang="zh-CN" altLang="en-US" b="1" dirty="0">
                <a:solidFill>
                  <a:schemeClr val="tx1"/>
                </a:solidFill>
                <a:sym typeface="+mn-ea"/>
              </a:rPr>
              <a:t>进而</a:t>
            </a:r>
            <a:r>
              <a:rPr lang="zh-CN" altLang="en-US" b="1" dirty="0">
                <a:solidFill>
                  <a:srgbClr val="FF0000"/>
                </a:solidFill>
                <a:sym typeface="+mn-ea"/>
              </a:rPr>
              <a:t>模式化达到复制状态</a:t>
            </a:r>
            <a:r>
              <a:rPr lang="zh-CN" altLang="en-US" b="1" dirty="0">
                <a:solidFill>
                  <a:schemeClr val="tx1"/>
                </a:solidFill>
                <a:sym typeface="+mn-ea"/>
              </a:rPr>
              <a:t>的过程。</a:t>
            </a:r>
            <a:endParaRPr lang="zh-CN" altLang="en-US" b="1" dirty="0">
              <a:solidFill>
                <a:schemeClr val="tx1"/>
              </a:solidFill>
              <a:sym typeface="+mn-ea"/>
            </a:endParaRPr>
          </a:p>
          <a:p>
            <a:pPr marL="0" indent="457200" fontAlgn="auto">
              <a:lnSpc>
                <a:spcPct val="150000"/>
              </a:lnSpc>
              <a:buNone/>
            </a:pPr>
            <a:r>
              <a:rPr lang="zh-CN" altLang="en-US" b="1" dirty="0">
                <a:sym typeface="+mn-ea"/>
              </a:rPr>
              <a:t>因此《企业运行系统》就是老员工工作、新员工受训的</a:t>
            </a:r>
            <a:r>
              <a:rPr lang="zh-CN" altLang="en-US" b="1" dirty="0">
                <a:solidFill>
                  <a:srgbClr val="FF0000"/>
                </a:solidFill>
                <a:sym typeface="+mn-ea"/>
              </a:rPr>
              <a:t>教材</a:t>
            </a:r>
            <a:r>
              <a:rPr lang="zh-CN" altLang="en-US" b="1" dirty="0">
                <a:sym typeface="+mn-ea"/>
              </a:rPr>
              <a:t>，</a:t>
            </a:r>
            <a:r>
              <a:rPr lang="zh-CN" altLang="en-US" b="1" dirty="0">
                <a:sym typeface="+mn-ea"/>
              </a:rPr>
              <a:t>彻底解决企业用人难、育人难的难题。</a:t>
            </a:r>
            <a:endParaRPr lang="zh-CN" altLang="en-US" b="1" dirty="0">
              <a:solidFill>
                <a:schemeClr val="tx1"/>
              </a:solidFill>
              <a:sym typeface="+mn-ea"/>
            </a:endParaRPr>
          </a:p>
          <a:p>
            <a:pPr marL="0" indent="457200" fontAlgn="auto">
              <a:lnSpc>
                <a:spcPct val="150000"/>
              </a:lnSpc>
              <a:buNone/>
            </a:pPr>
            <a:endParaRPr lang="zh-CN" altLang="en-US" b="1" dirty="0">
              <a:solidFill>
                <a:schemeClr val="tx1"/>
              </a:solidFill>
              <a:sym typeface="+mn-ea"/>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922020"/>
            <a:ext cx="10515600" cy="5231130"/>
          </a:xfrm>
        </p:spPr>
        <p:txBody>
          <a:bodyPr>
            <a:noAutofit/>
          </a:bodyPr>
          <a:lstStyle/>
          <a:p>
            <a:pPr marL="0" indent="457200" algn="l" fontAlgn="auto">
              <a:lnSpc>
                <a:spcPct val="150000"/>
              </a:lnSpc>
              <a:buNone/>
            </a:pPr>
            <a:endParaRPr lang="zh-CN" altLang="en-US" sz="2800" b="1" dirty="0">
              <a:solidFill>
                <a:schemeClr val="tx1"/>
              </a:solidFill>
              <a:sym typeface="+mn-ea"/>
            </a:endParaRPr>
          </a:p>
          <a:p>
            <a:pPr marL="0" indent="0" algn="ctr">
              <a:lnSpc>
                <a:spcPct val="150000"/>
              </a:lnSpc>
              <a:buNone/>
            </a:pPr>
            <a:r>
              <a:rPr lang="zh-CN" altLang="en-US" sz="4000" b="1" dirty="0">
                <a:solidFill>
                  <a:srgbClr val="7030A0"/>
                </a:solidFill>
                <a:sym typeface="+mn-ea"/>
              </a:rPr>
              <a:t>该如何构建企业运行系统呢</a:t>
            </a:r>
            <a:r>
              <a:rPr lang="en-US" altLang="zh-CN" sz="4000" b="1" dirty="0">
                <a:solidFill>
                  <a:srgbClr val="7030A0"/>
                </a:solidFill>
                <a:sym typeface="+mn-ea"/>
              </a:rPr>
              <a:t>？</a:t>
            </a:r>
            <a:endParaRPr lang="en-US" altLang="zh-CN" sz="4000" b="1" dirty="0">
              <a:solidFill>
                <a:srgbClr val="7030A0"/>
              </a:solidFill>
              <a:sym typeface="+mn-ea"/>
            </a:endParaRPr>
          </a:p>
          <a:p>
            <a:pPr marL="0" indent="0" algn="ctr">
              <a:lnSpc>
                <a:spcPct val="150000"/>
              </a:lnSpc>
              <a:buNone/>
            </a:pPr>
            <a:endParaRPr lang="en-US" altLang="zh-CN" b="1" dirty="0">
              <a:solidFill>
                <a:srgbClr val="7030A0"/>
              </a:solidFill>
              <a:sym typeface="+mn-ea"/>
            </a:endParaRPr>
          </a:p>
          <a:p>
            <a:pPr marL="0" indent="0" algn="ctr">
              <a:lnSpc>
                <a:spcPct val="150000"/>
              </a:lnSpc>
              <a:buNone/>
            </a:pPr>
            <a:r>
              <a:rPr lang="zh-CN" altLang="en-US" sz="2800" b="1" dirty="0">
                <a:solidFill>
                  <a:srgbClr val="FF0000"/>
                </a:solidFill>
                <a:sym typeface="+mn-ea"/>
              </a:rPr>
              <a:t>将成功因子</a:t>
            </a:r>
            <a:r>
              <a:rPr lang="en-US" altLang="zh-CN" sz="2800" b="1" dirty="0">
                <a:solidFill>
                  <a:srgbClr val="00B050"/>
                </a:solidFill>
                <a:sym typeface="+mn-ea"/>
              </a:rPr>
              <a:t>（</a:t>
            </a:r>
            <a:r>
              <a:rPr lang="zh-CN" altLang="en-US" sz="2800" b="1" dirty="0">
                <a:solidFill>
                  <a:srgbClr val="00B050"/>
                </a:solidFill>
                <a:sym typeface="+mn-ea"/>
              </a:rPr>
              <a:t>商业模式</a:t>
            </a:r>
            <a:r>
              <a:rPr lang="en-US" altLang="zh-CN" sz="2800" b="1" dirty="0">
                <a:solidFill>
                  <a:srgbClr val="00B050"/>
                </a:solidFill>
                <a:sym typeface="+mn-ea"/>
              </a:rPr>
              <a:t>）</a:t>
            </a:r>
            <a:r>
              <a:rPr lang="zh-CN" altLang="en-US" sz="2800" b="1" dirty="0">
                <a:solidFill>
                  <a:srgbClr val="FF0000"/>
                </a:solidFill>
                <a:sym typeface="+mn-ea"/>
              </a:rPr>
              <a:t>模式化</a:t>
            </a:r>
            <a:r>
              <a:rPr lang="en-US" altLang="zh-CN" sz="2800" b="1" dirty="0">
                <a:solidFill>
                  <a:srgbClr val="00B050"/>
                </a:solidFill>
                <a:sym typeface="+mn-ea"/>
              </a:rPr>
              <a:t>（</a:t>
            </a:r>
            <a:r>
              <a:rPr lang="zh-CN" altLang="en-US" sz="2800" b="1" dirty="0">
                <a:solidFill>
                  <a:srgbClr val="00B050"/>
                </a:solidFill>
                <a:sym typeface="+mn-ea"/>
              </a:rPr>
              <a:t>标准化、模块化、</a:t>
            </a:r>
            <a:r>
              <a:rPr lang="zh-CN" altLang="en-US" sz="2800" b="1" dirty="0">
                <a:solidFill>
                  <a:srgbClr val="00B050"/>
                </a:solidFill>
                <a:sym typeface="+mn-ea"/>
              </a:rPr>
              <a:t>流程化</a:t>
            </a:r>
            <a:r>
              <a:rPr lang="en-US" altLang="zh-CN" sz="2800" b="1" dirty="0">
                <a:solidFill>
                  <a:srgbClr val="00B050"/>
                </a:solidFill>
                <a:sym typeface="+mn-ea"/>
              </a:rPr>
              <a:t>）</a:t>
            </a:r>
            <a:endParaRPr lang="en-US" altLang="zh-CN" sz="2800" b="1" dirty="0">
              <a:solidFill>
                <a:srgbClr val="00B050"/>
              </a:solidFill>
              <a:sym typeface="+mn-ea"/>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fld id="{2B2480BF-4544-46C3-88FF-29CB4BD8896C}" type="slidenum">
              <a:rPr lang="zh-CN" altLang="en-US" sz="2395" b="1" smtClean="0">
                <a:latin typeface="微软雅黑" panose="020B0503020204020204" pitchFamily="34" charset="-122"/>
                <a:ea typeface="微软雅黑" panose="020B0503020204020204" pitchFamily="34" charset="-122"/>
              </a:rPr>
            </a:fld>
            <a:endParaRPr lang="zh-CN" altLang="en-US" sz="2395" b="1" smtClean="0">
              <a:latin typeface="微软雅黑" panose="020B0503020204020204" pitchFamily="34" charset="-122"/>
              <a:ea typeface="微软雅黑" panose="020B0503020204020204" pitchFamily="34" charset="-122"/>
            </a:endParaRPr>
          </a:p>
        </p:txBody>
      </p:sp>
      <p:sp>
        <p:nvSpPr>
          <p:cNvPr id="5" name="等腰三角形 4"/>
          <p:cNvSpPr/>
          <p:nvPr/>
        </p:nvSpPr>
        <p:spPr>
          <a:xfrm>
            <a:off x="3885883" y="2416810"/>
            <a:ext cx="4419600" cy="2911475"/>
          </a:xfrm>
          <a:prstGeom prst="triangle">
            <a:avLst/>
          </a:prstGeom>
          <a:noFill/>
          <a:ln w="76200">
            <a:solidFill>
              <a:srgbClr val="00206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7" name="内容占位符 6"/>
          <p:cNvSpPr>
            <a:spLocks noGrp="1"/>
          </p:cNvSpPr>
          <p:nvPr>
            <p:ph idx="1"/>
          </p:nvPr>
        </p:nvSpPr>
        <p:spPr>
          <a:xfrm>
            <a:off x="4419283" y="3651885"/>
            <a:ext cx="3353435" cy="1581150"/>
          </a:xfrm>
        </p:spPr>
        <p:txBody>
          <a:bodyPr/>
          <a:p>
            <a:pPr algn="ctr" fontAlgn="auto">
              <a:lnSpc>
                <a:spcPct val="100000"/>
              </a:lnSpc>
              <a:spcBef>
                <a:spcPts val="0"/>
              </a:spcBef>
              <a:spcAft>
                <a:spcPts val="0"/>
              </a:spcAft>
              <a:buNone/>
            </a:pPr>
            <a:r>
              <a:rPr lang="zh-CN" altLang="en-US" sz="3600" b="1"/>
              <a:t>运行系统</a:t>
            </a:r>
            <a:endParaRPr lang="zh-CN" altLang="en-US" sz="3600" b="1"/>
          </a:p>
          <a:p>
            <a:pPr algn="ctr" fontAlgn="auto">
              <a:lnSpc>
                <a:spcPct val="100000"/>
              </a:lnSpc>
              <a:spcBef>
                <a:spcPts val="0"/>
              </a:spcBef>
              <a:spcAft>
                <a:spcPts val="0"/>
              </a:spcAft>
              <a:buNone/>
            </a:pPr>
            <a:r>
              <a:rPr lang="zh-CN" altLang="en-US" sz="3600" b="1"/>
              <a:t>（</a:t>
            </a:r>
            <a:r>
              <a:rPr lang="en-US" altLang="zh-CN" sz="3600" b="1"/>
              <a:t>DJRS</a:t>
            </a:r>
            <a:r>
              <a:rPr lang="zh-CN" altLang="en-US" sz="3600" b="1"/>
              <a:t>）</a:t>
            </a:r>
            <a:endParaRPr lang="zh-CN" altLang="en-US" sz="3600" b="1"/>
          </a:p>
        </p:txBody>
      </p:sp>
      <p:sp>
        <p:nvSpPr>
          <p:cNvPr id="10" name="内容占位符 6"/>
          <p:cNvSpPr>
            <a:spLocks noGrp="1"/>
          </p:cNvSpPr>
          <p:nvPr/>
        </p:nvSpPr>
        <p:spPr>
          <a:xfrm>
            <a:off x="4419918" y="685800"/>
            <a:ext cx="3353435" cy="1581150"/>
          </a:xfrm>
          <a:prstGeom prst="rect">
            <a:avLst/>
          </a:prstGeom>
        </p:spPr>
        <p:txBody>
          <a:bodyPr vert="horz" lIns="91440" tIns="45720" rIns="91440" bIns="45720" rtlCol="0">
            <a:normAutofit/>
          </a:bodyPr>
          <a:lstStyle>
            <a:lvl1pPr marL="0" indent="0" algn="l" defTabSz="914400" rtl="0" eaLnBrk="1" latinLnBrk="0" hangingPunct="1">
              <a:spcBef>
                <a:spcPct val="20000"/>
              </a:spcBef>
              <a:spcAft>
                <a:spcPts val="600"/>
              </a:spcAft>
              <a:buFont typeface="Arial" panose="020B0604020202020204" pitchFamily="34" charset="0"/>
              <a:buNone/>
              <a:defRPr sz="2000" b="1" kern="1200">
                <a:solidFill>
                  <a:schemeClr val="tx1"/>
                </a:solidFill>
                <a:latin typeface="微软雅黑" panose="020B0503020204020204" pitchFamily="34" charset="-122"/>
                <a:ea typeface="微软雅黑" panose="020B0503020204020204" pitchFamily="34" charset="-122"/>
                <a:cs typeface="+mn-cs"/>
              </a:defRPr>
            </a:lvl1pPr>
            <a:lvl2pPr marL="457200" indent="-182880" algn="l" defTabSz="914400" rtl="0" eaLnBrk="1" latinLnBrk="0" hangingPunct="1">
              <a:spcBef>
                <a:spcPct val="20000"/>
              </a:spcBef>
              <a:buClr>
                <a:schemeClr val="tx2"/>
              </a:buClr>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Clr>
                <a:schemeClr val="tx2"/>
              </a:buClr>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Clr>
                <a:schemeClr val="tx2"/>
              </a:buClr>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Clr>
                <a:schemeClr val="tx2"/>
              </a:buClr>
              <a:buFont typeface="Arial" panose="020B0604020202020204" pitchFamily="34" charset="0"/>
              <a:buChar char="•"/>
              <a:defRPr sz="1800" kern="1200" baseline="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9pPr>
          </a:lstStyle>
          <a:p>
            <a:pPr algn="ctr" fontAlgn="auto">
              <a:lnSpc>
                <a:spcPct val="100000"/>
              </a:lnSpc>
              <a:spcBef>
                <a:spcPts val="0"/>
              </a:spcBef>
              <a:spcAft>
                <a:spcPts val="0"/>
              </a:spcAft>
              <a:buNone/>
            </a:pPr>
            <a:r>
              <a:rPr lang="zh-CN" altLang="en-US" sz="3600" b="1"/>
              <a:t>操作系统（</a:t>
            </a:r>
            <a:r>
              <a:rPr lang="en-US" altLang="zh-CN" sz="3600" b="1"/>
              <a:t>DJOS</a:t>
            </a:r>
            <a:r>
              <a:rPr lang="zh-CN" altLang="en-US" sz="3600" b="1"/>
              <a:t>）</a:t>
            </a:r>
            <a:endParaRPr lang="zh-CN" altLang="en-US" sz="3600" b="1"/>
          </a:p>
        </p:txBody>
      </p:sp>
      <p:sp>
        <p:nvSpPr>
          <p:cNvPr id="12" name="内容占位符 6"/>
          <p:cNvSpPr>
            <a:spLocks noGrp="1"/>
          </p:cNvSpPr>
          <p:nvPr/>
        </p:nvSpPr>
        <p:spPr>
          <a:xfrm>
            <a:off x="1142683" y="4514850"/>
            <a:ext cx="3353435" cy="1581150"/>
          </a:xfrm>
          <a:prstGeom prst="rect">
            <a:avLst/>
          </a:prstGeom>
        </p:spPr>
        <p:txBody>
          <a:bodyPr vert="horz" lIns="91440" tIns="45720" rIns="91440" bIns="45720" rtlCol="0">
            <a:normAutofit/>
          </a:bodyPr>
          <a:lstStyle>
            <a:lvl1pPr marL="0" indent="0" algn="l" defTabSz="914400" rtl="0" eaLnBrk="1" latinLnBrk="0" hangingPunct="1">
              <a:spcBef>
                <a:spcPct val="20000"/>
              </a:spcBef>
              <a:spcAft>
                <a:spcPts val="600"/>
              </a:spcAft>
              <a:buFont typeface="Arial" panose="020B0604020202020204" pitchFamily="34" charset="0"/>
              <a:buNone/>
              <a:defRPr sz="2000" b="1" kern="1200">
                <a:solidFill>
                  <a:schemeClr val="tx1"/>
                </a:solidFill>
                <a:latin typeface="微软雅黑" panose="020B0503020204020204" pitchFamily="34" charset="-122"/>
                <a:ea typeface="微软雅黑" panose="020B0503020204020204" pitchFamily="34" charset="-122"/>
                <a:cs typeface="+mn-cs"/>
              </a:defRPr>
            </a:lvl1pPr>
            <a:lvl2pPr marL="457200" indent="-182880" algn="l" defTabSz="914400" rtl="0" eaLnBrk="1" latinLnBrk="0" hangingPunct="1">
              <a:spcBef>
                <a:spcPct val="20000"/>
              </a:spcBef>
              <a:buClr>
                <a:schemeClr val="tx2"/>
              </a:buClr>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Clr>
                <a:schemeClr val="tx2"/>
              </a:buClr>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Clr>
                <a:schemeClr val="tx2"/>
              </a:buClr>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Clr>
                <a:schemeClr val="tx2"/>
              </a:buClr>
              <a:buFont typeface="Arial" panose="020B0604020202020204" pitchFamily="34" charset="0"/>
              <a:buChar char="•"/>
              <a:defRPr sz="1800" kern="1200" baseline="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9pPr>
          </a:lstStyle>
          <a:p>
            <a:pPr algn="ctr" fontAlgn="auto">
              <a:lnSpc>
                <a:spcPct val="100000"/>
              </a:lnSpc>
              <a:spcBef>
                <a:spcPts val="0"/>
              </a:spcBef>
              <a:spcAft>
                <a:spcPts val="0"/>
              </a:spcAft>
              <a:buNone/>
            </a:pPr>
            <a:r>
              <a:rPr lang="zh-CN" altLang="en-US" sz="3600" b="1"/>
              <a:t>管控系统</a:t>
            </a:r>
            <a:br>
              <a:rPr lang="zh-CN" altLang="en-US" sz="3600" b="1"/>
            </a:br>
            <a:r>
              <a:rPr lang="zh-CN" altLang="en-US" sz="3600" b="1"/>
              <a:t>（</a:t>
            </a:r>
            <a:r>
              <a:rPr lang="en-US" altLang="zh-CN" sz="3600" b="1"/>
              <a:t>DJMS</a:t>
            </a:r>
            <a:r>
              <a:rPr lang="zh-CN" altLang="en-US" sz="3600" b="1"/>
              <a:t>）</a:t>
            </a:r>
            <a:endParaRPr lang="zh-CN" altLang="en-US" sz="3600" b="1"/>
          </a:p>
        </p:txBody>
      </p:sp>
      <p:sp>
        <p:nvSpPr>
          <p:cNvPr id="13" name="内容占位符 6"/>
          <p:cNvSpPr>
            <a:spLocks noGrp="1"/>
          </p:cNvSpPr>
          <p:nvPr/>
        </p:nvSpPr>
        <p:spPr>
          <a:xfrm>
            <a:off x="7695883" y="4514850"/>
            <a:ext cx="3353435" cy="1581150"/>
          </a:xfrm>
          <a:prstGeom prst="rect">
            <a:avLst/>
          </a:prstGeom>
        </p:spPr>
        <p:txBody>
          <a:bodyPr vert="horz" lIns="91440" tIns="45720" rIns="91440" bIns="45720" rtlCol="0">
            <a:normAutofit/>
          </a:bodyPr>
          <a:lstStyle>
            <a:lvl1pPr marL="0" indent="0" algn="l" defTabSz="914400" rtl="0" eaLnBrk="1" latinLnBrk="0" hangingPunct="1">
              <a:spcBef>
                <a:spcPct val="20000"/>
              </a:spcBef>
              <a:spcAft>
                <a:spcPts val="600"/>
              </a:spcAft>
              <a:buFont typeface="Arial" panose="020B0604020202020204" pitchFamily="34" charset="0"/>
              <a:buNone/>
              <a:defRPr sz="2000" b="1" kern="1200">
                <a:solidFill>
                  <a:schemeClr val="tx1"/>
                </a:solidFill>
                <a:latin typeface="微软雅黑" panose="020B0503020204020204" pitchFamily="34" charset="-122"/>
                <a:ea typeface="微软雅黑" panose="020B0503020204020204" pitchFamily="34" charset="-122"/>
                <a:cs typeface="+mn-cs"/>
              </a:defRPr>
            </a:lvl1pPr>
            <a:lvl2pPr marL="457200" indent="-182880" algn="l" defTabSz="914400" rtl="0" eaLnBrk="1" latinLnBrk="0" hangingPunct="1">
              <a:spcBef>
                <a:spcPct val="20000"/>
              </a:spcBef>
              <a:buClr>
                <a:schemeClr val="tx2"/>
              </a:buClr>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Clr>
                <a:schemeClr val="tx2"/>
              </a:buClr>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Clr>
                <a:schemeClr val="tx2"/>
              </a:buClr>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Clr>
                <a:schemeClr val="tx2"/>
              </a:buClr>
              <a:buFont typeface="Arial" panose="020B0604020202020204" pitchFamily="34" charset="0"/>
              <a:buChar char="•"/>
              <a:defRPr sz="1800" kern="1200" baseline="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9pPr>
          </a:lstStyle>
          <a:p>
            <a:pPr algn="ctr" fontAlgn="auto">
              <a:lnSpc>
                <a:spcPct val="100000"/>
              </a:lnSpc>
              <a:spcBef>
                <a:spcPts val="0"/>
              </a:spcBef>
              <a:spcAft>
                <a:spcPts val="0"/>
              </a:spcAft>
              <a:buNone/>
            </a:pPr>
            <a:r>
              <a:rPr lang="zh-CN" altLang="en-US" sz="3600" b="1"/>
              <a:t>应用系统</a:t>
            </a:r>
            <a:endParaRPr lang="zh-CN" altLang="en-US" sz="3600" b="1"/>
          </a:p>
          <a:p>
            <a:pPr algn="ctr" fontAlgn="auto">
              <a:lnSpc>
                <a:spcPct val="100000"/>
              </a:lnSpc>
              <a:spcBef>
                <a:spcPts val="0"/>
              </a:spcBef>
              <a:spcAft>
                <a:spcPts val="0"/>
              </a:spcAft>
              <a:buNone/>
            </a:pPr>
            <a:r>
              <a:rPr lang="en-US" altLang="zh-CN" sz="3600" b="1"/>
              <a:t>(DJAS)</a:t>
            </a:r>
            <a:endParaRPr lang="en-US" altLang="zh-CN" sz="3600" b="1"/>
          </a:p>
        </p:txBody>
      </p:sp>
      <p:sp>
        <p:nvSpPr>
          <p:cNvPr id="14" name="内容占位符 6"/>
          <p:cNvSpPr>
            <a:spLocks noGrp="1"/>
          </p:cNvSpPr>
          <p:nvPr/>
        </p:nvSpPr>
        <p:spPr>
          <a:xfrm>
            <a:off x="4419918" y="171450"/>
            <a:ext cx="3353435" cy="1581150"/>
          </a:xfrm>
          <a:prstGeom prst="rect">
            <a:avLst/>
          </a:prstGeom>
        </p:spPr>
        <p:txBody>
          <a:bodyPr vert="horz" lIns="91440" tIns="45720" rIns="91440" bIns="45720" rtlCol="0">
            <a:normAutofit/>
          </a:bodyPr>
          <a:lstStyle>
            <a:lvl1pPr marL="0" indent="0" algn="l" defTabSz="914400" rtl="0" eaLnBrk="1" latinLnBrk="0" hangingPunct="1">
              <a:spcBef>
                <a:spcPct val="20000"/>
              </a:spcBef>
              <a:spcAft>
                <a:spcPts val="600"/>
              </a:spcAft>
              <a:buFont typeface="Arial" panose="020B0604020202020204" pitchFamily="34" charset="0"/>
              <a:buNone/>
              <a:defRPr sz="2000" b="1" kern="1200">
                <a:solidFill>
                  <a:schemeClr val="tx1"/>
                </a:solidFill>
                <a:latin typeface="微软雅黑" panose="020B0503020204020204" pitchFamily="34" charset="-122"/>
                <a:ea typeface="微软雅黑" panose="020B0503020204020204" pitchFamily="34" charset="-122"/>
                <a:cs typeface="+mn-cs"/>
              </a:defRPr>
            </a:lvl1pPr>
            <a:lvl2pPr marL="457200" indent="-182880" algn="l" defTabSz="914400" rtl="0" eaLnBrk="1" latinLnBrk="0" hangingPunct="1">
              <a:spcBef>
                <a:spcPct val="20000"/>
              </a:spcBef>
              <a:buClr>
                <a:schemeClr val="tx2"/>
              </a:buClr>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Clr>
                <a:schemeClr val="tx2"/>
              </a:buClr>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Clr>
                <a:schemeClr val="tx2"/>
              </a:buClr>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Clr>
                <a:schemeClr val="tx2"/>
              </a:buClr>
              <a:buFont typeface="Arial" panose="020B0604020202020204" pitchFamily="34" charset="0"/>
              <a:buChar char="•"/>
              <a:defRPr sz="1800" kern="1200" baseline="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9pPr>
          </a:lstStyle>
          <a:p>
            <a:pPr algn="ctr" fontAlgn="auto">
              <a:lnSpc>
                <a:spcPct val="100000"/>
              </a:lnSpc>
              <a:spcBef>
                <a:spcPts val="0"/>
              </a:spcBef>
              <a:spcAft>
                <a:spcPts val="0"/>
              </a:spcAft>
              <a:buNone/>
            </a:pPr>
            <a:r>
              <a:rPr lang="zh-CN" altLang="en-US" sz="3600" b="1">
                <a:solidFill>
                  <a:srgbClr val="FF0000"/>
                </a:solidFill>
              </a:rPr>
              <a:t>道</a:t>
            </a:r>
            <a:endParaRPr lang="zh-CN" altLang="en-US" sz="3600" b="1">
              <a:solidFill>
                <a:srgbClr val="FF0000"/>
              </a:solidFill>
            </a:endParaRPr>
          </a:p>
        </p:txBody>
      </p:sp>
      <p:sp>
        <p:nvSpPr>
          <p:cNvPr id="15" name="内容占位符 6"/>
          <p:cNvSpPr>
            <a:spLocks noGrp="1"/>
          </p:cNvSpPr>
          <p:nvPr/>
        </p:nvSpPr>
        <p:spPr>
          <a:xfrm>
            <a:off x="1093153" y="3962400"/>
            <a:ext cx="3326765" cy="1581150"/>
          </a:xfrm>
          <a:prstGeom prst="rect">
            <a:avLst/>
          </a:prstGeom>
        </p:spPr>
        <p:txBody>
          <a:bodyPr vert="horz" lIns="91440" tIns="45720" rIns="91440" bIns="45720" rtlCol="0">
            <a:normAutofit/>
          </a:bodyPr>
          <a:lstStyle>
            <a:lvl1pPr marL="0" indent="0" algn="l" defTabSz="914400" rtl="0" eaLnBrk="1" latinLnBrk="0" hangingPunct="1">
              <a:spcBef>
                <a:spcPct val="20000"/>
              </a:spcBef>
              <a:spcAft>
                <a:spcPts val="600"/>
              </a:spcAft>
              <a:buFont typeface="Arial" panose="020B0604020202020204" pitchFamily="34" charset="0"/>
              <a:buNone/>
              <a:defRPr sz="2000" b="1" kern="1200">
                <a:solidFill>
                  <a:schemeClr val="tx1"/>
                </a:solidFill>
                <a:latin typeface="微软雅黑" panose="020B0503020204020204" pitchFamily="34" charset="-122"/>
                <a:ea typeface="微软雅黑" panose="020B0503020204020204" pitchFamily="34" charset="-122"/>
                <a:cs typeface="+mn-cs"/>
              </a:defRPr>
            </a:lvl1pPr>
            <a:lvl2pPr marL="457200" indent="-182880" algn="l" defTabSz="914400" rtl="0" eaLnBrk="1" latinLnBrk="0" hangingPunct="1">
              <a:spcBef>
                <a:spcPct val="20000"/>
              </a:spcBef>
              <a:buClr>
                <a:schemeClr val="tx2"/>
              </a:buClr>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Clr>
                <a:schemeClr val="tx2"/>
              </a:buClr>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Clr>
                <a:schemeClr val="tx2"/>
              </a:buClr>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Clr>
                <a:schemeClr val="tx2"/>
              </a:buClr>
              <a:buFont typeface="Arial" panose="020B0604020202020204" pitchFamily="34" charset="0"/>
              <a:buChar char="•"/>
              <a:defRPr sz="1800" kern="1200" baseline="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9pPr>
          </a:lstStyle>
          <a:p>
            <a:pPr algn="ctr" fontAlgn="auto">
              <a:lnSpc>
                <a:spcPct val="100000"/>
              </a:lnSpc>
              <a:spcBef>
                <a:spcPts val="0"/>
              </a:spcBef>
              <a:spcAft>
                <a:spcPts val="0"/>
              </a:spcAft>
              <a:buNone/>
            </a:pPr>
            <a:r>
              <a:rPr lang="zh-CN" altLang="en-US" sz="3600" b="1">
                <a:solidFill>
                  <a:srgbClr val="FF0000"/>
                </a:solidFill>
              </a:rPr>
              <a:t>法</a:t>
            </a:r>
            <a:endParaRPr lang="zh-CN" altLang="en-US" sz="3600" b="1">
              <a:solidFill>
                <a:srgbClr val="FF0000"/>
              </a:solidFill>
            </a:endParaRPr>
          </a:p>
        </p:txBody>
      </p:sp>
      <p:sp>
        <p:nvSpPr>
          <p:cNvPr id="16" name="内容占位符 6"/>
          <p:cNvSpPr>
            <a:spLocks noGrp="1"/>
          </p:cNvSpPr>
          <p:nvPr/>
        </p:nvSpPr>
        <p:spPr>
          <a:xfrm>
            <a:off x="7716203" y="3962400"/>
            <a:ext cx="3256915" cy="1581150"/>
          </a:xfrm>
          <a:prstGeom prst="rect">
            <a:avLst/>
          </a:prstGeom>
        </p:spPr>
        <p:txBody>
          <a:bodyPr vert="horz" lIns="91440" tIns="45720" rIns="91440" bIns="45720" rtlCol="0">
            <a:normAutofit/>
          </a:bodyPr>
          <a:lstStyle>
            <a:lvl1pPr marL="0" indent="0" algn="l" defTabSz="914400" rtl="0" eaLnBrk="1" latinLnBrk="0" hangingPunct="1">
              <a:spcBef>
                <a:spcPct val="20000"/>
              </a:spcBef>
              <a:spcAft>
                <a:spcPts val="600"/>
              </a:spcAft>
              <a:buFont typeface="Arial" panose="020B0604020202020204" pitchFamily="34" charset="0"/>
              <a:buNone/>
              <a:defRPr sz="2000" b="1" kern="1200">
                <a:solidFill>
                  <a:schemeClr val="tx1"/>
                </a:solidFill>
                <a:latin typeface="微软雅黑" panose="020B0503020204020204" pitchFamily="34" charset="-122"/>
                <a:ea typeface="微软雅黑" panose="020B0503020204020204" pitchFamily="34" charset="-122"/>
                <a:cs typeface="+mn-cs"/>
              </a:defRPr>
            </a:lvl1pPr>
            <a:lvl2pPr marL="457200" indent="-182880" algn="l" defTabSz="914400" rtl="0" eaLnBrk="1" latinLnBrk="0" hangingPunct="1">
              <a:spcBef>
                <a:spcPct val="20000"/>
              </a:spcBef>
              <a:buClr>
                <a:schemeClr val="tx2"/>
              </a:buClr>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Clr>
                <a:schemeClr val="tx2"/>
              </a:buClr>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Clr>
                <a:schemeClr val="tx2"/>
              </a:buClr>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Clr>
                <a:schemeClr val="tx2"/>
              </a:buClr>
              <a:buFont typeface="Arial" panose="020B0604020202020204" pitchFamily="34" charset="0"/>
              <a:buChar char="•"/>
              <a:defRPr sz="1800" kern="1200" baseline="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9pPr>
          </a:lstStyle>
          <a:p>
            <a:pPr algn="ctr" fontAlgn="auto">
              <a:lnSpc>
                <a:spcPct val="100000"/>
              </a:lnSpc>
              <a:spcBef>
                <a:spcPts val="0"/>
              </a:spcBef>
              <a:spcAft>
                <a:spcPts val="0"/>
              </a:spcAft>
              <a:buNone/>
            </a:pPr>
            <a:r>
              <a:rPr lang="zh-CN" altLang="en-US" sz="3600" b="1">
                <a:solidFill>
                  <a:srgbClr val="FF0000"/>
                </a:solidFill>
              </a:rPr>
              <a:t>术</a:t>
            </a:r>
            <a:endParaRPr lang="zh-CN" altLang="en-US" sz="3600" b="1">
              <a:solidFill>
                <a:srgbClr val="FF0000"/>
              </a:solidFill>
            </a:endParaRPr>
          </a:p>
        </p:txBody>
      </p:sp>
      <p:sp>
        <p:nvSpPr>
          <p:cNvPr id="17" name="内容占位符 6"/>
          <p:cNvSpPr>
            <a:spLocks noGrp="1"/>
          </p:cNvSpPr>
          <p:nvPr/>
        </p:nvSpPr>
        <p:spPr>
          <a:xfrm>
            <a:off x="4419283" y="1752600"/>
            <a:ext cx="3353435" cy="1581150"/>
          </a:xfrm>
          <a:prstGeom prst="rect">
            <a:avLst/>
          </a:prstGeom>
        </p:spPr>
        <p:txBody>
          <a:bodyPr vert="horz" lIns="91440" tIns="45720" rIns="91440" bIns="45720" rtlCol="0">
            <a:normAutofit/>
          </a:bodyPr>
          <a:lstStyle>
            <a:lvl1pPr marL="0" indent="0" algn="l" defTabSz="914400" rtl="0" eaLnBrk="1" latinLnBrk="0" hangingPunct="1">
              <a:spcBef>
                <a:spcPct val="20000"/>
              </a:spcBef>
              <a:spcAft>
                <a:spcPts val="600"/>
              </a:spcAft>
              <a:buFont typeface="Arial" panose="020B0604020202020204" pitchFamily="34" charset="0"/>
              <a:buNone/>
              <a:defRPr sz="2000" b="1" kern="1200">
                <a:solidFill>
                  <a:schemeClr val="tx1"/>
                </a:solidFill>
                <a:latin typeface="微软雅黑" panose="020B0503020204020204" pitchFamily="34" charset="-122"/>
                <a:ea typeface="微软雅黑" panose="020B0503020204020204" pitchFamily="34" charset="-122"/>
                <a:cs typeface="+mn-cs"/>
              </a:defRPr>
            </a:lvl1pPr>
            <a:lvl2pPr marL="457200" indent="-182880" algn="l" defTabSz="914400" rtl="0" eaLnBrk="1" latinLnBrk="0" hangingPunct="1">
              <a:spcBef>
                <a:spcPct val="20000"/>
              </a:spcBef>
              <a:buClr>
                <a:schemeClr val="tx2"/>
              </a:buClr>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Clr>
                <a:schemeClr val="tx2"/>
              </a:buClr>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Clr>
                <a:schemeClr val="tx2"/>
              </a:buClr>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Clr>
                <a:schemeClr val="tx2"/>
              </a:buClr>
              <a:buFont typeface="Arial" panose="020B0604020202020204" pitchFamily="34" charset="0"/>
              <a:buChar char="•"/>
              <a:defRPr sz="1800" kern="1200" baseline="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9pPr>
          </a:lstStyle>
          <a:p>
            <a:pPr algn="ctr" fontAlgn="auto">
              <a:lnSpc>
                <a:spcPct val="100000"/>
              </a:lnSpc>
              <a:spcBef>
                <a:spcPts val="0"/>
              </a:spcBef>
              <a:spcAft>
                <a:spcPts val="0"/>
              </a:spcAft>
              <a:buNone/>
            </a:pPr>
            <a:r>
              <a:rPr lang="zh-CN" altLang="en-US" sz="3600" b="1">
                <a:solidFill>
                  <a:srgbClr val="00B050"/>
                </a:solidFill>
              </a:rPr>
              <a:t>流程</a:t>
            </a:r>
            <a:endParaRPr lang="zh-CN" altLang="en-US" sz="3600" b="1">
              <a:solidFill>
                <a:srgbClr val="00B050"/>
              </a:solidFill>
            </a:endParaRPr>
          </a:p>
        </p:txBody>
      </p:sp>
      <p:sp>
        <p:nvSpPr>
          <p:cNvPr id="18" name="内容占位符 6"/>
          <p:cNvSpPr>
            <a:spLocks noGrp="1"/>
          </p:cNvSpPr>
          <p:nvPr/>
        </p:nvSpPr>
        <p:spPr>
          <a:xfrm>
            <a:off x="1142048" y="5638800"/>
            <a:ext cx="3353435" cy="688340"/>
          </a:xfrm>
          <a:prstGeom prst="rect">
            <a:avLst/>
          </a:prstGeom>
        </p:spPr>
        <p:txBody>
          <a:bodyPr vert="horz" lIns="91440" tIns="45720" rIns="91440" bIns="45720" rtlCol="0">
            <a:normAutofit/>
          </a:bodyPr>
          <a:lstStyle>
            <a:lvl1pPr marL="0" indent="0" algn="l" defTabSz="914400" rtl="0" eaLnBrk="1" latinLnBrk="0" hangingPunct="1">
              <a:spcBef>
                <a:spcPct val="20000"/>
              </a:spcBef>
              <a:spcAft>
                <a:spcPts val="600"/>
              </a:spcAft>
              <a:buFont typeface="Arial" panose="020B0604020202020204" pitchFamily="34" charset="0"/>
              <a:buNone/>
              <a:defRPr sz="2000" b="1" kern="1200">
                <a:solidFill>
                  <a:schemeClr val="tx1"/>
                </a:solidFill>
                <a:latin typeface="微软雅黑" panose="020B0503020204020204" pitchFamily="34" charset="-122"/>
                <a:ea typeface="微软雅黑" panose="020B0503020204020204" pitchFamily="34" charset="-122"/>
                <a:cs typeface="+mn-cs"/>
              </a:defRPr>
            </a:lvl1pPr>
            <a:lvl2pPr marL="457200" indent="-182880" algn="l" defTabSz="914400" rtl="0" eaLnBrk="1" latinLnBrk="0" hangingPunct="1">
              <a:spcBef>
                <a:spcPct val="20000"/>
              </a:spcBef>
              <a:buClr>
                <a:schemeClr val="tx2"/>
              </a:buClr>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Clr>
                <a:schemeClr val="tx2"/>
              </a:buClr>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Clr>
                <a:schemeClr val="tx2"/>
              </a:buClr>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Clr>
                <a:schemeClr val="tx2"/>
              </a:buClr>
              <a:buFont typeface="Arial" panose="020B0604020202020204" pitchFamily="34" charset="0"/>
              <a:buChar char="•"/>
              <a:defRPr sz="1800" kern="1200" baseline="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9pPr>
          </a:lstStyle>
          <a:p>
            <a:pPr algn="ctr" fontAlgn="auto">
              <a:lnSpc>
                <a:spcPct val="100000"/>
              </a:lnSpc>
              <a:spcBef>
                <a:spcPts val="0"/>
              </a:spcBef>
              <a:spcAft>
                <a:spcPts val="0"/>
              </a:spcAft>
              <a:buNone/>
            </a:pPr>
            <a:r>
              <a:rPr lang="zh-CN" altLang="en-US" sz="3600" b="1">
                <a:solidFill>
                  <a:srgbClr val="00B050"/>
                </a:solidFill>
              </a:rPr>
              <a:t>制度</a:t>
            </a:r>
            <a:endParaRPr lang="zh-CN" altLang="en-US" sz="3600" b="1">
              <a:solidFill>
                <a:srgbClr val="00B050"/>
              </a:solidFill>
            </a:endParaRPr>
          </a:p>
        </p:txBody>
      </p:sp>
      <p:sp>
        <p:nvSpPr>
          <p:cNvPr id="19" name="内容占位符 6"/>
          <p:cNvSpPr>
            <a:spLocks noGrp="1"/>
          </p:cNvSpPr>
          <p:nvPr/>
        </p:nvSpPr>
        <p:spPr>
          <a:xfrm>
            <a:off x="7619683" y="5638800"/>
            <a:ext cx="3353435" cy="688340"/>
          </a:xfrm>
          <a:prstGeom prst="rect">
            <a:avLst/>
          </a:prstGeom>
        </p:spPr>
        <p:txBody>
          <a:bodyPr vert="horz" lIns="91440" tIns="45720" rIns="91440" bIns="45720" rtlCol="0">
            <a:normAutofit/>
          </a:bodyPr>
          <a:lstStyle>
            <a:lvl1pPr marL="0" indent="0" algn="l" defTabSz="914400" rtl="0" eaLnBrk="1" latinLnBrk="0" hangingPunct="1">
              <a:spcBef>
                <a:spcPct val="20000"/>
              </a:spcBef>
              <a:spcAft>
                <a:spcPts val="600"/>
              </a:spcAft>
              <a:buFont typeface="Arial" panose="020B0604020202020204" pitchFamily="34" charset="0"/>
              <a:buNone/>
              <a:defRPr sz="2000" b="1" kern="1200">
                <a:solidFill>
                  <a:schemeClr val="tx1"/>
                </a:solidFill>
                <a:latin typeface="微软雅黑" panose="020B0503020204020204" pitchFamily="34" charset="-122"/>
                <a:ea typeface="微软雅黑" panose="020B0503020204020204" pitchFamily="34" charset="-122"/>
                <a:cs typeface="+mn-cs"/>
              </a:defRPr>
            </a:lvl1pPr>
            <a:lvl2pPr marL="457200" indent="-182880" algn="l" defTabSz="914400" rtl="0" eaLnBrk="1" latinLnBrk="0" hangingPunct="1">
              <a:spcBef>
                <a:spcPct val="20000"/>
              </a:spcBef>
              <a:buClr>
                <a:schemeClr val="tx2"/>
              </a:buClr>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Clr>
                <a:schemeClr val="tx2"/>
              </a:buClr>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Clr>
                <a:schemeClr val="tx2"/>
              </a:buClr>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Clr>
                <a:schemeClr val="tx2"/>
              </a:buClr>
              <a:buFont typeface="Arial" panose="020B0604020202020204" pitchFamily="34" charset="0"/>
              <a:buChar char="•"/>
              <a:defRPr sz="1800" kern="1200" baseline="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9pPr>
          </a:lstStyle>
          <a:p>
            <a:pPr algn="ctr" fontAlgn="auto">
              <a:lnSpc>
                <a:spcPct val="100000"/>
              </a:lnSpc>
              <a:spcBef>
                <a:spcPts val="0"/>
              </a:spcBef>
              <a:spcAft>
                <a:spcPts val="0"/>
              </a:spcAft>
              <a:buNone/>
            </a:pPr>
            <a:r>
              <a:rPr lang="zh-CN" altLang="en-US" sz="3600" b="1">
                <a:solidFill>
                  <a:srgbClr val="00B050"/>
                </a:solidFill>
              </a:rPr>
              <a:t>工具</a:t>
            </a:r>
            <a:endParaRPr lang="zh-CN" altLang="en-US" sz="3600" b="1">
              <a:solidFill>
                <a:srgbClr val="00B050"/>
              </a:solidFill>
            </a:endParaRPr>
          </a:p>
        </p:txBody>
      </p:sp>
      <p:sp>
        <p:nvSpPr>
          <p:cNvPr id="8" name="标题 7"/>
          <p:cNvSpPr>
            <a:spLocks noGrp="1"/>
          </p:cNvSpPr>
          <p:nvPr>
            <p:ph type="title"/>
          </p:nvPr>
        </p:nvSpPr>
        <p:spPr>
          <a:xfrm>
            <a:off x="305277" y="152083"/>
            <a:ext cx="10124598" cy="1371600"/>
          </a:xfrm>
        </p:spPr>
        <p:txBody>
          <a:bodyPr/>
          <a:lstStyle/>
          <a:p>
            <a:pPr algn="l">
              <a:buClrTx/>
              <a:buSzTx/>
              <a:buFontTx/>
            </a:pPr>
            <a:r>
              <a:rPr lang="zh-CN" sz="3600" b="1" dirty="0" smtClean="0"/>
              <a:t>运行系统组成</a:t>
            </a:r>
            <a:endParaRPr lang="zh-CN" sz="3600" b="1" dirty="0" smtClean="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0077" y="152083"/>
            <a:ext cx="7707524" cy="1371600"/>
          </a:xfrm>
        </p:spPr>
        <p:txBody>
          <a:bodyPr>
            <a:normAutofit/>
          </a:bodyPr>
          <a:lstStyle/>
          <a:p>
            <a:pPr algn="l">
              <a:buClrTx/>
              <a:buSzTx/>
              <a:buFontTx/>
            </a:pPr>
            <a:r>
              <a:rPr lang="zh-CN" sz="3600" b="1" dirty="0" smtClean="0"/>
              <a:t>运行系统模块</a:t>
            </a:r>
            <a:endParaRPr lang="en-US" altLang="zh-CN" sz="3600" b="1" dirty="0" smtClean="0"/>
          </a:p>
        </p:txBody>
      </p:sp>
      <p:sp>
        <p:nvSpPr>
          <p:cNvPr id="16" name="灯片编号占位符 15"/>
          <p:cNvSpPr>
            <a:spLocks noGrp="1"/>
          </p:cNvSpPr>
          <p:nvPr>
            <p:ph type="sldNum" sz="quarter" idx="12"/>
            <p:custDataLst>
              <p:tags r:id="rId1"/>
            </p:custDataLst>
          </p:nvPr>
        </p:nvSpPr>
        <p:spPr/>
        <p:txBody>
          <a:bodyPr/>
          <a:p>
            <a:fld id="{F38DF745-7D3F-47F4-83A3-874385CFAA69}" type="slidenum">
              <a:rPr lang="en-US" smtClean="0"/>
            </a:fld>
            <a:endParaRPr lang="en-US"/>
          </a:p>
        </p:txBody>
      </p:sp>
      <p:graphicFrame>
        <p:nvGraphicFramePr>
          <p:cNvPr id="11" name="图示 10"/>
          <p:cNvGraphicFramePr/>
          <p:nvPr/>
        </p:nvGraphicFramePr>
        <p:xfrm>
          <a:off x="1142683" y="1600200"/>
          <a:ext cx="9606915" cy="4211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93979"/>
            <a:ext cx="8266043" cy="1332879"/>
          </a:xfrm>
        </p:spPr>
        <p:txBody>
          <a:bodyPr>
            <a:normAutofit/>
          </a:bodyPr>
          <a:lstStyle/>
          <a:p>
            <a:pPr algn="l">
              <a:buClrTx/>
              <a:buSzTx/>
              <a:buFontTx/>
            </a:pPr>
            <a:r>
              <a:rPr lang="zh-CN" sz="3600" b="1" dirty="0" smtClean="0"/>
              <a:t>运行系统标准</a:t>
            </a:r>
            <a:endParaRPr lang="zh-CN" sz="3600" b="1" dirty="0" smtClean="0"/>
          </a:p>
        </p:txBody>
      </p:sp>
      <p:sp>
        <p:nvSpPr>
          <p:cNvPr id="16" name="灯片编号占位符 15"/>
          <p:cNvSpPr>
            <a:spLocks noGrp="1"/>
          </p:cNvSpPr>
          <p:nvPr>
            <p:ph type="sldNum" sz="quarter" idx="12"/>
            <p:custDataLst>
              <p:tags r:id="rId1"/>
            </p:custDataLst>
          </p:nvPr>
        </p:nvSpPr>
        <p:spPr/>
        <p:txBody>
          <a:bodyPr/>
          <a:p>
            <a:fld id="{F38DF745-7D3F-47F4-83A3-874385CFAA69}" type="slidenum">
              <a:rPr lang="en-US" smtClean="0"/>
            </a:fld>
            <a:endParaRPr lang="en-US"/>
          </a:p>
        </p:txBody>
      </p:sp>
      <p:graphicFrame>
        <p:nvGraphicFramePr>
          <p:cNvPr id="3" name="表格 2"/>
          <p:cNvGraphicFramePr/>
          <p:nvPr>
            <p:custDataLst>
              <p:tags r:id="rId2"/>
            </p:custDataLst>
          </p:nvPr>
        </p:nvGraphicFramePr>
        <p:xfrm>
          <a:off x="1143318" y="1256030"/>
          <a:ext cx="9961245" cy="4946650"/>
        </p:xfrm>
        <a:graphic>
          <a:graphicData uri="http://schemas.openxmlformats.org/drawingml/2006/table">
            <a:tbl>
              <a:tblPr firstRow="1">
                <a:tableStyleId>{BA74A773-6059-4204-BF6B-9DAADE4EBD58}</a:tableStyleId>
              </a:tblPr>
              <a:tblGrid>
                <a:gridCol w="2186940"/>
                <a:gridCol w="2588260"/>
                <a:gridCol w="2634615"/>
                <a:gridCol w="2551430"/>
              </a:tblGrid>
              <a:tr h="591185">
                <a:tc>
                  <a:txBody>
                    <a:bodyPr/>
                    <a:p>
                      <a:pPr algn="ctr" fontAlgn="ctr">
                        <a:lnSpc>
                          <a:spcPct val="120000"/>
                        </a:lnSpc>
                      </a:pPr>
                      <a:r>
                        <a:rPr lang="zh-CN" altLang="en-US" sz="2400" b="1" spc="120">
                          <a:latin typeface="微软雅黑" panose="020B0503020204020204" pitchFamily="34" charset="-122"/>
                          <a:ea typeface="微软雅黑" panose="020B0503020204020204" pitchFamily="34" charset="-122"/>
                        </a:rPr>
                        <a:t>运行系统</a:t>
                      </a:r>
                      <a:endParaRPr lang="zh-CN" altLang="en-US" sz="2400" b="1" spc="120">
                        <a:latin typeface="微软雅黑" panose="020B0503020204020204" pitchFamily="34" charset="-122"/>
                        <a:ea typeface="微软雅黑" panose="020B0503020204020204" pitchFamily="34" charset="-122"/>
                      </a:endParaRPr>
                    </a:p>
                  </a:txBody>
                  <a:tcPr marL="254000" marR="254000" marT="76200" marB="76200" anchor="ctr" anchorCtr="0"/>
                </a:tc>
                <a:tc>
                  <a:txBody>
                    <a:bodyPr/>
                    <a:p>
                      <a:pPr algn="ctr" fontAlgn="ctr">
                        <a:lnSpc>
                          <a:spcPct val="120000"/>
                        </a:lnSpc>
                      </a:pPr>
                      <a:r>
                        <a:rPr lang="zh-CN" altLang="en-US" sz="2400" b="1">
                          <a:latin typeface="微软雅黑" panose="020B0503020204020204" pitchFamily="34" charset="-122"/>
                          <a:ea typeface="微软雅黑" panose="020B0503020204020204" pitchFamily="34" charset="-122"/>
                        </a:rPr>
                        <a:t>操作系统</a:t>
                      </a:r>
                      <a:endParaRPr lang="zh-CN" altLang="en-US" sz="2400" b="1">
                        <a:latin typeface="微软雅黑" panose="020B0503020204020204" pitchFamily="34" charset="-122"/>
                        <a:ea typeface="微软雅黑" panose="020B0503020204020204" pitchFamily="34" charset="-122"/>
                      </a:endParaRPr>
                    </a:p>
                  </a:txBody>
                  <a:tcPr marL="254000" marR="254000" marT="76200" marB="76200" anchor="ctr" anchorCtr="0"/>
                </a:tc>
                <a:tc>
                  <a:txBody>
                    <a:bodyPr/>
                    <a:p>
                      <a:pPr algn="ctr" fontAlgn="ctr">
                        <a:lnSpc>
                          <a:spcPct val="120000"/>
                        </a:lnSpc>
                      </a:pPr>
                      <a:r>
                        <a:rPr lang="zh-CN" altLang="en-US" sz="2400" b="1">
                          <a:latin typeface="微软雅黑" panose="020B0503020204020204" pitchFamily="34" charset="-122"/>
                          <a:ea typeface="微软雅黑" panose="020B0503020204020204" pitchFamily="34" charset="-122"/>
                        </a:rPr>
                        <a:t>管控系统</a:t>
                      </a:r>
                      <a:endParaRPr lang="zh-CN" altLang="en-US" sz="2400" b="1">
                        <a:latin typeface="微软雅黑" panose="020B0503020204020204" pitchFamily="34" charset="-122"/>
                        <a:ea typeface="微软雅黑" panose="020B0503020204020204" pitchFamily="34" charset="-122"/>
                      </a:endParaRPr>
                    </a:p>
                  </a:txBody>
                  <a:tcPr marL="254000" marR="254000" marT="76200" marB="76200" anchor="ctr" anchorCtr="0"/>
                </a:tc>
                <a:tc>
                  <a:txBody>
                    <a:bodyPr/>
                    <a:p>
                      <a:pPr algn="ctr" fontAlgn="ctr">
                        <a:lnSpc>
                          <a:spcPct val="120000"/>
                        </a:lnSpc>
                      </a:pPr>
                      <a:r>
                        <a:rPr lang="zh-CN" altLang="en-US" sz="2400" b="1">
                          <a:latin typeface="微软雅黑" panose="020B0503020204020204" pitchFamily="34" charset="-122"/>
                          <a:ea typeface="微软雅黑" panose="020B0503020204020204" pitchFamily="34" charset="-122"/>
                        </a:rPr>
                        <a:t>应用系统</a:t>
                      </a:r>
                      <a:endParaRPr lang="zh-CN" altLang="en-US" sz="2400" b="1">
                        <a:latin typeface="微软雅黑" panose="020B0503020204020204" pitchFamily="34" charset="-122"/>
                        <a:ea typeface="微软雅黑" panose="020B0503020204020204" pitchFamily="34" charset="-122"/>
                      </a:endParaRPr>
                    </a:p>
                  </a:txBody>
                  <a:tcPr marL="254000" marR="254000" marT="76200" marB="76200" anchor="ctr" anchorCtr="0"/>
                </a:tc>
              </a:tr>
              <a:tr h="835660">
                <a:tc>
                  <a:txBody>
                    <a:bodyPr/>
                    <a:p>
                      <a:pPr algn="ctr" fontAlgn="ctr">
                        <a:lnSpc>
                          <a:spcPct val="120000"/>
                        </a:lnSpc>
                      </a:pPr>
                      <a:r>
                        <a:rPr lang="zh-CN" altLang="en-US" sz="2400" b="1" spc="120">
                          <a:solidFill>
                            <a:srgbClr val="FF0000"/>
                          </a:solidFill>
                          <a:latin typeface="微软雅黑" panose="020B0503020204020204" pitchFamily="34" charset="-122"/>
                          <a:ea typeface="微软雅黑" panose="020B0503020204020204" pitchFamily="34" charset="-122"/>
                        </a:rPr>
                        <a:t>行政子系统</a:t>
                      </a:r>
                      <a:endParaRPr lang="zh-CN" altLang="en-US" sz="2400" b="1" spc="120">
                        <a:solidFill>
                          <a:srgbClr val="FF0000"/>
                        </a:solidFill>
                        <a:latin typeface="微软雅黑" panose="020B0503020204020204" pitchFamily="34" charset="-122"/>
                        <a:ea typeface="微软雅黑" panose="020B0503020204020204" pitchFamily="34" charset="-122"/>
                      </a:endParaRPr>
                    </a:p>
                  </a:txBody>
                  <a:tcPr marL="254000" marR="254000" marT="76200" marB="76200" anchor="ctr" anchorCtr="0"/>
                </a:tc>
                <a:tc>
                  <a:txBody>
                    <a:bodyPr/>
                    <a:p>
                      <a:pPr algn="ctr" fontAlgn="ctr">
                        <a:lnSpc>
                          <a:spcPct val="120000"/>
                        </a:lnSpc>
                      </a:pPr>
                      <a:r>
                        <a:rPr lang="en-US" altLang="zh-CN" sz="2400" b="1">
                          <a:solidFill>
                            <a:srgbClr val="FF0000"/>
                          </a:solidFill>
                          <a:latin typeface="微软雅黑" panose="020B0503020204020204" pitchFamily="34" charset="-122"/>
                          <a:ea typeface="微软雅黑" panose="020B0503020204020204" pitchFamily="34" charset="-122"/>
                        </a:rPr>
                        <a:t>1.1 DJOS-XZ</a:t>
                      </a:r>
                      <a:endParaRPr lang="en-US" altLang="zh-CN" sz="2400" b="1">
                        <a:solidFill>
                          <a:srgbClr val="FF0000"/>
                        </a:solidFill>
                        <a:latin typeface="微软雅黑" panose="020B0503020204020204" pitchFamily="34" charset="-122"/>
                        <a:ea typeface="微软雅黑" panose="020B0503020204020204" pitchFamily="34" charset="-122"/>
                      </a:endParaRPr>
                    </a:p>
                  </a:txBody>
                  <a:tcPr marL="254000" marR="254000" marT="76200" marB="76200" anchor="ctr" anchorCtr="0"/>
                </a:tc>
                <a:tc>
                  <a:txBody>
                    <a:bodyPr/>
                    <a:p>
                      <a:pPr algn="ctr" fontAlgn="ctr">
                        <a:lnSpc>
                          <a:spcPct val="120000"/>
                        </a:lnSpc>
                      </a:pPr>
                      <a:r>
                        <a:rPr lang="en-US" altLang="zh-CN" sz="2400" b="1">
                          <a:solidFill>
                            <a:srgbClr val="FF0000"/>
                          </a:solidFill>
                          <a:latin typeface="微软雅黑" panose="020B0503020204020204" pitchFamily="34" charset="-122"/>
                          <a:ea typeface="微软雅黑" panose="020B0503020204020204" pitchFamily="34" charset="-122"/>
                        </a:rPr>
                        <a:t>1.2 DJMS-XZ</a:t>
                      </a:r>
                      <a:endParaRPr lang="en-US" altLang="zh-CN" sz="2400" b="1">
                        <a:solidFill>
                          <a:srgbClr val="FF0000"/>
                        </a:solidFill>
                        <a:latin typeface="微软雅黑" panose="020B0503020204020204" pitchFamily="34" charset="-122"/>
                        <a:ea typeface="微软雅黑" panose="020B0503020204020204" pitchFamily="34" charset="-122"/>
                      </a:endParaRPr>
                    </a:p>
                  </a:txBody>
                  <a:tcPr marL="254000" marR="254000" marT="76200" marB="76200" anchor="ctr" anchorCtr="0"/>
                </a:tc>
                <a:tc>
                  <a:txBody>
                    <a:bodyPr/>
                    <a:p>
                      <a:pPr algn="ctr" fontAlgn="ctr">
                        <a:lnSpc>
                          <a:spcPct val="120000"/>
                        </a:lnSpc>
                      </a:pPr>
                      <a:r>
                        <a:rPr lang="en-US" altLang="zh-CN" sz="2400" b="1">
                          <a:solidFill>
                            <a:srgbClr val="FF0000"/>
                          </a:solidFill>
                          <a:latin typeface="微软雅黑" panose="020B0503020204020204" pitchFamily="34" charset="-122"/>
                          <a:ea typeface="微软雅黑" panose="020B0503020204020204" pitchFamily="34" charset="-122"/>
                        </a:rPr>
                        <a:t>1.3 DJAS-XZ</a:t>
                      </a:r>
                      <a:endParaRPr lang="en-US" altLang="zh-CN" sz="2400" b="1">
                        <a:solidFill>
                          <a:srgbClr val="FF0000"/>
                        </a:solidFill>
                        <a:latin typeface="微软雅黑" panose="020B0503020204020204" pitchFamily="34" charset="-122"/>
                        <a:ea typeface="微软雅黑" panose="020B0503020204020204" pitchFamily="34" charset="-122"/>
                      </a:endParaRPr>
                    </a:p>
                  </a:txBody>
                  <a:tcPr marL="254000" marR="254000" marT="76200" marB="76200" anchor="ctr" anchorCtr="0"/>
                </a:tc>
              </a:tr>
              <a:tr h="834390">
                <a:tc>
                  <a:txBody>
                    <a:bodyPr/>
                    <a:p>
                      <a:pPr algn="ctr" fontAlgn="ctr">
                        <a:lnSpc>
                          <a:spcPct val="120000"/>
                        </a:lnSpc>
                      </a:pPr>
                      <a:r>
                        <a:rPr lang="zh-CN" altLang="en-US" sz="2400" b="1" spc="120">
                          <a:latin typeface="微软雅黑" panose="020B0503020204020204" pitchFamily="34" charset="-122"/>
                          <a:ea typeface="微软雅黑" panose="020B0503020204020204" pitchFamily="34" charset="-122"/>
                        </a:rPr>
                        <a:t>培训子系统</a:t>
                      </a:r>
                      <a:endParaRPr lang="zh-CN" altLang="en-US" sz="2400" b="1" spc="120">
                        <a:latin typeface="微软雅黑" panose="020B0503020204020204" pitchFamily="34" charset="-122"/>
                        <a:ea typeface="微软雅黑" panose="020B0503020204020204" pitchFamily="34" charset="-122"/>
                      </a:endParaRPr>
                    </a:p>
                  </a:txBody>
                  <a:tcPr marL="254000" marR="254000" marT="76200" marB="76200" anchor="ctr" anchorCtr="0"/>
                </a:tc>
                <a:tc>
                  <a:txBody>
                    <a:bodyPr/>
                    <a:p>
                      <a:pPr algn="ctr" fontAlgn="ctr">
                        <a:lnSpc>
                          <a:spcPct val="120000"/>
                        </a:lnSpc>
                      </a:pPr>
                      <a:r>
                        <a:rPr lang="en-US" altLang="zh-CN" sz="2400" b="1">
                          <a:latin typeface="微软雅黑" panose="020B0503020204020204" pitchFamily="34" charset="-122"/>
                          <a:ea typeface="微软雅黑" panose="020B0503020204020204" pitchFamily="34" charset="-122"/>
                        </a:rPr>
                        <a:t>2.1 DJOS-PX</a:t>
                      </a:r>
                      <a:endParaRPr lang="en-US" altLang="zh-CN" sz="2400" b="1">
                        <a:latin typeface="微软雅黑" panose="020B0503020204020204" pitchFamily="34" charset="-122"/>
                        <a:ea typeface="微软雅黑" panose="020B0503020204020204" pitchFamily="34" charset="-122"/>
                      </a:endParaRPr>
                    </a:p>
                  </a:txBody>
                  <a:tcPr marL="254000" marR="254000" marT="76200" marB="76200" anchor="ctr" anchorCtr="0"/>
                </a:tc>
                <a:tc>
                  <a:txBody>
                    <a:bodyPr/>
                    <a:p>
                      <a:pPr algn="ctr" fontAlgn="ctr">
                        <a:lnSpc>
                          <a:spcPct val="120000"/>
                        </a:lnSpc>
                      </a:pPr>
                      <a:r>
                        <a:rPr lang="en-US" altLang="zh-CN" sz="2400" b="1">
                          <a:latin typeface="微软雅黑" panose="020B0503020204020204" pitchFamily="34" charset="-122"/>
                          <a:ea typeface="微软雅黑" panose="020B0503020204020204" pitchFamily="34" charset="-122"/>
                        </a:rPr>
                        <a:t>2.2 DJMS-PX</a:t>
                      </a:r>
                      <a:endParaRPr lang="en-US" altLang="zh-CN" sz="2400" b="1">
                        <a:latin typeface="微软雅黑" panose="020B0503020204020204" pitchFamily="34" charset="-122"/>
                        <a:ea typeface="微软雅黑" panose="020B0503020204020204" pitchFamily="34" charset="-122"/>
                      </a:endParaRPr>
                    </a:p>
                  </a:txBody>
                  <a:tcPr marL="254000" marR="254000" marT="76200" marB="76200" anchor="ctr" anchorCtr="0"/>
                </a:tc>
                <a:tc>
                  <a:txBody>
                    <a:bodyPr/>
                    <a:p>
                      <a:pPr algn="ctr" fontAlgn="ctr">
                        <a:lnSpc>
                          <a:spcPct val="120000"/>
                        </a:lnSpc>
                      </a:pPr>
                      <a:r>
                        <a:rPr lang="en-US" altLang="zh-CN" sz="2400" b="1">
                          <a:latin typeface="微软雅黑" panose="020B0503020204020204" pitchFamily="34" charset="-122"/>
                          <a:ea typeface="微软雅黑" panose="020B0503020204020204" pitchFamily="34" charset="-122"/>
                        </a:rPr>
                        <a:t>2.3 DJAS-PX</a:t>
                      </a:r>
                      <a:endParaRPr lang="en-US" altLang="zh-CN" sz="2400" b="1">
                        <a:latin typeface="微软雅黑" panose="020B0503020204020204" pitchFamily="34" charset="-122"/>
                        <a:ea typeface="微软雅黑" panose="020B0503020204020204" pitchFamily="34" charset="-122"/>
                      </a:endParaRPr>
                    </a:p>
                  </a:txBody>
                  <a:tcPr marL="254000" marR="254000" marT="76200" marB="76200" anchor="ctr" anchorCtr="0"/>
                </a:tc>
              </a:tr>
              <a:tr h="1016000">
                <a:tc>
                  <a:txBody>
                    <a:bodyPr/>
                    <a:p>
                      <a:pPr algn="ctr" fontAlgn="ctr">
                        <a:lnSpc>
                          <a:spcPct val="120000"/>
                        </a:lnSpc>
                      </a:pPr>
                      <a:r>
                        <a:rPr lang="zh-CN" altLang="en-US" sz="2400" b="1" spc="120">
                          <a:latin typeface="微软雅黑" panose="020B0503020204020204" pitchFamily="34" charset="-122"/>
                          <a:ea typeface="微软雅黑" panose="020B0503020204020204" pitchFamily="34" charset="-122"/>
                        </a:rPr>
                        <a:t>服务子系统</a:t>
                      </a:r>
                      <a:endParaRPr lang="zh-CN" altLang="en-US" sz="2400" b="1" spc="120">
                        <a:latin typeface="微软雅黑" panose="020B0503020204020204" pitchFamily="34" charset="-122"/>
                        <a:ea typeface="微软雅黑" panose="020B0503020204020204" pitchFamily="34" charset="-122"/>
                      </a:endParaRPr>
                    </a:p>
                  </a:txBody>
                  <a:tcPr marL="254000" marR="254000" marT="76200" marB="76200" anchor="ctr" anchorCtr="0"/>
                </a:tc>
                <a:tc>
                  <a:txBody>
                    <a:bodyPr/>
                    <a:p>
                      <a:pPr algn="ctr" fontAlgn="ctr">
                        <a:lnSpc>
                          <a:spcPct val="120000"/>
                        </a:lnSpc>
                      </a:pPr>
                      <a:r>
                        <a:rPr lang="en-US" altLang="zh-CN" sz="2400" b="1">
                          <a:latin typeface="微软雅黑" panose="020B0503020204020204" pitchFamily="34" charset="-122"/>
                          <a:ea typeface="微软雅黑" panose="020B0503020204020204" pitchFamily="34" charset="-122"/>
                        </a:rPr>
                        <a:t>3.1 DJOS-FW</a:t>
                      </a:r>
                      <a:endParaRPr lang="en-US" altLang="zh-CN" sz="2400" b="1">
                        <a:latin typeface="微软雅黑" panose="020B0503020204020204" pitchFamily="34" charset="-122"/>
                        <a:ea typeface="微软雅黑" panose="020B0503020204020204" pitchFamily="34" charset="-122"/>
                      </a:endParaRPr>
                    </a:p>
                  </a:txBody>
                  <a:tcPr marL="254000" marR="254000" marT="76200" marB="76200" anchor="ctr" anchorCtr="0"/>
                </a:tc>
                <a:tc>
                  <a:txBody>
                    <a:bodyPr/>
                    <a:p>
                      <a:pPr algn="ctr" fontAlgn="ctr">
                        <a:lnSpc>
                          <a:spcPct val="120000"/>
                        </a:lnSpc>
                      </a:pPr>
                      <a:r>
                        <a:rPr lang="en-US" altLang="zh-CN" sz="2400" b="1">
                          <a:latin typeface="微软雅黑" panose="020B0503020204020204" pitchFamily="34" charset="-122"/>
                          <a:ea typeface="微软雅黑" panose="020B0503020204020204" pitchFamily="34" charset="-122"/>
                        </a:rPr>
                        <a:t>3.2 DJMS-FW</a:t>
                      </a:r>
                      <a:endParaRPr lang="en-US" altLang="zh-CN" sz="2400" b="1">
                        <a:latin typeface="微软雅黑" panose="020B0503020204020204" pitchFamily="34" charset="-122"/>
                        <a:ea typeface="微软雅黑" panose="020B0503020204020204" pitchFamily="34" charset="-122"/>
                      </a:endParaRPr>
                    </a:p>
                  </a:txBody>
                  <a:tcPr marL="254000" marR="254000" marT="76200" marB="76200" anchor="ctr" anchorCtr="0"/>
                </a:tc>
                <a:tc>
                  <a:txBody>
                    <a:bodyPr/>
                    <a:p>
                      <a:pPr algn="ctr" fontAlgn="ctr">
                        <a:lnSpc>
                          <a:spcPct val="120000"/>
                        </a:lnSpc>
                      </a:pPr>
                      <a:r>
                        <a:rPr lang="en-US" altLang="zh-CN" sz="2400" b="1">
                          <a:latin typeface="微软雅黑" panose="020B0503020204020204" pitchFamily="34" charset="-122"/>
                          <a:ea typeface="微软雅黑" panose="020B0503020204020204" pitchFamily="34" charset="-122"/>
                        </a:rPr>
                        <a:t>3.3 DJAS-FW</a:t>
                      </a:r>
                      <a:endParaRPr lang="en-US" altLang="zh-CN" sz="2400" b="1">
                        <a:latin typeface="微软雅黑" panose="020B0503020204020204" pitchFamily="34" charset="-122"/>
                        <a:ea typeface="微软雅黑" panose="020B0503020204020204" pitchFamily="34" charset="-122"/>
                      </a:endParaRPr>
                    </a:p>
                  </a:txBody>
                  <a:tcPr marL="254000" marR="254000" marT="76200" marB="76200" anchor="ctr" anchorCtr="0"/>
                </a:tc>
              </a:tr>
              <a:tr h="835025">
                <a:tc>
                  <a:txBody>
                    <a:bodyPr/>
                    <a:p>
                      <a:pPr algn="ctr" fontAlgn="ctr">
                        <a:lnSpc>
                          <a:spcPct val="120000"/>
                        </a:lnSpc>
                      </a:pPr>
                      <a:r>
                        <a:rPr lang="zh-CN" altLang="en-US" sz="2400" b="1" spc="120">
                          <a:solidFill>
                            <a:srgbClr val="FF0000"/>
                          </a:solidFill>
                          <a:latin typeface="微软雅黑" panose="020B0503020204020204" pitchFamily="34" charset="-122"/>
                          <a:ea typeface="微软雅黑" panose="020B0503020204020204" pitchFamily="34" charset="-122"/>
                        </a:rPr>
                        <a:t>营销子系统</a:t>
                      </a:r>
                      <a:endParaRPr lang="zh-CN" altLang="en-US" sz="2400" b="1" spc="120">
                        <a:solidFill>
                          <a:srgbClr val="FF0000"/>
                        </a:solidFill>
                        <a:latin typeface="微软雅黑" panose="020B0503020204020204" pitchFamily="34" charset="-122"/>
                        <a:ea typeface="微软雅黑" panose="020B0503020204020204" pitchFamily="34" charset="-122"/>
                      </a:endParaRPr>
                    </a:p>
                  </a:txBody>
                  <a:tcPr marL="254000" marR="254000" marT="76200" marB="76200" anchor="ctr" anchorCtr="0"/>
                </a:tc>
                <a:tc>
                  <a:txBody>
                    <a:bodyPr/>
                    <a:p>
                      <a:pPr algn="ctr" fontAlgn="ctr">
                        <a:lnSpc>
                          <a:spcPct val="120000"/>
                        </a:lnSpc>
                      </a:pPr>
                      <a:r>
                        <a:rPr lang="en-US" altLang="zh-CN" sz="2400" b="1">
                          <a:solidFill>
                            <a:srgbClr val="FF0000"/>
                          </a:solidFill>
                          <a:latin typeface="微软雅黑" panose="020B0503020204020204" pitchFamily="34" charset="-122"/>
                          <a:ea typeface="微软雅黑" panose="020B0503020204020204" pitchFamily="34" charset="-122"/>
                        </a:rPr>
                        <a:t>4.1 DJOS-YX</a:t>
                      </a:r>
                      <a:endParaRPr lang="en-US" altLang="zh-CN" sz="2400" b="1">
                        <a:solidFill>
                          <a:srgbClr val="FF0000"/>
                        </a:solidFill>
                        <a:latin typeface="微软雅黑" panose="020B0503020204020204" pitchFamily="34" charset="-122"/>
                        <a:ea typeface="微软雅黑" panose="020B0503020204020204" pitchFamily="34" charset="-122"/>
                      </a:endParaRPr>
                    </a:p>
                  </a:txBody>
                  <a:tcPr marL="254000" marR="254000" marT="76200" marB="76200" anchor="ctr" anchorCtr="0"/>
                </a:tc>
                <a:tc>
                  <a:txBody>
                    <a:bodyPr/>
                    <a:p>
                      <a:pPr algn="ctr" fontAlgn="ctr">
                        <a:lnSpc>
                          <a:spcPct val="120000"/>
                        </a:lnSpc>
                      </a:pPr>
                      <a:r>
                        <a:rPr lang="en-US" altLang="zh-CN" sz="2400" b="1">
                          <a:solidFill>
                            <a:srgbClr val="FF0000"/>
                          </a:solidFill>
                          <a:latin typeface="微软雅黑" panose="020B0503020204020204" pitchFamily="34" charset="-122"/>
                          <a:ea typeface="微软雅黑" panose="020B0503020204020204" pitchFamily="34" charset="-122"/>
                        </a:rPr>
                        <a:t>4.2 DJMS-YX</a:t>
                      </a:r>
                      <a:endParaRPr lang="en-US" altLang="zh-CN" sz="2400" b="1">
                        <a:solidFill>
                          <a:srgbClr val="FF0000"/>
                        </a:solidFill>
                        <a:latin typeface="微软雅黑" panose="020B0503020204020204" pitchFamily="34" charset="-122"/>
                        <a:ea typeface="微软雅黑" panose="020B0503020204020204" pitchFamily="34" charset="-122"/>
                      </a:endParaRPr>
                    </a:p>
                  </a:txBody>
                  <a:tcPr marL="254000" marR="254000" marT="76200" marB="76200" anchor="ctr" anchorCtr="0"/>
                </a:tc>
                <a:tc>
                  <a:txBody>
                    <a:bodyPr/>
                    <a:p>
                      <a:pPr algn="ctr" fontAlgn="ctr">
                        <a:lnSpc>
                          <a:spcPct val="120000"/>
                        </a:lnSpc>
                      </a:pPr>
                      <a:r>
                        <a:rPr lang="en-US" altLang="zh-CN" sz="2400" b="1">
                          <a:solidFill>
                            <a:srgbClr val="FF0000"/>
                          </a:solidFill>
                          <a:latin typeface="微软雅黑" panose="020B0503020204020204" pitchFamily="34" charset="-122"/>
                          <a:ea typeface="微软雅黑" panose="020B0503020204020204" pitchFamily="34" charset="-122"/>
                        </a:rPr>
                        <a:t>4.3 DJAS-YX</a:t>
                      </a:r>
                      <a:endParaRPr lang="en-US" altLang="zh-CN" sz="2400" b="1">
                        <a:solidFill>
                          <a:srgbClr val="FF0000"/>
                        </a:solidFill>
                        <a:latin typeface="微软雅黑" panose="020B0503020204020204" pitchFamily="34" charset="-122"/>
                        <a:ea typeface="微软雅黑" panose="020B0503020204020204" pitchFamily="34" charset="-122"/>
                      </a:endParaRPr>
                    </a:p>
                  </a:txBody>
                  <a:tcPr marL="254000" marR="254000" marT="76200" marB="76200" anchor="ctr" anchorCtr="0"/>
                </a:tc>
              </a:tr>
              <a:tr h="834390">
                <a:tc>
                  <a:txBody>
                    <a:bodyPr/>
                    <a:p>
                      <a:pPr algn="ctr" fontAlgn="ctr">
                        <a:lnSpc>
                          <a:spcPct val="120000"/>
                        </a:lnSpc>
                      </a:pPr>
                      <a:r>
                        <a:rPr lang="zh-CN" altLang="en-US" sz="2400" b="1" spc="120">
                          <a:latin typeface="微软雅黑" panose="020B0503020204020204" pitchFamily="34" charset="-122"/>
                          <a:ea typeface="微软雅黑" panose="020B0503020204020204" pitchFamily="34" charset="-122"/>
                        </a:rPr>
                        <a:t>产品子系统</a:t>
                      </a:r>
                      <a:endParaRPr lang="zh-CN" altLang="en-US" sz="2400" b="1" spc="120">
                        <a:latin typeface="微软雅黑" panose="020B0503020204020204" pitchFamily="34" charset="-122"/>
                        <a:ea typeface="微软雅黑" panose="020B0503020204020204" pitchFamily="34" charset="-122"/>
                      </a:endParaRPr>
                    </a:p>
                  </a:txBody>
                  <a:tcPr marL="254000" marR="254000" marT="76200" marB="76200" anchor="ctr" anchorCtr="0"/>
                </a:tc>
                <a:tc>
                  <a:txBody>
                    <a:bodyPr/>
                    <a:p>
                      <a:pPr algn="ctr" fontAlgn="ctr">
                        <a:lnSpc>
                          <a:spcPct val="120000"/>
                        </a:lnSpc>
                      </a:pPr>
                      <a:r>
                        <a:rPr lang="en-US" altLang="zh-CN" sz="2400" b="1">
                          <a:latin typeface="微软雅黑" panose="020B0503020204020204" pitchFamily="34" charset="-122"/>
                          <a:ea typeface="微软雅黑" panose="020B0503020204020204" pitchFamily="34" charset="-122"/>
                        </a:rPr>
                        <a:t>5.1 DJOS-CP</a:t>
                      </a:r>
                      <a:endParaRPr lang="en-US" altLang="zh-CN" sz="2400" b="1">
                        <a:latin typeface="微软雅黑" panose="020B0503020204020204" pitchFamily="34" charset="-122"/>
                        <a:ea typeface="微软雅黑" panose="020B0503020204020204" pitchFamily="34" charset="-122"/>
                      </a:endParaRPr>
                    </a:p>
                  </a:txBody>
                  <a:tcPr marL="254000" marR="254000" marT="76200" marB="76200" anchor="ctr" anchorCtr="0"/>
                </a:tc>
                <a:tc>
                  <a:txBody>
                    <a:bodyPr/>
                    <a:p>
                      <a:pPr algn="ctr" fontAlgn="ctr">
                        <a:lnSpc>
                          <a:spcPct val="120000"/>
                        </a:lnSpc>
                      </a:pPr>
                      <a:r>
                        <a:rPr lang="en-US" altLang="zh-CN" sz="2400" b="1">
                          <a:latin typeface="微软雅黑" panose="020B0503020204020204" pitchFamily="34" charset="-122"/>
                          <a:ea typeface="微软雅黑" panose="020B0503020204020204" pitchFamily="34" charset="-122"/>
                        </a:rPr>
                        <a:t>5.2 DJMS-CP</a:t>
                      </a:r>
                      <a:endParaRPr lang="en-US" altLang="zh-CN" sz="2400" b="1">
                        <a:latin typeface="微软雅黑" panose="020B0503020204020204" pitchFamily="34" charset="-122"/>
                        <a:ea typeface="微软雅黑" panose="020B0503020204020204" pitchFamily="34" charset="-122"/>
                      </a:endParaRPr>
                    </a:p>
                  </a:txBody>
                  <a:tcPr marL="254000" marR="254000" marT="76200" marB="76200" anchor="ctr" anchorCtr="0"/>
                </a:tc>
                <a:tc>
                  <a:txBody>
                    <a:bodyPr/>
                    <a:p>
                      <a:pPr algn="ctr" fontAlgn="ctr">
                        <a:lnSpc>
                          <a:spcPct val="120000"/>
                        </a:lnSpc>
                      </a:pPr>
                      <a:r>
                        <a:rPr lang="en-US" altLang="zh-CN" sz="2400" b="1">
                          <a:latin typeface="微软雅黑" panose="020B0503020204020204" pitchFamily="34" charset="-122"/>
                          <a:ea typeface="微软雅黑" panose="020B0503020204020204" pitchFamily="34" charset="-122"/>
                        </a:rPr>
                        <a:t>5.3 DJAS-CP</a:t>
                      </a:r>
                      <a:endParaRPr lang="en-US" altLang="zh-CN" sz="2400" b="1">
                        <a:latin typeface="微软雅黑" panose="020B0503020204020204" pitchFamily="34" charset="-122"/>
                        <a:ea typeface="微软雅黑" panose="020B0503020204020204" pitchFamily="34" charset="-122"/>
                      </a:endParaRPr>
                    </a:p>
                  </a:txBody>
                  <a:tcPr marL="254000" marR="254000" marT="76200" marB="76200" anchor="ctr" anchorCtr="0"/>
                </a:tc>
              </a:tr>
            </a:tbl>
          </a:graphicData>
        </a:graphic>
      </p:graphicFrame>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课程内容</a:t>
            </a:r>
            <a:endParaRPr lang="zh-CN" altLang="en-US" dirty="0"/>
          </a:p>
        </p:txBody>
      </p:sp>
      <p:sp>
        <p:nvSpPr>
          <p:cNvPr id="3" name="内容占位符 2"/>
          <p:cNvSpPr>
            <a:spLocks noGrp="1"/>
          </p:cNvSpPr>
          <p:nvPr>
            <p:ph idx="1"/>
          </p:nvPr>
        </p:nvSpPr>
        <p:spPr>
          <a:xfrm>
            <a:off x="644525" y="1833245"/>
            <a:ext cx="10515600" cy="3989070"/>
          </a:xfrm>
        </p:spPr>
        <p:txBody>
          <a:bodyPr>
            <a:normAutofit/>
          </a:bodyPr>
          <a:lstStyle/>
          <a:p>
            <a:pPr marL="0" indent="0" algn="ctr">
              <a:lnSpc>
                <a:spcPct val="150000"/>
              </a:lnSpc>
              <a:buNone/>
            </a:pPr>
            <a:r>
              <a:rPr lang="zh-CN" altLang="en-US" sz="4400" b="1" dirty="0"/>
              <a:t>一、认识操作系统</a:t>
            </a:r>
            <a:endParaRPr lang="zh-CN" altLang="en-US" sz="4400" b="1" dirty="0"/>
          </a:p>
          <a:p>
            <a:pPr marL="0" indent="0" algn="ctr">
              <a:lnSpc>
                <a:spcPct val="150000"/>
              </a:lnSpc>
              <a:buNone/>
            </a:pPr>
            <a:r>
              <a:rPr lang="zh-CN" altLang="en-US" sz="4400" b="1" dirty="0">
                <a:sym typeface="+mn-ea"/>
              </a:rPr>
              <a:t>二、制作操作系统</a:t>
            </a:r>
            <a:endParaRPr lang="zh-CN" altLang="en-US" sz="4400" b="1" dirty="0"/>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b="1" dirty="0">
                <a:solidFill>
                  <a:srgbClr val="7030A0"/>
                </a:solidFill>
              </a:rPr>
              <a:t>一、</a:t>
            </a:r>
            <a:r>
              <a:rPr lang="zh-CN" altLang="en-US" dirty="0">
                <a:solidFill>
                  <a:srgbClr val="7030A0"/>
                </a:solidFill>
              </a:rPr>
              <a:t>认识操作系统</a:t>
            </a:r>
            <a:endParaRPr lang="zh-CN" altLang="en-US" dirty="0">
              <a:solidFill>
                <a:srgbClr val="7030A0"/>
              </a:solidFill>
            </a:endParaRPr>
          </a:p>
        </p:txBody>
      </p:sp>
      <p:sp>
        <p:nvSpPr>
          <p:cNvPr id="3" name="内容占位符 2"/>
          <p:cNvSpPr>
            <a:spLocks noGrp="1"/>
          </p:cNvSpPr>
          <p:nvPr>
            <p:ph idx="1"/>
          </p:nvPr>
        </p:nvSpPr>
        <p:spPr>
          <a:xfrm>
            <a:off x="838200" y="1690688"/>
            <a:ext cx="10515600" cy="4351338"/>
          </a:xfrm>
        </p:spPr>
        <p:txBody>
          <a:bodyPr>
            <a:normAutofit/>
          </a:bodyPr>
          <a:lstStyle/>
          <a:p>
            <a:pPr marL="0" indent="0">
              <a:lnSpc>
                <a:spcPct val="150000"/>
              </a:lnSpc>
              <a:buNone/>
            </a:pPr>
            <a:r>
              <a:rPr lang="zh-CN" altLang="en-US" sz="3200" b="1" dirty="0"/>
              <a:t>企业员工做事情有四种方式：</a:t>
            </a:r>
            <a:endParaRPr lang="zh-CN" altLang="en-US" sz="3200" b="1" dirty="0"/>
          </a:p>
          <a:p>
            <a:pPr marL="0" indent="0">
              <a:lnSpc>
                <a:spcPct val="150000"/>
              </a:lnSpc>
              <a:buNone/>
            </a:pPr>
            <a:r>
              <a:rPr lang="en-US" altLang="zh-CN" sz="3200" b="1" dirty="0"/>
              <a:t>——</a:t>
            </a:r>
            <a:r>
              <a:rPr lang="zh-CN" altLang="en-US" sz="3200" b="1" dirty="0"/>
              <a:t>不知道按什么程序做事；</a:t>
            </a:r>
            <a:endParaRPr lang="zh-CN" altLang="en-US" sz="3200" b="1" dirty="0"/>
          </a:p>
          <a:p>
            <a:pPr marL="0" indent="0">
              <a:lnSpc>
                <a:spcPct val="150000"/>
              </a:lnSpc>
              <a:buNone/>
            </a:pPr>
            <a:r>
              <a:rPr lang="en-US" altLang="zh-CN" sz="3200" b="1" dirty="0"/>
              <a:t>——</a:t>
            </a:r>
            <a:r>
              <a:rPr lang="zh-CN" altLang="en-US" sz="3200" b="1" dirty="0"/>
              <a:t>知道程序但不清楚做到什么程度；</a:t>
            </a:r>
            <a:endParaRPr lang="zh-CN" altLang="en-US" sz="3200" b="1" dirty="0"/>
          </a:p>
          <a:p>
            <a:pPr marL="0" indent="0">
              <a:lnSpc>
                <a:spcPct val="150000"/>
              </a:lnSpc>
              <a:buNone/>
            </a:pPr>
            <a:r>
              <a:rPr lang="en-US" altLang="zh-CN" sz="3200" b="1" dirty="0"/>
              <a:t>——</a:t>
            </a:r>
            <a:r>
              <a:rPr lang="zh-CN" altLang="en-US" sz="3200" b="1" dirty="0"/>
              <a:t>按各自认定的程序、程度做事；</a:t>
            </a:r>
            <a:endParaRPr lang="zh-CN" altLang="en-US" sz="3200" b="1" dirty="0"/>
          </a:p>
          <a:p>
            <a:pPr marL="0" indent="0">
              <a:lnSpc>
                <a:spcPct val="150000"/>
              </a:lnSpc>
              <a:buNone/>
            </a:pPr>
            <a:r>
              <a:rPr lang="en-US" altLang="zh-CN" sz="3200" b="1" dirty="0"/>
              <a:t>——</a:t>
            </a:r>
            <a:r>
              <a:rPr lang="zh-CN" altLang="en-US" sz="3200" b="1" dirty="0"/>
              <a:t>按公司统一的程序、程度做事。</a:t>
            </a:r>
            <a:endParaRPr lang="zh-CN" altLang="en-US" sz="3200" b="1" dirty="0"/>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838835"/>
            <a:ext cx="10515600" cy="5203825"/>
          </a:xfrm>
        </p:spPr>
        <p:txBody>
          <a:bodyPr>
            <a:normAutofit lnSpcReduction="10000"/>
          </a:bodyPr>
          <a:lstStyle/>
          <a:p>
            <a:pPr marL="0" indent="0">
              <a:lnSpc>
                <a:spcPct val="150000"/>
              </a:lnSpc>
              <a:buNone/>
            </a:pPr>
            <a:r>
              <a:rPr lang="zh-CN" altLang="en-US" sz="3200" b="1" dirty="0"/>
              <a:t>前两种属于</a:t>
            </a:r>
            <a:r>
              <a:rPr lang="zh-CN" altLang="en-US" sz="3200" b="1" dirty="0">
                <a:solidFill>
                  <a:srgbClr val="00B050"/>
                </a:solidFill>
              </a:rPr>
              <a:t>凭感觉</a:t>
            </a:r>
            <a:r>
              <a:rPr lang="zh-CN" altLang="en-US" sz="3200" b="1" dirty="0"/>
              <a:t>做事；</a:t>
            </a:r>
            <a:endParaRPr lang="zh-CN" altLang="en-US" sz="3200" b="1" dirty="0"/>
          </a:p>
          <a:p>
            <a:pPr marL="0" indent="0">
              <a:lnSpc>
                <a:spcPct val="150000"/>
              </a:lnSpc>
              <a:buNone/>
            </a:pPr>
            <a:r>
              <a:rPr lang="zh-CN" altLang="en-US" sz="3200" b="1" dirty="0"/>
              <a:t>后两种属于</a:t>
            </a:r>
            <a:r>
              <a:rPr lang="zh-CN" altLang="en-US" sz="3200" b="1" dirty="0">
                <a:solidFill>
                  <a:srgbClr val="00B050"/>
                </a:solidFill>
              </a:rPr>
              <a:t>按流程标准</a:t>
            </a:r>
            <a:r>
              <a:rPr lang="zh-CN" altLang="en-US" sz="3200" b="1" dirty="0"/>
              <a:t>做事。</a:t>
            </a:r>
            <a:endParaRPr lang="zh-CN" altLang="en-US" sz="3200" b="1" dirty="0"/>
          </a:p>
          <a:p>
            <a:pPr marL="0" indent="0">
              <a:lnSpc>
                <a:spcPct val="150000"/>
              </a:lnSpc>
              <a:buNone/>
            </a:pPr>
            <a:r>
              <a:rPr lang="zh-CN" altLang="en-US" sz="3200" b="1" dirty="0"/>
              <a:t>请问：中国多数中小企业的做事方式是哪种方式</a:t>
            </a:r>
            <a:r>
              <a:rPr lang="en-US" altLang="zh-CN" sz="3200" b="1" dirty="0"/>
              <a:t>？</a:t>
            </a:r>
            <a:endParaRPr lang="en-US" altLang="zh-CN" sz="3200" b="1" dirty="0"/>
          </a:p>
          <a:p>
            <a:pPr marL="0" indent="0">
              <a:lnSpc>
                <a:spcPct val="150000"/>
              </a:lnSpc>
              <a:buNone/>
            </a:pPr>
            <a:r>
              <a:rPr lang="en-US" altLang="zh-CN" sz="3200" b="1" dirty="0"/>
              <a:t>——</a:t>
            </a:r>
            <a:r>
              <a:rPr lang="zh-CN" altLang="en-US" sz="3200" b="1" dirty="0"/>
              <a:t>前两种居多</a:t>
            </a:r>
            <a:r>
              <a:rPr lang="en-US" altLang="zh-CN" sz="3200" b="1" dirty="0"/>
              <a:t>！</a:t>
            </a:r>
            <a:endParaRPr lang="en-US" altLang="zh-CN" sz="3200" b="1" dirty="0"/>
          </a:p>
          <a:p>
            <a:pPr marL="0" indent="0">
              <a:lnSpc>
                <a:spcPct val="150000"/>
              </a:lnSpc>
              <a:buNone/>
            </a:pPr>
            <a:r>
              <a:rPr lang="zh-CN" altLang="en-US" sz="3200" b="1" dirty="0"/>
              <a:t>为什么</a:t>
            </a:r>
            <a:r>
              <a:rPr lang="en-US" altLang="zh-CN" sz="3200" b="1" dirty="0"/>
              <a:t>？</a:t>
            </a:r>
            <a:endParaRPr lang="en-US" altLang="zh-CN" sz="3200" b="1" dirty="0"/>
          </a:p>
          <a:p>
            <a:pPr marL="0" indent="0" algn="ctr">
              <a:lnSpc>
                <a:spcPct val="150000"/>
              </a:lnSpc>
              <a:buNone/>
            </a:pPr>
            <a:r>
              <a:rPr lang="zh-CN" altLang="en-US" sz="4000" b="1" dirty="0">
                <a:solidFill>
                  <a:srgbClr val="FF0000"/>
                </a:solidFill>
              </a:rPr>
              <a:t>缺乏流程体系</a:t>
            </a:r>
            <a:r>
              <a:rPr lang="en-US" altLang="zh-CN" sz="4000" b="1" dirty="0">
                <a:solidFill>
                  <a:srgbClr val="FF0000"/>
                </a:solidFill>
              </a:rPr>
              <a:t>！</a:t>
            </a:r>
            <a:endParaRPr lang="en-US" altLang="zh-CN" sz="4000" b="1" dirty="0">
              <a:solidFill>
                <a:srgbClr val="FF0000"/>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378101"/>
            <a:ext cx="10515600" cy="5332137"/>
          </a:xfrm>
        </p:spPr>
        <p:txBody>
          <a:bodyPr>
            <a:normAutofit/>
          </a:bodyPr>
          <a:lstStyle/>
          <a:p>
            <a:pPr marL="0" indent="0">
              <a:lnSpc>
                <a:spcPct val="150000"/>
              </a:lnSpc>
              <a:buNone/>
            </a:pPr>
            <a:r>
              <a:rPr lang="zh-CN" altLang="en-US" sz="3200" b="1" dirty="0">
                <a:solidFill>
                  <a:srgbClr val="7030A0"/>
                </a:solidFill>
              </a:rPr>
              <a:t>什么是流程</a:t>
            </a:r>
            <a:r>
              <a:rPr lang="en-US" altLang="zh-CN" sz="3200" b="1" dirty="0">
                <a:solidFill>
                  <a:srgbClr val="7030A0"/>
                </a:solidFill>
              </a:rPr>
              <a:t>？</a:t>
            </a:r>
            <a:endParaRPr lang="en-US" altLang="zh-CN" sz="3200" b="1" dirty="0">
              <a:solidFill>
                <a:srgbClr val="7030A0"/>
              </a:solidFill>
            </a:endParaRPr>
          </a:p>
          <a:p>
            <a:pPr marL="0" indent="0">
              <a:lnSpc>
                <a:spcPct val="150000"/>
              </a:lnSpc>
              <a:buNone/>
            </a:pPr>
            <a:r>
              <a:rPr lang="zh-CN" altLang="en-US" sz="3200" b="1" dirty="0"/>
              <a:t>举例：接力赛跑</a:t>
            </a:r>
            <a:endParaRPr lang="zh-CN" altLang="en-US" sz="3200" b="1" dirty="0"/>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1253490" y="2049780"/>
            <a:ext cx="9290050" cy="41122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41705" y="471805"/>
            <a:ext cx="10515600" cy="5624195"/>
          </a:xfrm>
        </p:spPr>
        <p:txBody>
          <a:bodyPr>
            <a:noAutofit/>
          </a:bodyPr>
          <a:lstStyle/>
          <a:p>
            <a:pPr marL="0" indent="457200" fontAlgn="auto">
              <a:lnSpc>
                <a:spcPct val="150000"/>
              </a:lnSpc>
              <a:buNone/>
            </a:pPr>
            <a:r>
              <a:rPr lang="zh-CN" altLang="en-US" sz="2800" b="1" dirty="0">
                <a:solidFill>
                  <a:srgbClr val="7030A0"/>
                </a:solidFill>
              </a:rPr>
              <a:t>接力赛跑体现了企业的业务流程</a:t>
            </a:r>
            <a:r>
              <a:rPr lang="en-US" altLang="zh-CN" sz="2800" b="1" dirty="0">
                <a:solidFill>
                  <a:srgbClr val="7030A0"/>
                </a:solidFill>
              </a:rPr>
              <a:t>！</a:t>
            </a:r>
            <a:endParaRPr lang="en-US" altLang="zh-CN" sz="2800" b="1" dirty="0">
              <a:solidFill>
                <a:srgbClr val="7030A0"/>
              </a:solidFill>
            </a:endParaRPr>
          </a:p>
          <a:p>
            <a:pPr marL="0" indent="457200" fontAlgn="auto">
              <a:lnSpc>
                <a:spcPct val="150000"/>
              </a:lnSpc>
              <a:buNone/>
            </a:pPr>
            <a:r>
              <a:rPr lang="zh-CN" altLang="en-US" sz="2800" b="1" dirty="0"/>
              <a:t>业务流程表现在两个方面：</a:t>
            </a:r>
            <a:endParaRPr lang="zh-CN" altLang="en-US" sz="2800" b="1" dirty="0"/>
          </a:p>
          <a:p>
            <a:pPr marL="0" indent="457200" fontAlgn="auto">
              <a:lnSpc>
                <a:spcPct val="150000"/>
              </a:lnSpc>
              <a:buNone/>
            </a:pPr>
            <a:r>
              <a:rPr lang="zh-CN" altLang="en-US" sz="2800" b="1" dirty="0"/>
              <a:t>其一，跨职能流程</a:t>
            </a:r>
            <a:endParaRPr lang="zh-CN" altLang="en-US" sz="2800" b="1" dirty="0"/>
          </a:p>
          <a:p>
            <a:pPr marL="0" indent="457200" fontAlgn="auto">
              <a:lnSpc>
                <a:spcPct val="150000"/>
              </a:lnSpc>
              <a:buNone/>
            </a:pPr>
            <a:r>
              <a:rPr lang="zh-CN" altLang="en-US" sz="2800" b="1" dirty="0"/>
              <a:t>跨职能流程就好像是</a:t>
            </a:r>
            <a:r>
              <a:rPr lang="zh-CN" altLang="en-US" sz="2800" b="1" dirty="0">
                <a:solidFill>
                  <a:srgbClr val="00B050"/>
                </a:solidFill>
              </a:rPr>
              <a:t>部门</a:t>
            </a:r>
            <a:r>
              <a:rPr lang="en-US" altLang="zh-CN" sz="2800" b="1" dirty="0">
                <a:solidFill>
                  <a:srgbClr val="00B050"/>
                </a:solidFill>
              </a:rPr>
              <a:t>/</a:t>
            </a:r>
            <a:r>
              <a:rPr lang="zh-CN" altLang="en-US" sz="2800" b="1" dirty="0">
                <a:solidFill>
                  <a:srgbClr val="00B050"/>
                </a:solidFill>
              </a:rPr>
              <a:t>岗位之间</a:t>
            </a:r>
            <a:r>
              <a:rPr lang="zh-CN" altLang="en-US" sz="2800" b="1" dirty="0"/>
              <a:t>进行的接力跑。做好跨部门、跨岗位的工作，就会使流程顺畅、业务运作加快。</a:t>
            </a:r>
            <a:endParaRPr lang="zh-CN" altLang="en-US" sz="2800" b="1" dirty="0"/>
          </a:p>
          <a:p>
            <a:pPr marL="0" indent="457200" fontAlgn="auto">
              <a:lnSpc>
                <a:spcPct val="150000"/>
              </a:lnSpc>
              <a:buNone/>
            </a:pPr>
            <a:r>
              <a:rPr lang="zh-CN" altLang="en-US" sz="2800" b="1" dirty="0"/>
              <a:t>其二，岗位内流程</a:t>
            </a:r>
            <a:endParaRPr lang="zh-CN" altLang="en-US" sz="2800" b="1" dirty="0"/>
          </a:p>
          <a:p>
            <a:pPr marL="0" indent="457200" fontAlgn="auto">
              <a:lnSpc>
                <a:spcPct val="150000"/>
              </a:lnSpc>
              <a:buNone/>
            </a:pPr>
            <a:r>
              <a:rPr lang="zh-CN" altLang="en-US" sz="2800" b="1" dirty="0"/>
              <a:t>岗位内流程就好像是</a:t>
            </a:r>
            <a:r>
              <a:rPr lang="zh-CN" altLang="en-US" sz="2800" b="1" dirty="0">
                <a:solidFill>
                  <a:srgbClr val="00B050"/>
                </a:solidFill>
              </a:rPr>
              <a:t>节点之间</a:t>
            </a:r>
            <a:r>
              <a:rPr lang="zh-CN" altLang="en-US" sz="2800" b="1" dirty="0"/>
              <a:t>进行的接力跑。做好岗位内流程工作，就会使流程按一个环节一个环节顺畅流转下来。</a:t>
            </a:r>
            <a:endParaRPr lang="zh-CN" altLang="en-US" sz="2800" b="1" dirty="0"/>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41705" y="1143635"/>
            <a:ext cx="10515600" cy="5055235"/>
          </a:xfrm>
        </p:spPr>
        <p:txBody>
          <a:bodyPr>
            <a:noAutofit/>
          </a:bodyPr>
          <a:lstStyle/>
          <a:p>
            <a:pPr marL="0" indent="457200" algn="l" fontAlgn="auto">
              <a:lnSpc>
                <a:spcPct val="150000"/>
              </a:lnSpc>
              <a:buNone/>
            </a:pPr>
            <a:r>
              <a:rPr lang="zh-CN" altLang="en-US" sz="3200" b="1" dirty="0">
                <a:solidFill>
                  <a:srgbClr val="7030A0"/>
                </a:solidFill>
              </a:rPr>
              <a:t>究竟什么是流程</a:t>
            </a:r>
            <a:r>
              <a:rPr lang="en-US" altLang="zh-CN" sz="3200" b="1" dirty="0">
                <a:solidFill>
                  <a:srgbClr val="7030A0"/>
                </a:solidFill>
              </a:rPr>
              <a:t>？</a:t>
            </a:r>
            <a:endParaRPr lang="en-US" altLang="zh-CN" sz="3200" b="1" dirty="0">
              <a:solidFill>
                <a:srgbClr val="7030A0"/>
              </a:solidFill>
            </a:endParaRPr>
          </a:p>
          <a:p>
            <a:pPr marL="0" indent="457200" fontAlgn="auto">
              <a:lnSpc>
                <a:spcPct val="150000"/>
              </a:lnSpc>
              <a:buNone/>
            </a:pPr>
            <a:r>
              <a:rPr lang="zh-CN" altLang="en-US" sz="3200" b="1" dirty="0"/>
              <a:t>所谓流程就是指一系列能为客户创造价值的、逻辑相关的</a:t>
            </a:r>
            <a:r>
              <a:rPr lang="zh-CN" altLang="en-US" sz="3200" b="1" dirty="0">
                <a:solidFill>
                  <a:srgbClr val="FF0000"/>
                </a:solidFill>
              </a:rPr>
              <a:t>有序活动集合</a:t>
            </a:r>
            <a:r>
              <a:rPr lang="zh-CN" altLang="en-US" sz="3200" b="1" dirty="0"/>
              <a:t>。</a:t>
            </a:r>
            <a:endParaRPr lang="zh-CN" altLang="en-US" sz="3200" b="1" dirty="0"/>
          </a:p>
          <a:p>
            <a:pPr marL="0" indent="457200" fontAlgn="auto">
              <a:lnSpc>
                <a:spcPct val="150000"/>
              </a:lnSpc>
              <a:buNone/>
            </a:pPr>
            <a:r>
              <a:rPr lang="zh-CN" altLang="en-US" sz="3200" b="1" dirty="0"/>
              <a:t>传统理解，流程就是工作的</a:t>
            </a:r>
            <a:r>
              <a:rPr lang="en-US" altLang="zh-CN" sz="3200" b="1" dirty="0"/>
              <a:t>“</a:t>
            </a:r>
            <a:r>
              <a:rPr lang="zh-CN" altLang="en-US" sz="3200" b="1" dirty="0"/>
              <a:t>程序</a:t>
            </a:r>
            <a:r>
              <a:rPr lang="en-US" altLang="zh-CN" sz="3200" b="1" dirty="0"/>
              <a:t>”，</a:t>
            </a:r>
            <a:r>
              <a:rPr lang="zh-CN" altLang="en-US" sz="3200" b="1" dirty="0"/>
              <a:t>就是将企业管理实务</a:t>
            </a:r>
            <a:r>
              <a:rPr lang="zh-CN" altLang="en-US" sz="3200" b="1" dirty="0">
                <a:solidFill>
                  <a:srgbClr val="FF0000"/>
                </a:solidFill>
              </a:rPr>
              <a:t>标准化、模块化、流程化</a:t>
            </a:r>
            <a:r>
              <a:rPr lang="zh-CN" altLang="en-US" sz="3200" b="1" dirty="0"/>
              <a:t>的过程。</a:t>
            </a:r>
            <a:endParaRPr lang="zh-CN" altLang="en-US" sz="3200" b="1" dirty="0">
              <a:solidFill>
                <a:srgbClr val="7030A0"/>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41705" y="691515"/>
            <a:ext cx="10515600" cy="5624195"/>
          </a:xfrm>
        </p:spPr>
        <p:txBody>
          <a:bodyPr>
            <a:noAutofit/>
          </a:bodyPr>
          <a:lstStyle/>
          <a:p>
            <a:pPr marL="0" indent="457200" algn="l" fontAlgn="auto">
              <a:lnSpc>
                <a:spcPct val="150000"/>
              </a:lnSpc>
              <a:buNone/>
            </a:pPr>
            <a:r>
              <a:rPr lang="zh-CN" altLang="en-US" sz="3200" b="1" dirty="0">
                <a:solidFill>
                  <a:srgbClr val="7030A0"/>
                </a:solidFill>
              </a:rPr>
              <a:t>流程谁说了算</a:t>
            </a:r>
            <a:r>
              <a:rPr lang="en-US" altLang="zh-CN" sz="3200" b="1" dirty="0">
                <a:solidFill>
                  <a:srgbClr val="7030A0"/>
                </a:solidFill>
              </a:rPr>
              <a:t>？</a:t>
            </a:r>
            <a:endParaRPr lang="en-US" altLang="zh-CN" sz="3200" b="1" dirty="0">
              <a:solidFill>
                <a:srgbClr val="7030A0"/>
              </a:solidFill>
            </a:endParaRPr>
          </a:p>
          <a:p>
            <a:pPr marL="0" indent="457200" algn="l" fontAlgn="auto">
              <a:lnSpc>
                <a:spcPct val="150000"/>
              </a:lnSpc>
              <a:buNone/>
            </a:pPr>
            <a:r>
              <a:rPr lang="zh-CN" altLang="en-US" sz="3200" b="1" dirty="0">
                <a:solidFill>
                  <a:srgbClr val="FF0000"/>
                </a:solidFill>
              </a:rPr>
              <a:t>客户</a:t>
            </a:r>
            <a:r>
              <a:rPr lang="en-US" altLang="zh-CN" sz="3200" b="1" dirty="0">
                <a:solidFill>
                  <a:srgbClr val="FF0000"/>
                </a:solidFill>
              </a:rPr>
              <a:t>！</a:t>
            </a:r>
            <a:endParaRPr lang="en-US" altLang="zh-CN" sz="3200" b="1" dirty="0">
              <a:solidFill>
                <a:srgbClr val="FF0000"/>
              </a:solidFill>
            </a:endParaRPr>
          </a:p>
          <a:p>
            <a:pPr marL="0" indent="457200" algn="l" fontAlgn="auto">
              <a:lnSpc>
                <a:spcPct val="150000"/>
              </a:lnSpc>
              <a:buNone/>
            </a:pPr>
            <a:r>
              <a:rPr lang="zh-CN" altLang="en-US" sz="3200" b="1" dirty="0">
                <a:solidFill>
                  <a:schemeClr val="tx1"/>
                </a:solidFill>
              </a:rPr>
              <a:t>流程的核心目标就是更好地为客户创造</a:t>
            </a:r>
            <a:r>
              <a:rPr lang="zh-CN" altLang="en-US" sz="3200" b="1" dirty="0">
                <a:solidFill>
                  <a:srgbClr val="FF0000"/>
                </a:solidFill>
              </a:rPr>
              <a:t>独特价值</a:t>
            </a:r>
            <a:r>
              <a:rPr lang="zh-CN" altLang="en-US" sz="3200" b="1" dirty="0">
                <a:solidFill>
                  <a:schemeClr val="tx1"/>
                </a:solidFill>
              </a:rPr>
              <a:t>，</a:t>
            </a:r>
            <a:r>
              <a:rPr lang="zh-CN" altLang="en-US" sz="3200" b="1" dirty="0">
                <a:solidFill>
                  <a:schemeClr val="tx1"/>
                </a:solidFill>
              </a:rPr>
              <a:t>也就是给客户提供适合的产品和服务。</a:t>
            </a:r>
            <a:endParaRPr lang="zh-CN" altLang="en-US" sz="3200" b="1" dirty="0">
              <a:solidFill>
                <a:schemeClr val="tx1"/>
              </a:solidFill>
            </a:endParaRPr>
          </a:p>
          <a:p>
            <a:pPr marL="0" indent="457200" algn="l" fontAlgn="auto">
              <a:lnSpc>
                <a:spcPct val="150000"/>
              </a:lnSpc>
              <a:buNone/>
            </a:pPr>
            <a:r>
              <a:rPr lang="zh-CN" altLang="en-US" sz="3200" b="1" dirty="0">
                <a:solidFill>
                  <a:schemeClr val="tx1"/>
                </a:solidFill>
              </a:rPr>
              <a:t>衡量流程是否有效的唯一标准</a:t>
            </a:r>
            <a:r>
              <a:rPr lang="en-US" altLang="zh-CN" sz="3200" b="1" dirty="0">
                <a:solidFill>
                  <a:schemeClr val="tx1"/>
                </a:solidFill>
              </a:rPr>
              <a:t>——</a:t>
            </a:r>
            <a:endParaRPr lang="en-US" altLang="zh-CN" sz="3200" b="1" dirty="0">
              <a:solidFill>
                <a:schemeClr val="tx1"/>
              </a:solidFill>
            </a:endParaRPr>
          </a:p>
          <a:p>
            <a:pPr marL="0" indent="457200" algn="ctr" fontAlgn="auto">
              <a:lnSpc>
                <a:spcPct val="150000"/>
              </a:lnSpc>
              <a:buNone/>
            </a:pPr>
            <a:r>
              <a:rPr lang="zh-CN" altLang="en-US" sz="3200" b="1" dirty="0">
                <a:solidFill>
                  <a:srgbClr val="FF0000"/>
                </a:solidFill>
              </a:rPr>
              <a:t>流程是否为客户创造价值！</a:t>
            </a:r>
            <a:endParaRPr lang="zh-CN" altLang="en-US" sz="3200" b="1" dirty="0">
              <a:solidFill>
                <a:srgbClr val="FF0000"/>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41705" y="769620"/>
            <a:ext cx="10515600" cy="5624195"/>
          </a:xfrm>
        </p:spPr>
        <p:txBody>
          <a:bodyPr>
            <a:noAutofit/>
          </a:bodyPr>
          <a:lstStyle/>
          <a:p>
            <a:pPr marL="0" indent="457200" algn="l" fontAlgn="auto">
              <a:lnSpc>
                <a:spcPct val="150000"/>
              </a:lnSpc>
              <a:buNone/>
            </a:pPr>
            <a:r>
              <a:rPr lang="zh-CN" altLang="en-US" sz="3200" b="1" dirty="0">
                <a:solidFill>
                  <a:srgbClr val="7030A0"/>
                </a:solidFill>
              </a:rPr>
              <a:t>缺乏流程体系，将导致企业出现以下什么现象：</a:t>
            </a:r>
            <a:endParaRPr lang="zh-CN" altLang="en-US" sz="3200" b="1" dirty="0">
              <a:solidFill>
                <a:srgbClr val="7030A0"/>
              </a:solidFill>
            </a:endParaRPr>
          </a:p>
          <a:p>
            <a:pPr marL="457200" indent="-457200" algn="l" fontAlgn="auto">
              <a:lnSpc>
                <a:spcPct val="150000"/>
              </a:lnSpc>
              <a:buFont typeface="Wingdings" panose="05000000000000000000" charset="0"/>
              <a:buChar char="Ø"/>
            </a:pPr>
            <a:r>
              <a:rPr lang="zh-CN" altLang="en-US" sz="3200" b="1" dirty="0">
                <a:solidFill>
                  <a:schemeClr val="tx1"/>
                </a:solidFill>
              </a:rPr>
              <a:t>企业拥有完美的战略，一线执行却没有力量</a:t>
            </a:r>
            <a:r>
              <a:rPr lang="en-US" altLang="zh-CN" sz="3200" b="1" dirty="0">
                <a:solidFill>
                  <a:schemeClr val="tx1"/>
                </a:solidFill>
              </a:rPr>
              <a:t>！</a:t>
            </a:r>
            <a:endParaRPr lang="en-US" altLang="zh-CN" sz="3200" b="1" dirty="0">
              <a:solidFill>
                <a:schemeClr val="tx1"/>
              </a:solidFill>
            </a:endParaRPr>
          </a:p>
          <a:p>
            <a:pPr marL="457200" indent="-457200" algn="l" fontAlgn="auto">
              <a:lnSpc>
                <a:spcPct val="150000"/>
              </a:lnSpc>
              <a:buFont typeface="Wingdings" panose="05000000000000000000" charset="0"/>
              <a:buChar char="Ø"/>
            </a:pPr>
            <a:r>
              <a:rPr lang="zh-CN" altLang="en-US" sz="3200" b="1" dirty="0">
                <a:solidFill>
                  <a:schemeClr val="tx1"/>
                </a:solidFill>
              </a:rPr>
              <a:t>员工执行力低下，工作拖拉，处于</a:t>
            </a:r>
            <a:r>
              <a:rPr lang="en-US" altLang="zh-CN" sz="3200" b="1" dirty="0">
                <a:solidFill>
                  <a:schemeClr val="tx1"/>
                </a:solidFill>
              </a:rPr>
              <a:t>"</a:t>
            </a:r>
            <a:r>
              <a:rPr lang="zh-CN" altLang="en-US" sz="3200" b="1" dirty="0">
                <a:solidFill>
                  <a:schemeClr val="tx1"/>
                </a:solidFill>
              </a:rPr>
              <a:t>养病状态</a:t>
            </a:r>
            <a:r>
              <a:rPr lang="en-US" altLang="zh-CN" sz="3200" b="1" dirty="0">
                <a:solidFill>
                  <a:schemeClr val="tx1"/>
                </a:solidFill>
              </a:rPr>
              <a:t>"!</a:t>
            </a:r>
            <a:endParaRPr lang="en-US" altLang="zh-CN" sz="3200" b="1" dirty="0">
              <a:solidFill>
                <a:schemeClr val="tx1"/>
              </a:solidFill>
            </a:endParaRPr>
          </a:p>
          <a:p>
            <a:pPr marL="457200" indent="-457200" algn="l" fontAlgn="auto">
              <a:lnSpc>
                <a:spcPct val="150000"/>
              </a:lnSpc>
              <a:buFont typeface="Wingdings" panose="05000000000000000000" charset="0"/>
              <a:buChar char="Ø"/>
            </a:pPr>
            <a:r>
              <a:rPr lang="zh-CN" altLang="en-US" sz="3200" b="1" dirty="0">
                <a:solidFill>
                  <a:schemeClr val="tx1"/>
                </a:solidFill>
              </a:rPr>
              <a:t>造成企业内部工作的无序混乱及劳动资源的浪费</a:t>
            </a:r>
            <a:r>
              <a:rPr lang="en-US" altLang="zh-CN" sz="3200" b="1" dirty="0">
                <a:solidFill>
                  <a:schemeClr val="tx1"/>
                </a:solidFill>
              </a:rPr>
              <a:t>！</a:t>
            </a:r>
            <a:endParaRPr lang="en-US" altLang="zh-CN" sz="3200" b="1" dirty="0">
              <a:solidFill>
                <a:schemeClr val="tx1"/>
              </a:solidFill>
            </a:endParaRPr>
          </a:p>
          <a:p>
            <a:pPr marL="457200" indent="-457200" algn="l" fontAlgn="auto">
              <a:lnSpc>
                <a:spcPct val="150000"/>
              </a:lnSpc>
              <a:buFont typeface="Wingdings" panose="05000000000000000000" charset="0"/>
              <a:buChar char="Ø"/>
            </a:pPr>
            <a:r>
              <a:rPr lang="zh-CN" altLang="en-US" sz="3200" b="1" dirty="0">
                <a:solidFill>
                  <a:schemeClr val="tx1"/>
                </a:solidFill>
              </a:rPr>
              <a:t>总有下属在</a:t>
            </a:r>
            <a:r>
              <a:rPr lang="en-US" altLang="zh-CN" sz="3200" b="1" dirty="0">
                <a:solidFill>
                  <a:schemeClr val="tx1"/>
                </a:solidFill>
              </a:rPr>
              <a:t>"</a:t>
            </a:r>
            <a:r>
              <a:rPr lang="zh-CN" altLang="en-US" sz="3200" b="1" dirty="0">
                <a:solidFill>
                  <a:schemeClr val="tx1"/>
                </a:solidFill>
              </a:rPr>
              <a:t>坐、等、靠、要</a:t>
            </a:r>
            <a:r>
              <a:rPr lang="en-US" altLang="zh-CN" sz="3200" b="1" dirty="0">
                <a:solidFill>
                  <a:schemeClr val="tx1"/>
                </a:solidFill>
              </a:rPr>
              <a:t>"，</a:t>
            </a:r>
            <a:r>
              <a:rPr lang="zh-CN" altLang="en-US" sz="3200" b="1" dirty="0">
                <a:solidFill>
                  <a:schemeClr val="tx1"/>
                </a:solidFill>
              </a:rPr>
              <a:t>而不能自动自发地完成工作</a:t>
            </a:r>
            <a:r>
              <a:rPr lang="en-US" altLang="zh-CN" sz="3200" b="1" dirty="0">
                <a:solidFill>
                  <a:schemeClr val="tx1"/>
                </a:solidFill>
              </a:rPr>
              <a:t>！</a:t>
            </a:r>
            <a:endParaRPr lang="en-US" altLang="zh-CN" sz="32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41705" y="1444625"/>
            <a:ext cx="10515600" cy="4667250"/>
          </a:xfrm>
        </p:spPr>
        <p:txBody>
          <a:bodyPr>
            <a:noAutofit/>
          </a:bodyPr>
          <a:lstStyle/>
          <a:p>
            <a:pPr marL="0" indent="457200" algn="l" fontAlgn="auto">
              <a:lnSpc>
                <a:spcPct val="150000"/>
              </a:lnSpc>
              <a:buNone/>
            </a:pPr>
            <a:r>
              <a:rPr lang="zh-CN" altLang="en-US" sz="3200" b="1" dirty="0">
                <a:solidFill>
                  <a:schemeClr val="tx1"/>
                </a:solidFill>
              </a:rPr>
              <a:t>可见，一套好流程，可以培养人、训练人、改造人，帮助企业降低成本，提高效率，从而增强企业的组织能力，进而提振企业的经营能力</a:t>
            </a:r>
            <a:r>
              <a:rPr lang="en-US" altLang="zh-CN" sz="3200" b="1" dirty="0">
                <a:solidFill>
                  <a:schemeClr val="tx1"/>
                </a:solidFill>
              </a:rPr>
              <a:t>！</a:t>
            </a:r>
            <a:endParaRPr lang="en-US" altLang="zh-CN" sz="3200" b="1" dirty="0">
              <a:solidFill>
                <a:schemeClr val="tx1"/>
              </a:solidFill>
            </a:endParaRPr>
          </a:p>
          <a:p>
            <a:pPr marL="0" indent="0" algn="ctr" fontAlgn="auto">
              <a:lnSpc>
                <a:spcPct val="150000"/>
              </a:lnSpc>
              <a:buNone/>
            </a:pPr>
            <a:r>
              <a:rPr lang="zh-CN" altLang="en-US" sz="3600" b="1" dirty="0">
                <a:solidFill>
                  <a:srgbClr val="FF0000"/>
                </a:solidFill>
              </a:rPr>
              <a:t>没有流程，管理就是空话</a:t>
            </a:r>
            <a:endParaRPr lang="zh-CN" altLang="en-US" sz="3600" b="1" dirty="0">
              <a:solidFill>
                <a:srgbClr val="FF0000"/>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41705" y="691515"/>
            <a:ext cx="10515600" cy="5624195"/>
          </a:xfrm>
        </p:spPr>
        <p:txBody>
          <a:bodyPr>
            <a:noAutofit/>
          </a:bodyPr>
          <a:lstStyle/>
          <a:p>
            <a:pPr marL="0" indent="457200" algn="l" fontAlgn="auto">
              <a:lnSpc>
                <a:spcPct val="150000"/>
              </a:lnSpc>
              <a:buNone/>
            </a:pPr>
            <a:r>
              <a:rPr lang="zh-CN" altLang="en-US" sz="3200" b="1" dirty="0">
                <a:solidFill>
                  <a:srgbClr val="7030A0"/>
                </a:solidFill>
              </a:rPr>
              <a:t>企业如何从竞争中脱颖而出</a:t>
            </a:r>
            <a:r>
              <a:rPr lang="en-US" altLang="zh-CN" sz="3200" b="1" dirty="0">
                <a:solidFill>
                  <a:srgbClr val="7030A0"/>
                </a:solidFill>
              </a:rPr>
              <a:t>？</a:t>
            </a:r>
            <a:endParaRPr lang="en-US" altLang="zh-CN" sz="3200" b="1" dirty="0">
              <a:solidFill>
                <a:srgbClr val="7030A0"/>
              </a:solidFill>
            </a:endParaRPr>
          </a:p>
          <a:p>
            <a:pPr marL="0" indent="457200" algn="l" fontAlgn="auto">
              <a:lnSpc>
                <a:spcPct val="150000"/>
              </a:lnSpc>
              <a:buNone/>
            </a:pPr>
            <a:endParaRPr lang="en-US" altLang="zh-CN" b="1" dirty="0">
              <a:solidFill>
                <a:srgbClr val="7030A0"/>
              </a:solidFill>
            </a:endParaRPr>
          </a:p>
          <a:p>
            <a:pPr marL="0" indent="0" algn="ctr" fontAlgn="auto">
              <a:lnSpc>
                <a:spcPct val="150000"/>
              </a:lnSpc>
              <a:buNone/>
            </a:pPr>
            <a:r>
              <a:rPr lang="zh-CN" altLang="en-US" sz="4400" b="1" dirty="0">
                <a:solidFill>
                  <a:srgbClr val="FF0000"/>
                </a:solidFill>
              </a:rPr>
              <a:t>执行力</a:t>
            </a:r>
            <a:r>
              <a:rPr lang="en-US" altLang="zh-CN" sz="4400" b="1" dirty="0">
                <a:solidFill>
                  <a:srgbClr val="FF0000"/>
                </a:solidFill>
              </a:rPr>
              <a:t>！</a:t>
            </a:r>
            <a:endParaRPr lang="en-US" altLang="zh-CN" sz="4400" b="1" dirty="0">
              <a:solidFill>
                <a:srgbClr val="FF0000"/>
              </a:solidFill>
            </a:endParaRPr>
          </a:p>
          <a:p>
            <a:pPr marL="0" indent="0" algn="ctr" fontAlgn="auto">
              <a:lnSpc>
                <a:spcPct val="150000"/>
              </a:lnSpc>
              <a:buNone/>
            </a:pPr>
            <a:endParaRPr lang="en-US" altLang="zh-CN" sz="3200" b="1" dirty="0">
              <a:solidFill>
                <a:srgbClr val="FF0000"/>
              </a:solidFill>
            </a:endParaRPr>
          </a:p>
          <a:p>
            <a:pPr marL="0" indent="457200" algn="l" fontAlgn="auto">
              <a:lnSpc>
                <a:spcPct val="150000"/>
              </a:lnSpc>
              <a:buNone/>
            </a:pPr>
            <a:r>
              <a:rPr lang="zh-CN" altLang="en-US" sz="3200" b="1" dirty="0">
                <a:solidFill>
                  <a:schemeClr val="tx1"/>
                </a:solidFill>
              </a:rPr>
              <a:t>失去执行力，就失去了企业长久生存和成功的必要条件。企业没有执行力，就没有</a:t>
            </a:r>
            <a:r>
              <a:rPr lang="zh-CN" altLang="en-US" sz="3200" b="1" dirty="0">
                <a:solidFill>
                  <a:srgbClr val="FF0000"/>
                </a:solidFill>
              </a:rPr>
              <a:t>核心竞争力</a:t>
            </a:r>
            <a:r>
              <a:rPr lang="en-US" altLang="zh-CN" sz="3200" b="1" dirty="0">
                <a:solidFill>
                  <a:schemeClr val="tx1"/>
                </a:solidFill>
              </a:rPr>
              <a:t>！</a:t>
            </a:r>
            <a:endParaRPr lang="en-US" altLang="zh-CN" sz="32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691515"/>
            <a:ext cx="10515600" cy="5624195"/>
          </a:xfrm>
        </p:spPr>
        <p:txBody>
          <a:bodyPr>
            <a:noAutofit/>
          </a:bodyPr>
          <a:lstStyle/>
          <a:p>
            <a:pPr marL="0" indent="457200" algn="l" fontAlgn="auto">
              <a:lnSpc>
                <a:spcPct val="150000"/>
              </a:lnSpc>
              <a:buNone/>
            </a:pPr>
            <a:r>
              <a:rPr lang="zh-CN" altLang="en-US" sz="3200" b="1" dirty="0">
                <a:solidFill>
                  <a:srgbClr val="7030A0"/>
                </a:solidFill>
              </a:rPr>
              <a:t>如何增强执行力</a:t>
            </a:r>
            <a:r>
              <a:rPr lang="en-US" altLang="zh-CN" sz="3200" b="1" dirty="0">
                <a:solidFill>
                  <a:srgbClr val="7030A0"/>
                </a:solidFill>
              </a:rPr>
              <a:t>？</a:t>
            </a:r>
            <a:endParaRPr lang="en-US" altLang="zh-CN" sz="3200" b="1" dirty="0">
              <a:solidFill>
                <a:srgbClr val="7030A0"/>
              </a:solidFill>
            </a:endParaRPr>
          </a:p>
          <a:p>
            <a:pPr marL="0" indent="457200" algn="l" fontAlgn="auto">
              <a:lnSpc>
                <a:spcPct val="150000"/>
              </a:lnSpc>
              <a:buNone/>
            </a:pPr>
            <a:r>
              <a:rPr lang="zh-CN" altLang="en-US" sz="3200" b="1" dirty="0">
                <a:solidFill>
                  <a:srgbClr val="00B050"/>
                </a:solidFill>
              </a:rPr>
              <a:t>工具：</a:t>
            </a:r>
            <a:r>
              <a:rPr lang="en-US" altLang="zh-CN" sz="3200" b="1" dirty="0">
                <a:solidFill>
                  <a:srgbClr val="7030A0"/>
                </a:solidFill>
              </a:rPr>
              <a:t>                      </a:t>
            </a:r>
            <a:r>
              <a:rPr lang="zh-CN" altLang="en-US" sz="3200" b="1" dirty="0">
                <a:solidFill>
                  <a:srgbClr val="FF0000"/>
                </a:solidFill>
              </a:rPr>
              <a:t>业务流程</a:t>
            </a:r>
            <a:r>
              <a:rPr lang="en-US" altLang="zh-CN" sz="3200" b="1" dirty="0">
                <a:solidFill>
                  <a:srgbClr val="FF0000"/>
                </a:solidFill>
              </a:rPr>
              <a:t>！</a:t>
            </a:r>
            <a:endParaRPr lang="en-US" altLang="zh-CN" sz="3200" b="1" dirty="0">
              <a:solidFill>
                <a:srgbClr val="FF0000"/>
              </a:solidFill>
            </a:endParaRPr>
          </a:p>
          <a:p>
            <a:pPr marL="0" indent="457200" algn="l" fontAlgn="auto">
              <a:lnSpc>
                <a:spcPct val="150000"/>
              </a:lnSpc>
              <a:buNone/>
            </a:pPr>
            <a:r>
              <a:rPr lang="zh-CN" altLang="en-US" sz="3200" b="1" dirty="0">
                <a:solidFill>
                  <a:schemeClr val="tx1"/>
                </a:solidFill>
              </a:rPr>
              <a:t>执行就是走流程，按照合理的流程执行，也许无法次次都能取得好的结果，但能够很大程度上保证不会出大错。</a:t>
            </a:r>
            <a:endParaRPr lang="zh-CN" altLang="en-US" sz="3200" b="1" dirty="0">
              <a:solidFill>
                <a:schemeClr val="tx1"/>
              </a:solidFill>
            </a:endParaRPr>
          </a:p>
          <a:p>
            <a:pPr marL="0" indent="457200" algn="l" fontAlgn="auto">
              <a:lnSpc>
                <a:spcPct val="150000"/>
              </a:lnSpc>
              <a:buNone/>
            </a:pPr>
            <a:r>
              <a:rPr lang="zh-CN" altLang="en-US" sz="3200" b="1" dirty="0">
                <a:solidFill>
                  <a:srgbClr val="00B050"/>
                </a:solidFill>
              </a:rPr>
              <a:t>流程的作用：</a:t>
            </a:r>
            <a:endParaRPr lang="zh-CN" altLang="en-US" sz="3200" b="1" dirty="0">
              <a:solidFill>
                <a:srgbClr val="00B050"/>
              </a:solidFill>
            </a:endParaRPr>
          </a:p>
          <a:p>
            <a:pPr marL="0" indent="457200" algn="ctr" fontAlgn="auto">
              <a:lnSpc>
                <a:spcPct val="150000"/>
              </a:lnSpc>
              <a:buNone/>
            </a:pPr>
            <a:r>
              <a:rPr lang="zh-CN" altLang="en-US" sz="3200" b="1" dirty="0">
                <a:solidFill>
                  <a:srgbClr val="FF0000"/>
                </a:solidFill>
              </a:rPr>
              <a:t>增强执行力，提高竞争力</a:t>
            </a:r>
            <a:r>
              <a:rPr lang="en-US" altLang="zh-CN" sz="3200" b="1" dirty="0">
                <a:solidFill>
                  <a:srgbClr val="FF0000"/>
                </a:solidFill>
              </a:rPr>
              <a:t>！</a:t>
            </a:r>
            <a:endParaRPr lang="en-US" altLang="zh-CN" sz="3200" b="1" dirty="0">
              <a:solidFill>
                <a:srgbClr val="FF0000"/>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127760"/>
            <a:ext cx="10515600" cy="4603115"/>
          </a:xfrm>
        </p:spPr>
        <p:txBody>
          <a:bodyPr>
            <a:noAutofit/>
          </a:bodyPr>
          <a:lstStyle/>
          <a:p>
            <a:pPr marL="0" indent="457200" algn="l" fontAlgn="auto">
              <a:lnSpc>
                <a:spcPct val="150000"/>
              </a:lnSpc>
              <a:buNone/>
            </a:pPr>
            <a:r>
              <a:rPr lang="zh-CN" altLang="en-US" sz="3200" b="1" dirty="0">
                <a:solidFill>
                  <a:schemeClr val="tx1"/>
                </a:solidFill>
              </a:rPr>
              <a:t>纵观那些成功企业，他们都有一些共同特点，那就是持续地审视和改善企业自身的业务流程。</a:t>
            </a:r>
            <a:endParaRPr lang="zh-CN" altLang="en-US" sz="3200" b="1" dirty="0">
              <a:solidFill>
                <a:schemeClr val="tx1"/>
              </a:solidFill>
            </a:endParaRPr>
          </a:p>
          <a:p>
            <a:pPr marL="0" indent="457200" algn="l" fontAlgn="auto">
              <a:lnSpc>
                <a:spcPct val="150000"/>
              </a:lnSpc>
              <a:buNone/>
            </a:pPr>
            <a:r>
              <a:rPr lang="zh-CN" altLang="en-US" sz="3200" b="1" dirty="0">
                <a:solidFill>
                  <a:schemeClr val="tx1"/>
                </a:solidFill>
              </a:rPr>
              <a:t>使得企业不断提高自身的运营效率，提升了客户满意度，最终使得企业获得巨大的竞争优势。</a:t>
            </a:r>
            <a:endParaRPr lang="zh-CN" altLang="en-US" sz="32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753110"/>
            <a:ext cx="10515600" cy="4603115"/>
          </a:xfrm>
        </p:spPr>
        <p:txBody>
          <a:bodyPr>
            <a:noAutofit/>
          </a:bodyPr>
          <a:lstStyle/>
          <a:p>
            <a:pPr marL="0" indent="457200" algn="l" fontAlgn="auto">
              <a:lnSpc>
                <a:spcPct val="150000"/>
              </a:lnSpc>
              <a:buNone/>
            </a:pPr>
            <a:r>
              <a:rPr lang="zh-CN" altLang="en-US" sz="2800" b="1" dirty="0">
                <a:solidFill>
                  <a:srgbClr val="7030A0"/>
                </a:solidFill>
              </a:rPr>
              <a:t>案例说明：</a:t>
            </a:r>
            <a:endParaRPr lang="zh-CN" altLang="en-US" sz="2800" b="1" dirty="0">
              <a:solidFill>
                <a:srgbClr val="7030A0"/>
              </a:solidFill>
            </a:endParaRPr>
          </a:p>
          <a:p>
            <a:pPr marL="0" indent="457200" algn="ctr" fontAlgn="auto">
              <a:lnSpc>
                <a:spcPct val="150000"/>
              </a:lnSpc>
              <a:buNone/>
            </a:pPr>
            <a:r>
              <a:rPr lang="zh-CN" altLang="en-US" sz="2800" b="1" dirty="0">
                <a:solidFill>
                  <a:schemeClr val="tx1"/>
                </a:solidFill>
              </a:rPr>
              <a:t>麦当劳为什么能快速拓展</a:t>
            </a:r>
            <a:r>
              <a:rPr lang="en-US" altLang="zh-CN" sz="2800" b="1" dirty="0">
                <a:solidFill>
                  <a:schemeClr val="tx1"/>
                </a:solidFill>
              </a:rPr>
              <a:t>？</a:t>
            </a:r>
            <a:endParaRPr lang="en-US" altLang="zh-CN" sz="2800" b="1" dirty="0">
              <a:solidFill>
                <a:schemeClr val="tx1"/>
              </a:solidFill>
            </a:endParaRPr>
          </a:p>
          <a:p>
            <a:pPr marL="0" indent="457200" algn="l" fontAlgn="auto">
              <a:lnSpc>
                <a:spcPct val="150000"/>
              </a:lnSpc>
              <a:buNone/>
            </a:pPr>
            <a:r>
              <a:rPr lang="zh-CN" altLang="en-US" sz="2800" b="1" dirty="0">
                <a:solidFill>
                  <a:schemeClr val="tx1"/>
                </a:solidFill>
              </a:rPr>
              <a:t>答案是：</a:t>
            </a:r>
            <a:r>
              <a:rPr lang="zh-CN" altLang="en-US" sz="2800" b="1" dirty="0">
                <a:solidFill>
                  <a:srgbClr val="FF0000"/>
                </a:solidFill>
              </a:rPr>
              <a:t>依靠流程复制</a:t>
            </a:r>
            <a:r>
              <a:rPr lang="en-US" altLang="zh-CN" sz="2800" b="1" dirty="0">
                <a:solidFill>
                  <a:srgbClr val="FF0000"/>
                </a:solidFill>
              </a:rPr>
              <a:t>！</a:t>
            </a:r>
            <a:endParaRPr lang="en-US" altLang="zh-CN" sz="2800" b="1" dirty="0">
              <a:solidFill>
                <a:srgbClr val="FF0000"/>
              </a:solidFill>
            </a:endParaRPr>
          </a:p>
          <a:p>
            <a:pPr marL="0" indent="457200" algn="l" fontAlgn="auto">
              <a:lnSpc>
                <a:spcPct val="150000"/>
              </a:lnSpc>
              <a:buNone/>
            </a:pPr>
            <a:r>
              <a:rPr lang="zh-CN" altLang="en-US" sz="2800" b="1" dirty="0">
                <a:solidFill>
                  <a:schemeClr val="tx1"/>
                </a:solidFill>
              </a:rPr>
              <a:t>麦当劳以每</a:t>
            </a:r>
            <a:r>
              <a:rPr lang="en-US" altLang="zh-CN" sz="2800" b="1" dirty="0">
                <a:solidFill>
                  <a:schemeClr val="tx1"/>
                </a:solidFill>
              </a:rPr>
              <a:t>3</a:t>
            </a:r>
            <a:r>
              <a:rPr lang="zh-CN" altLang="en-US" sz="2800" b="1" dirty="0">
                <a:solidFill>
                  <a:schemeClr val="tx1"/>
                </a:solidFill>
              </a:rPr>
              <a:t>个小时开一间分店的速度在世界各地拓展业务。</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依靠流程的复制，他们仅用</a:t>
            </a:r>
            <a:r>
              <a:rPr lang="en-US" altLang="zh-CN" sz="2800" b="1" dirty="0">
                <a:solidFill>
                  <a:schemeClr val="tx1"/>
                </a:solidFill>
              </a:rPr>
              <a:t>6</a:t>
            </a:r>
            <a:r>
              <a:rPr lang="zh-CN" altLang="en-US" sz="2800" b="1" dirty="0">
                <a:solidFill>
                  <a:schemeClr val="tx1"/>
                </a:solidFill>
              </a:rPr>
              <a:t>小时就能将一名新员工培训上岗。而我们中式餐厅，培训一个新员工至少需要两三个月，而且培训结束后还难以保证一致性。两相对比，我们就能看到流程的作用。</a:t>
            </a: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179195"/>
            <a:ext cx="10515600" cy="4177030"/>
          </a:xfrm>
        </p:spPr>
        <p:txBody>
          <a:bodyPr>
            <a:noAutofit/>
          </a:bodyPr>
          <a:lstStyle/>
          <a:p>
            <a:pPr marL="0" indent="457200" algn="l" fontAlgn="auto">
              <a:lnSpc>
                <a:spcPct val="150000"/>
              </a:lnSpc>
              <a:buNone/>
            </a:pPr>
            <a:r>
              <a:rPr lang="zh-CN" altLang="en-US" sz="3600" b="1" dirty="0">
                <a:solidFill>
                  <a:srgbClr val="7030A0"/>
                </a:solidFill>
              </a:rPr>
              <a:t>结论：</a:t>
            </a:r>
            <a:endParaRPr lang="zh-CN" altLang="en-US" sz="3600" b="1" dirty="0">
              <a:solidFill>
                <a:srgbClr val="7030A0"/>
              </a:solidFill>
            </a:endParaRPr>
          </a:p>
          <a:p>
            <a:pPr marL="0" indent="457200" algn="l" fontAlgn="auto">
              <a:lnSpc>
                <a:spcPct val="150000"/>
              </a:lnSpc>
              <a:buNone/>
            </a:pPr>
            <a:endParaRPr lang="zh-CN" altLang="en-US" sz="3600" b="1" dirty="0">
              <a:solidFill>
                <a:srgbClr val="7030A0"/>
              </a:solidFill>
            </a:endParaRPr>
          </a:p>
          <a:p>
            <a:pPr marL="0" indent="457200" algn="ctr" fontAlgn="auto">
              <a:lnSpc>
                <a:spcPct val="150000"/>
              </a:lnSpc>
              <a:buNone/>
            </a:pPr>
            <a:r>
              <a:rPr lang="zh-CN" altLang="en-US" sz="3600" b="1" dirty="0">
                <a:solidFill>
                  <a:srgbClr val="FF0000"/>
                </a:solidFill>
              </a:rPr>
              <a:t>企业发展的过程就是企业流程复制的过程！</a:t>
            </a:r>
            <a:endParaRPr lang="zh-CN" altLang="en-US" sz="3600" b="1" dirty="0">
              <a:solidFill>
                <a:srgbClr val="FF0000"/>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752475"/>
            <a:ext cx="10515600" cy="5928360"/>
          </a:xfrm>
        </p:spPr>
        <p:txBody>
          <a:bodyPr>
            <a:noAutofit/>
          </a:bodyPr>
          <a:lstStyle/>
          <a:p>
            <a:pPr marL="0" indent="457200" algn="l" fontAlgn="auto">
              <a:lnSpc>
                <a:spcPct val="150000"/>
              </a:lnSpc>
              <a:buNone/>
            </a:pPr>
            <a:r>
              <a:rPr lang="zh-CN" altLang="en-US" sz="3200" b="1" dirty="0">
                <a:solidFill>
                  <a:srgbClr val="7030A0"/>
                </a:solidFill>
              </a:rPr>
              <a:t>如何提升企业的复制能力</a:t>
            </a:r>
            <a:r>
              <a:rPr lang="en-US" altLang="zh-CN" sz="3200" b="1" dirty="0">
                <a:solidFill>
                  <a:srgbClr val="7030A0"/>
                </a:solidFill>
              </a:rPr>
              <a:t>？</a:t>
            </a:r>
            <a:endParaRPr lang="en-US" altLang="zh-CN" sz="3200" b="1" dirty="0">
              <a:solidFill>
                <a:srgbClr val="7030A0"/>
              </a:solidFill>
            </a:endParaRPr>
          </a:p>
          <a:p>
            <a:pPr marL="0" indent="457200" algn="l" fontAlgn="auto">
              <a:lnSpc>
                <a:spcPct val="150000"/>
              </a:lnSpc>
              <a:buNone/>
            </a:pPr>
            <a:r>
              <a:rPr lang="zh-CN" altLang="en-US" sz="3200" b="1" dirty="0">
                <a:solidFill>
                  <a:srgbClr val="00B050"/>
                </a:solidFill>
              </a:rPr>
              <a:t>工具：</a:t>
            </a:r>
            <a:r>
              <a:rPr lang="en-US" altLang="zh-CN" sz="3200" b="1" dirty="0">
                <a:solidFill>
                  <a:srgbClr val="00B050"/>
                </a:solidFill>
              </a:rPr>
              <a:t> </a:t>
            </a:r>
            <a:r>
              <a:rPr lang="en-US" altLang="zh-CN" sz="3200" b="1" dirty="0">
                <a:solidFill>
                  <a:schemeClr val="tx1"/>
                </a:solidFill>
              </a:rPr>
              <a:t>                    </a:t>
            </a:r>
            <a:r>
              <a:rPr lang="en-US" altLang="zh-CN" sz="3200" b="1" dirty="0">
                <a:solidFill>
                  <a:srgbClr val="FF0000"/>
                </a:solidFill>
              </a:rPr>
              <a:t> </a:t>
            </a:r>
            <a:r>
              <a:rPr lang="zh-CN" altLang="en-US" sz="3200" b="1" dirty="0">
                <a:solidFill>
                  <a:srgbClr val="FF0000"/>
                </a:solidFill>
              </a:rPr>
              <a:t>模式化</a:t>
            </a:r>
            <a:endParaRPr lang="zh-CN" altLang="en-US" sz="3200" b="1" dirty="0">
              <a:solidFill>
                <a:schemeClr val="tx1"/>
              </a:solidFill>
            </a:endParaRPr>
          </a:p>
          <a:p>
            <a:pPr marL="0" indent="457200" algn="l" fontAlgn="auto">
              <a:lnSpc>
                <a:spcPct val="150000"/>
              </a:lnSpc>
              <a:buNone/>
            </a:pPr>
            <a:r>
              <a:rPr lang="zh-CN" altLang="en-US" sz="3200" b="1" dirty="0">
                <a:solidFill>
                  <a:srgbClr val="00B050"/>
                </a:solidFill>
              </a:rPr>
              <a:t>模式化</a:t>
            </a:r>
            <a:r>
              <a:rPr lang="zh-CN" altLang="en-US" sz="3200" b="1" dirty="0">
                <a:solidFill>
                  <a:schemeClr val="tx1"/>
                </a:solidFill>
              </a:rPr>
              <a:t>就是将常规工作</a:t>
            </a:r>
            <a:r>
              <a:rPr lang="zh-CN" altLang="en-US" sz="3200" b="1" dirty="0">
                <a:solidFill>
                  <a:srgbClr val="00B050"/>
                </a:solidFill>
              </a:rPr>
              <a:t>标准化、模块化及</a:t>
            </a:r>
            <a:r>
              <a:rPr lang="zh-CN" altLang="en-US" sz="3200" b="1" dirty="0">
                <a:solidFill>
                  <a:srgbClr val="00B050"/>
                </a:solidFill>
                <a:sym typeface="+mn-ea"/>
              </a:rPr>
              <a:t>流程化</a:t>
            </a:r>
            <a:r>
              <a:rPr lang="zh-CN" altLang="en-US" sz="3200" b="1" dirty="0">
                <a:solidFill>
                  <a:schemeClr val="tx1"/>
                </a:solidFill>
              </a:rPr>
              <a:t>，</a:t>
            </a:r>
            <a:r>
              <a:rPr lang="zh-CN" altLang="en-US" sz="3200" b="1" dirty="0">
                <a:solidFill>
                  <a:schemeClr val="tx1"/>
                </a:solidFill>
              </a:rPr>
              <a:t>形成</a:t>
            </a:r>
            <a:r>
              <a:rPr lang="zh-CN" altLang="en-US" sz="3200" b="1" dirty="0">
                <a:solidFill>
                  <a:srgbClr val="00B050"/>
                </a:solidFill>
              </a:rPr>
              <a:t>自动化</a:t>
            </a:r>
            <a:r>
              <a:rPr lang="zh-CN" altLang="en-US" sz="3200" b="1" dirty="0">
                <a:solidFill>
                  <a:schemeClr val="tx1"/>
                </a:solidFill>
              </a:rPr>
              <a:t>的管理模式。</a:t>
            </a:r>
            <a:endParaRPr lang="zh-CN" altLang="en-US" sz="3200" b="1" dirty="0">
              <a:solidFill>
                <a:schemeClr val="tx1"/>
              </a:solidFill>
            </a:endParaRPr>
          </a:p>
          <a:p>
            <a:pPr marL="0" indent="457200" algn="l" fontAlgn="auto">
              <a:lnSpc>
                <a:spcPct val="150000"/>
              </a:lnSpc>
              <a:buNone/>
            </a:pPr>
            <a:r>
              <a:rPr lang="zh-CN" altLang="en-US" sz="3200" b="1" dirty="0">
                <a:solidFill>
                  <a:schemeClr val="tx1"/>
                </a:solidFill>
              </a:rPr>
              <a:t>只有模式化才能让</a:t>
            </a:r>
            <a:r>
              <a:rPr lang="zh-CN" altLang="en-US" sz="3200" b="1" dirty="0">
                <a:solidFill>
                  <a:srgbClr val="00B050"/>
                </a:solidFill>
              </a:rPr>
              <a:t>不同的人</a:t>
            </a:r>
            <a:r>
              <a:rPr lang="zh-CN" altLang="en-US" sz="3200" b="1" dirty="0">
                <a:solidFill>
                  <a:schemeClr val="tx1"/>
                </a:solidFill>
              </a:rPr>
              <a:t>在</a:t>
            </a:r>
            <a:r>
              <a:rPr lang="zh-CN" altLang="en-US" sz="3200" b="1" dirty="0">
                <a:solidFill>
                  <a:srgbClr val="00B050"/>
                </a:solidFill>
              </a:rPr>
              <a:t>不同的时间、地点</a:t>
            </a:r>
            <a:r>
              <a:rPr lang="zh-CN" altLang="en-US" sz="3200" b="1" dirty="0">
                <a:solidFill>
                  <a:schemeClr val="tx1"/>
                </a:solidFill>
              </a:rPr>
              <a:t>做</a:t>
            </a:r>
            <a:r>
              <a:rPr lang="zh-CN" altLang="en-US" sz="3200" b="1" dirty="0">
                <a:solidFill>
                  <a:srgbClr val="00B050"/>
                </a:solidFill>
              </a:rPr>
              <a:t>同样的事</a:t>
            </a:r>
            <a:r>
              <a:rPr lang="zh-CN" altLang="en-US" sz="3200" b="1" dirty="0">
                <a:solidFill>
                  <a:schemeClr val="tx1"/>
                </a:solidFill>
              </a:rPr>
              <a:t>，</a:t>
            </a:r>
            <a:r>
              <a:rPr lang="zh-CN" altLang="en-US" sz="3200" b="1" dirty="0">
                <a:solidFill>
                  <a:schemeClr val="tx1"/>
                </a:solidFill>
              </a:rPr>
              <a:t>能够得到</a:t>
            </a:r>
            <a:r>
              <a:rPr lang="zh-CN" altLang="en-US" sz="3200" b="1" dirty="0">
                <a:solidFill>
                  <a:srgbClr val="00B050"/>
                </a:solidFill>
              </a:rPr>
              <a:t>相同的结果</a:t>
            </a:r>
            <a:r>
              <a:rPr lang="zh-CN" altLang="en-US" sz="3200" b="1" dirty="0">
                <a:solidFill>
                  <a:schemeClr val="tx1"/>
                </a:solidFill>
              </a:rPr>
              <a:t>，</a:t>
            </a:r>
            <a:r>
              <a:rPr lang="zh-CN" altLang="en-US" sz="3200" b="1" dirty="0">
                <a:solidFill>
                  <a:schemeClr val="tx1"/>
                </a:solidFill>
              </a:rPr>
              <a:t>从而让企业能够</a:t>
            </a:r>
            <a:r>
              <a:rPr lang="zh-CN" altLang="en-US" sz="3200" b="1" dirty="0">
                <a:solidFill>
                  <a:srgbClr val="00B050"/>
                </a:solidFill>
              </a:rPr>
              <a:t>依赖自身运行系统</a:t>
            </a:r>
            <a:r>
              <a:rPr lang="zh-CN" altLang="en-US" sz="3200" b="1" dirty="0">
                <a:solidFill>
                  <a:schemeClr val="tx1"/>
                </a:solidFill>
              </a:rPr>
              <a:t>有条不紊地运行。</a:t>
            </a:r>
            <a:endParaRPr lang="zh-CN" altLang="en-US" sz="32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464820"/>
            <a:ext cx="10695940" cy="5928360"/>
          </a:xfrm>
        </p:spPr>
        <p:txBody>
          <a:bodyPr>
            <a:noAutofit/>
          </a:bodyPr>
          <a:lstStyle/>
          <a:p>
            <a:pPr marL="0" indent="457200" algn="l" fontAlgn="auto">
              <a:lnSpc>
                <a:spcPct val="150000"/>
              </a:lnSpc>
              <a:buNone/>
            </a:pPr>
            <a:r>
              <a:rPr lang="zh-CN" altLang="en-US" sz="3200" b="1" dirty="0">
                <a:solidFill>
                  <a:srgbClr val="7030A0"/>
                </a:solidFill>
              </a:rPr>
              <a:t>举例一</a:t>
            </a:r>
            <a:r>
              <a:rPr lang="en-US" altLang="zh-CN" sz="3200" b="1" dirty="0">
                <a:solidFill>
                  <a:srgbClr val="7030A0"/>
                </a:solidFill>
              </a:rPr>
              <a:t> </a:t>
            </a:r>
            <a:r>
              <a:rPr lang="zh-CN" altLang="en-US" sz="3200" b="1" dirty="0">
                <a:solidFill>
                  <a:srgbClr val="7030A0"/>
                </a:solidFill>
              </a:rPr>
              <a:t>：</a:t>
            </a:r>
            <a:endParaRPr lang="zh-CN" altLang="en-US" sz="3200" b="1" dirty="0">
              <a:solidFill>
                <a:srgbClr val="7030A0"/>
              </a:solidFill>
            </a:endParaRPr>
          </a:p>
          <a:p>
            <a:pPr marL="0" indent="0" algn="ctr" fontAlgn="auto">
              <a:lnSpc>
                <a:spcPct val="150000"/>
              </a:lnSpc>
              <a:buNone/>
            </a:pPr>
            <a:r>
              <a:rPr lang="zh-CN" altLang="en-US" sz="3200" b="1" dirty="0">
                <a:solidFill>
                  <a:srgbClr val="00B050"/>
                </a:solidFill>
              </a:rPr>
              <a:t>成为新员工的培训教材</a:t>
            </a:r>
            <a:endParaRPr lang="zh-CN" altLang="en-US" sz="3200" b="1" dirty="0">
              <a:solidFill>
                <a:srgbClr val="00B050"/>
              </a:solidFill>
            </a:endParaRPr>
          </a:p>
          <a:p>
            <a:pPr marL="0" indent="457200" algn="l" fontAlgn="auto">
              <a:lnSpc>
                <a:spcPct val="150000"/>
              </a:lnSpc>
              <a:buNone/>
            </a:pPr>
            <a:r>
              <a:rPr lang="zh-CN" altLang="en-US" sz="3200" b="1" dirty="0">
                <a:solidFill>
                  <a:schemeClr val="tx1"/>
                </a:solidFill>
              </a:rPr>
              <a:t>一个优秀的工作流程，</a:t>
            </a:r>
            <a:r>
              <a:rPr lang="en-US" altLang="zh-CN" sz="3200" b="1" dirty="0">
                <a:solidFill>
                  <a:schemeClr val="tx1"/>
                </a:solidFill>
              </a:rPr>
              <a:t> </a:t>
            </a:r>
            <a:r>
              <a:rPr lang="zh-CN" altLang="en-US" sz="3200" b="1" dirty="0">
                <a:solidFill>
                  <a:schemeClr val="tx1"/>
                </a:solidFill>
              </a:rPr>
              <a:t>是企业将众多员工的好经验、</a:t>
            </a:r>
            <a:r>
              <a:rPr lang="en-US" altLang="zh-CN" sz="3200" b="1" dirty="0">
                <a:solidFill>
                  <a:schemeClr val="tx1"/>
                </a:solidFill>
              </a:rPr>
              <a:t> </a:t>
            </a:r>
            <a:r>
              <a:rPr lang="zh-CN" altLang="en-US" sz="3200" b="1" dirty="0">
                <a:solidFill>
                  <a:schemeClr val="tx1"/>
                </a:solidFill>
              </a:rPr>
              <a:t>好方法以</a:t>
            </a:r>
            <a:r>
              <a:rPr lang="zh-CN" altLang="en-US" sz="3200" b="1" dirty="0">
                <a:solidFill>
                  <a:srgbClr val="00B050"/>
                </a:solidFill>
              </a:rPr>
              <a:t>流程图</a:t>
            </a:r>
            <a:r>
              <a:rPr lang="zh-CN" altLang="en-US" sz="3200" b="1" dirty="0">
                <a:solidFill>
                  <a:schemeClr val="tx1"/>
                </a:solidFill>
              </a:rPr>
              <a:t>的形式</a:t>
            </a:r>
            <a:r>
              <a:rPr lang="zh-CN" altLang="en-US" sz="3200" b="1" dirty="0">
                <a:solidFill>
                  <a:srgbClr val="00B050"/>
                </a:solidFill>
              </a:rPr>
              <a:t>沉淀下来</a:t>
            </a:r>
            <a:r>
              <a:rPr lang="zh-CN" altLang="en-US" sz="3200" b="1" dirty="0">
                <a:solidFill>
                  <a:schemeClr val="tx1"/>
                </a:solidFill>
              </a:rPr>
              <a:t>，</a:t>
            </a:r>
            <a:r>
              <a:rPr lang="zh-CN" altLang="en-US" sz="3200" b="1" dirty="0">
                <a:solidFill>
                  <a:schemeClr val="tx1"/>
                </a:solidFill>
              </a:rPr>
              <a:t>并</a:t>
            </a:r>
            <a:r>
              <a:rPr lang="zh-CN" altLang="en-US" sz="3200" b="1" dirty="0">
                <a:solidFill>
                  <a:srgbClr val="00B050"/>
                </a:solidFill>
              </a:rPr>
              <a:t>经过多方实践和认可</a:t>
            </a:r>
            <a:r>
              <a:rPr lang="zh-CN" altLang="en-US" sz="3200" b="1" dirty="0">
                <a:solidFill>
                  <a:schemeClr val="tx1"/>
                </a:solidFill>
              </a:rPr>
              <a:t>才确定的。</a:t>
            </a:r>
            <a:endParaRPr lang="zh-CN" altLang="en-US" sz="3200" b="1" dirty="0">
              <a:solidFill>
                <a:schemeClr val="tx1"/>
              </a:solidFill>
            </a:endParaRPr>
          </a:p>
          <a:p>
            <a:pPr marL="0" indent="457200" algn="l" fontAlgn="auto">
              <a:lnSpc>
                <a:spcPct val="150000"/>
              </a:lnSpc>
              <a:buNone/>
            </a:pPr>
            <a:r>
              <a:rPr lang="zh-CN" altLang="en-US" sz="3200" b="1" dirty="0">
                <a:solidFill>
                  <a:schemeClr val="tx1"/>
                </a:solidFill>
              </a:rPr>
              <a:t>把优秀员工的</a:t>
            </a:r>
            <a:r>
              <a:rPr lang="zh-CN" altLang="en-US" sz="3200" b="1" dirty="0">
                <a:solidFill>
                  <a:srgbClr val="00B050"/>
                </a:solidFill>
              </a:rPr>
              <a:t>经验模式化</a:t>
            </a:r>
            <a:r>
              <a:rPr lang="zh-CN" altLang="en-US" sz="3200" b="1" dirty="0">
                <a:solidFill>
                  <a:schemeClr val="tx1"/>
                </a:solidFill>
              </a:rPr>
              <a:t>就可以成为新员工的</a:t>
            </a:r>
            <a:r>
              <a:rPr lang="zh-CN" altLang="en-US" sz="3200" b="1" dirty="0">
                <a:solidFill>
                  <a:srgbClr val="00B050"/>
                </a:solidFill>
              </a:rPr>
              <a:t>培训教材</a:t>
            </a:r>
            <a:r>
              <a:rPr lang="zh-CN" altLang="en-US" sz="3200" b="1" dirty="0">
                <a:solidFill>
                  <a:schemeClr val="tx1"/>
                </a:solidFill>
              </a:rPr>
              <a:t>。</a:t>
            </a:r>
            <a:endParaRPr lang="zh-CN" altLang="en-US" sz="32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464820"/>
            <a:ext cx="10695940" cy="5928360"/>
          </a:xfrm>
        </p:spPr>
        <p:txBody>
          <a:bodyPr>
            <a:noAutofit/>
          </a:bodyPr>
          <a:lstStyle/>
          <a:p>
            <a:pPr marL="0" indent="457200" algn="l" fontAlgn="auto">
              <a:lnSpc>
                <a:spcPct val="150000"/>
              </a:lnSpc>
              <a:buNone/>
            </a:pPr>
            <a:r>
              <a:rPr lang="zh-CN" altLang="en-US" sz="3200" b="1" dirty="0">
                <a:solidFill>
                  <a:srgbClr val="7030A0"/>
                </a:solidFill>
              </a:rPr>
              <a:t>举例二：</a:t>
            </a:r>
            <a:endParaRPr lang="zh-CN" altLang="en-US" sz="3200" b="1" dirty="0">
              <a:solidFill>
                <a:srgbClr val="7030A0"/>
              </a:solidFill>
            </a:endParaRPr>
          </a:p>
          <a:p>
            <a:pPr marL="0" indent="0" algn="ctr" fontAlgn="auto">
              <a:lnSpc>
                <a:spcPct val="150000"/>
              </a:lnSpc>
              <a:buNone/>
            </a:pPr>
            <a:r>
              <a:rPr lang="zh-CN" altLang="en-US" sz="3200" b="1" dirty="0">
                <a:solidFill>
                  <a:srgbClr val="00B050"/>
                </a:solidFill>
              </a:rPr>
              <a:t>帮助企业减少人力成本</a:t>
            </a:r>
            <a:endParaRPr lang="zh-CN" altLang="en-US" sz="3200" b="1" dirty="0">
              <a:solidFill>
                <a:srgbClr val="7030A0"/>
              </a:solidFill>
            </a:endParaRPr>
          </a:p>
          <a:p>
            <a:pPr marL="0" indent="457200" algn="l" fontAlgn="auto">
              <a:lnSpc>
                <a:spcPct val="150000"/>
              </a:lnSpc>
              <a:buNone/>
            </a:pPr>
            <a:r>
              <a:rPr lang="zh-CN" altLang="en-US" sz="3200" b="1" dirty="0">
                <a:solidFill>
                  <a:schemeClr val="tx1"/>
                </a:solidFill>
              </a:rPr>
              <a:t>中小企业常常遭遇人才短缺的瓶颈，导致很多工作不能正常开展。如果企业实施流程管理，把企业主要工作都流程化，那么有能力的员工就可以</a:t>
            </a:r>
            <a:r>
              <a:rPr lang="zh-CN" altLang="en-US" sz="3200" b="1" dirty="0">
                <a:solidFill>
                  <a:srgbClr val="FF0000"/>
                </a:solidFill>
              </a:rPr>
              <a:t>一人多岗</a:t>
            </a:r>
            <a:r>
              <a:rPr lang="zh-CN" altLang="en-US" sz="3200" b="1" dirty="0">
                <a:solidFill>
                  <a:schemeClr val="tx1"/>
                </a:solidFill>
              </a:rPr>
              <a:t>。</a:t>
            </a:r>
            <a:endParaRPr lang="zh-CN" altLang="en-US" sz="3200" b="1" dirty="0">
              <a:solidFill>
                <a:schemeClr val="tx1"/>
              </a:solidFill>
            </a:endParaRPr>
          </a:p>
          <a:p>
            <a:pPr marL="0" indent="457200" algn="l" fontAlgn="auto">
              <a:lnSpc>
                <a:spcPct val="150000"/>
              </a:lnSpc>
              <a:buNone/>
            </a:pPr>
            <a:r>
              <a:rPr lang="zh-CN" altLang="en-US" sz="3200" b="1" dirty="0">
                <a:solidFill>
                  <a:schemeClr val="tx1"/>
                </a:solidFill>
              </a:rPr>
              <a:t>常规工作</a:t>
            </a:r>
            <a:r>
              <a:rPr lang="zh-CN" altLang="en-US" sz="3200" b="1" dirty="0">
                <a:solidFill>
                  <a:srgbClr val="FF0000"/>
                </a:solidFill>
              </a:rPr>
              <a:t>模式化</a:t>
            </a:r>
            <a:r>
              <a:rPr lang="zh-CN" altLang="en-US" sz="3200" b="1" dirty="0">
                <a:solidFill>
                  <a:schemeClr val="tx1"/>
                </a:solidFill>
              </a:rPr>
              <a:t>，</a:t>
            </a:r>
            <a:r>
              <a:rPr lang="zh-CN" altLang="en-US" sz="3200" b="1" dirty="0">
                <a:solidFill>
                  <a:schemeClr val="tx1"/>
                </a:solidFill>
              </a:rPr>
              <a:t>不仅能</a:t>
            </a:r>
            <a:r>
              <a:rPr lang="zh-CN" altLang="en-US" sz="3200" b="1" dirty="0">
                <a:solidFill>
                  <a:srgbClr val="FF0000"/>
                </a:solidFill>
              </a:rPr>
              <a:t>保证效率</a:t>
            </a:r>
            <a:r>
              <a:rPr lang="zh-CN" altLang="en-US" sz="3200" b="1" dirty="0">
                <a:solidFill>
                  <a:schemeClr val="tx1"/>
                </a:solidFill>
              </a:rPr>
              <a:t>还能</a:t>
            </a:r>
            <a:r>
              <a:rPr lang="zh-CN" altLang="en-US" sz="3200" b="1" dirty="0">
                <a:solidFill>
                  <a:srgbClr val="FF0000"/>
                </a:solidFill>
              </a:rPr>
              <a:t>保证质量</a:t>
            </a:r>
            <a:r>
              <a:rPr lang="zh-CN" altLang="en-US" sz="3200" b="1" dirty="0">
                <a:solidFill>
                  <a:schemeClr val="tx1"/>
                </a:solidFill>
              </a:rPr>
              <a:t>。</a:t>
            </a:r>
            <a:endParaRPr lang="zh-CN" altLang="en-US" sz="32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57860" y="1072515"/>
            <a:ext cx="10695940" cy="4971415"/>
          </a:xfrm>
        </p:spPr>
        <p:txBody>
          <a:bodyPr>
            <a:noAutofit/>
          </a:bodyPr>
          <a:lstStyle/>
          <a:p>
            <a:pPr marL="0" indent="457200" algn="l" fontAlgn="auto">
              <a:lnSpc>
                <a:spcPct val="150000"/>
              </a:lnSpc>
              <a:buNone/>
            </a:pPr>
            <a:r>
              <a:rPr lang="zh-CN" altLang="en-US" sz="3600" b="1" dirty="0">
                <a:solidFill>
                  <a:srgbClr val="7030A0"/>
                </a:solidFill>
              </a:rPr>
              <a:t>您知道如何提升企业经营绩效和竞争力吗</a:t>
            </a:r>
            <a:r>
              <a:rPr lang="en-US" altLang="zh-CN" sz="3600" b="1" dirty="0">
                <a:solidFill>
                  <a:srgbClr val="7030A0"/>
                </a:solidFill>
              </a:rPr>
              <a:t>？</a:t>
            </a:r>
            <a:endParaRPr lang="en-US" altLang="zh-CN" sz="3600" b="1" dirty="0">
              <a:solidFill>
                <a:schemeClr val="tx1"/>
              </a:solidFill>
            </a:endParaRPr>
          </a:p>
          <a:p>
            <a:pPr marL="0" indent="457200" algn="l" fontAlgn="auto">
              <a:lnSpc>
                <a:spcPct val="150000"/>
              </a:lnSpc>
              <a:buNone/>
            </a:pPr>
            <a:r>
              <a:rPr lang="zh-CN" altLang="en-US" sz="3600" b="1" dirty="0">
                <a:solidFill>
                  <a:srgbClr val="00B050"/>
                </a:solidFill>
              </a:rPr>
              <a:t>工具：</a:t>
            </a:r>
            <a:endParaRPr lang="zh-CN" altLang="en-US" sz="3600" b="1" dirty="0">
              <a:solidFill>
                <a:srgbClr val="00B050"/>
              </a:solidFill>
            </a:endParaRPr>
          </a:p>
          <a:p>
            <a:pPr marL="0" indent="457200" algn="ctr" fontAlgn="auto">
              <a:lnSpc>
                <a:spcPct val="150000"/>
              </a:lnSpc>
              <a:buNone/>
            </a:pPr>
            <a:r>
              <a:rPr lang="zh-CN" altLang="en-US" sz="4800" b="1" dirty="0">
                <a:solidFill>
                  <a:srgbClr val="FF0000"/>
                </a:solidFill>
              </a:rPr>
              <a:t>操作系统！</a:t>
            </a:r>
            <a:endParaRPr lang="zh-CN" altLang="en-US" sz="4800" b="1" dirty="0">
              <a:solidFill>
                <a:srgbClr val="FF0000"/>
              </a:solidFill>
            </a:endParaRPr>
          </a:p>
          <a:p>
            <a:pPr marL="0" indent="457200" algn="ctr" fontAlgn="auto">
              <a:lnSpc>
                <a:spcPct val="150000"/>
              </a:lnSpc>
              <a:buNone/>
            </a:pPr>
            <a:endParaRPr lang="zh-CN" altLang="en-US" sz="4800" b="1" dirty="0">
              <a:solidFill>
                <a:srgbClr val="FF0000"/>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48030" y="817880"/>
            <a:ext cx="10695940" cy="5010785"/>
          </a:xfrm>
        </p:spPr>
        <p:txBody>
          <a:bodyPr>
            <a:noAutofit/>
          </a:bodyPr>
          <a:lstStyle/>
          <a:p>
            <a:pPr marL="0" indent="457200" algn="l" fontAlgn="auto">
              <a:lnSpc>
                <a:spcPct val="150000"/>
              </a:lnSpc>
              <a:buNone/>
            </a:pPr>
            <a:r>
              <a:rPr lang="zh-CN" altLang="en-US" sz="2800" b="1" dirty="0">
                <a:solidFill>
                  <a:srgbClr val="7030A0"/>
                </a:solidFill>
              </a:rPr>
              <a:t>案例说明：海尔集团</a:t>
            </a:r>
            <a:endParaRPr lang="zh-CN" altLang="en-US" sz="2800" b="1" dirty="0">
              <a:solidFill>
                <a:srgbClr val="7030A0"/>
              </a:solidFill>
            </a:endParaRPr>
          </a:p>
          <a:p>
            <a:pPr marL="0" indent="457200" algn="l" fontAlgn="auto">
              <a:lnSpc>
                <a:spcPct val="150000"/>
              </a:lnSpc>
              <a:buNone/>
            </a:pPr>
            <a:r>
              <a:rPr lang="zh-CN" altLang="en-US" sz="2800" b="1" dirty="0">
                <a:solidFill>
                  <a:schemeClr val="tx1"/>
                </a:solidFill>
              </a:rPr>
              <a:t>海尔集团开始实施业务流程管理，订单响应速度大幅提高。</a:t>
            </a:r>
            <a:endParaRPr lang="zh-CN" altLang="en-US" sz="2800" b="1" dirty="0">
              <a:solidFill>
                <a:schemeClr val="tx1"/>
              </a:solidFill>
            </a:endParaRPr>
          </a:p>
          <a:p>
            <a:pPr marL="0" indent="457200" algn="l" fontAlgn="auto">
              <a:lnSpc>
                <a:spcPct val="150000"/>
              </a:lnSpc>
              <a:buNone/>
            </a:pPr>
            <a:r>
              <a:rPr lang="en-US" altLang="zh-CN" sz="2800" b="1" dirty="0">
                <a:solidFill>
                  <a:schemeClr val="tx1"/>
                </a:solidFill>
              </a:rPr>
              <a:t>2002</a:t>
            </a:r>
            <a:r>
              <a:rPr lang="zh-CN" altLang="en-US" sz="2800" b="1" dirty="0">
                <a:solidFill>
                  <a:schemeClr val="tx1"/>
                </a:solidFill>
              </a:rPr>
              <a:t>年海尔共接到</a:t>
            </a:r>
            <a:r>
              <a:rPr lang="en-US" altLang="zh-CN" sz="2800" b="1" dirty="0">
                <a:solidFill>
                  <a:schemeClr val="tx1"/>
                </a:solidFill>
              </a:rPr>
              <a:t>40</a:t>
            </a:r>
            <a:r>
              <a:rPr lang="zh-CN" altLang="en-US" sz="2800" b="1" dirty="0">
                <a:solidFill>
                  <a:schemeClr val="tx1"/>
                </a:solidFill>
              </a:rPr>
              <a:t>万个订单，数量同比大幅增加，但由于采用了流程管理，订单处理的周期从原来的</a:t>
            </a:r>
            <a:r>
              <a:rPr lang="en-US" altLang="zh-CN" sz="2800" b="1" dirty="0">
                <a:solidFill>
                  <a:schemeClr val="tx1"/>
                </a:solidFill>
              </a:rPr>
              <a:t>7</a:t>
            </a:r>
            <a:r>
              <a:rPr lang="zh-CN" altLang="en-US" sz="2800" b="1" dirty="0">
                <a:solidFill>
                  <a:schemeClr val="tx1"/>
                </a:solidFill>
              </a:rPr>
              <a:t>天缩短到</a:t>
            </a:r>
            <a:r>
              <a:rPr lang="en-US" altLang="zh-CN" sz="2800" b="1" dirty="0">
                <a:solidFill>
                  <a:schemeClr val="tx1"/>
                </a:solidFill>
              </a:rPr>
              <a:t>1</a:t>
            </a:r>
            <a:r>
              <a:rPr lang="zh-CN" altLang="en-US" sz="2800" b="1" dirty="0">
                <a:solidFill>
                  <a:schemeClr val="tx1"/>
                </a:solidFill>
              </a:rPr>
              <a:t>小时；资金和原材料的周转期从原来的</a:t>
            </a:r>
            <a:r>
              <a:rPr lang="en-US" altLang="zh-CN" sz="2800" b="1" dirty="0">
                <a:solidFill>
                  <a:schemeClr val="tx1"/>
                </a:solidFill>
              </a:rPr>
              <a:t>36</a:t>
            </a:r>
            <a:r>
              <a:rPr lang="zh-CN" altLang="en-US" sz="2800" b="1" dirty="0">
                <a:solidFill>
                  <a:schemeClr val="tx1"/>
                </a:solidFill>
              </a:rPr>
              <a:t>天缩短到</a:t>
            </a:r>
            <a:r>
              <a:rPr lang="en-US" altLang="zh-CN" sz="2800" b="1" dirty="0">
                <a:solidFill>
                  <a:schemeClr val="tx1"/>
                </a:solidFill>
              </a:rPr>
              <a:t>10</a:t>
            </a:r>
            <a:r>
              <a:rPr lang="zh-CN" altLang="en-US" sz="2800" b="1" dirty="0">
                <a:solidFill>
                  <a:schemeClr val="tx1"/>
                </a:solidFill>
              </a:rPr>
              <a:t>天以内。由此，海尔集团在市场上取得了巨大的竞争优势。</a:t>
            </a:r>
            <a:endParaRPr lang="zh-CN" altLang="en-US" sz="2800" b="1" dirty="0">
              <a:solidFill>
                <a:schemeClr val="tx1"/>
              </a:solidFill>
            </a:endParaRPr>
          </a:p>
          <a:p>
            <a:pPr marL="0" indent="457200" algn="l" fontAlgn="auto">
              <a:lnSpc>
                <a:spcPct val="150000"/>
              </a:lnSpc>
              <a:buNone/>
            </a:pP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752475"/>
            <a:ext cx="10695940" cy="5928360"/>
          </a:xfrm>
        </p:spPr>
        <p:txBody>
          <a:bodyPr>
            <a:noAutofit/>
          </a:bodyPr>
          <a:lstStyle/>
          <a:p>
            <a:pPr marL="0" indent="457200" algn="just" fontAlgn="auto">
              <a:lnSpc>
                <a:spcPct val="150000"/>
              </a:lnSpc>
              <a:buNone/>
            </a:pPr>
            <a:r>
              <a:rPr lang="zh-CN" altLang="en-US" sz="2800" b="1" dirty="0">
                <a:sym typeface="+mn-ea"/>
              </a:rPr>
              <a:t>海尔通过对自身各项业务进行流程化的塑造，对企业相应的</a:t>
            </a:r>
            <a:r>
              <a:rPr lang="zh-CN" altLang="en-US" sz="2800" b="1" dirty="0">
                <a:solidFill>
                  <a:srgbClr val="00B050"/>
                </a:solidFill>
                <a:sym typeface="+mn-ea"/>
              </a:rPr>
              <a:t>资源结构</a:t>
            </a:r>
            <a:r>
              <a:rPr lang="zh-CN" altLang="en-US" sz="2800" b="1" dirty="0">
                <a:sym typeface="+mn-ea"/>
              </a:rPr>
              <a:t>和人力资源结构进行了</a:t>
            </a:r>
            <a:r>
              <a:rPr lang="zh-CN" altLang="en-US" sz="2800" b="1" dirty="0">
                <a:solidFill>
                  <a:srgbClr val="00B050"/>
                </a:solidFill>
                <a:sym typeface="+mn-ea"/>
              </a:rPr>
              <a:t>合理调整和配置</a:t>
            </a:r>
            <a:r>
              <a:rPr lang="zh-CN" altLang="en-US" sz="2800" b="1" dirty="0">
                <a:sym typeface="+mn-ea"/>
              </a:rPr>
              <a:t>，</a:t>
            </a:r>
            <a:r>
              <a:rPr lang="zh-CN" altLang="en-US" sz="2800" b="1" dirty="0">
                <a:sym typeface="+mn-ea"/>
              </a:rPr>
              <a:t>从而明确了哪项工作应</a:t>
            </a:r>
            <a:r>
              <a:rPr lang="zh-CN" altLang="en-US" sz="2800" b="1" dirty="0">
                <a:solidFill>
                  <a:schemeClr val="tx1"/>
                </a:solidFill>
              </a:rPr>
              <a:t>该由哪个部门、哪个人来具体负责，使企业各部门、各岗位的</a:t>
            </a:r>
            <a:r>
              <a:rPr lang="zh-CN" altLang="en-US" sz="2800" b="1" dirty="0">
                <a:solidFill>
                  <a:srgbClr val="00B050"/>
                </a:solidFill>
              </a:rPr>
              <a:t>权责</a:t>
            </a:r>
            <a:r>
              <a:rPr lang="zh-CN" altLang="en-US" sz="2800" b="1" dirty="0">
                <a:solidFill>
                  <a:schemeClr val="tx1"/>
                </a:solidFill>
              </a:rPr>
              <a:t>更加清晰地体现出来，杜绝了企业部门之间互相推诿责任、互相指责的管理情况，这有效减少了企业的</a:t>
            </a:r>
            <a:r>
              <a:rPr lang="zh-CN" altLang="en-US" sz="2800" b="1" dirty="0">
                <a:solidFill>
                  <a:srgbClr val="00B050"/>
                </a:solidFill>
              </a:rPr>
              <a:t>管理内耗</a:t>
            </a:r>
            <a:r>
              <a:rPr lang="zh-CN" altLang="en-US" sz="2800" b="1" dirty="0">
                <a:solidFill>
                  <a:schemeClr val="tx1"/>
                </a:solidFill>
              </a:rPr>
              <a:t>，</a:t>
            </a:r>
            <a:r>
              <a:rPr lang="zh-CN" altLang="en-US" sz="2800" b="1" dirty="0">
                <a:solidFill>
                  <a:schemeClr val="tx1"/>
                </a:solidFill>
              </a:rPr>
              <a:t>提高了</a:t>
            </a:r>
            <a:r>
              <a:rPr lang="zh-CN" altLang="en-US" sz="2800" b="1" dirty="0">
                <a:solidFill>
                  <a:srgbClr val="00B050"/>
                </a:solidFill>
              </a:rPr>
              <a:t>运作效率</a:t>
            </a:r>
            <a:r>
              <a:rPr lang="zh-CN" altLang="en-US" sz="2800" b="1" dirty="0">
                <a:solidFill>
                  <a:schemeClr val="tx1"/>
                </a:solidFill>
              </a:rPr>
              <a:t>，</a:t>
            </a:r>
            <a:r>
              <a:rPr lang="zh-CN" altLang="en-US" sz="2800" b="1" dirty="0">
                <a:solidFill>
                  <a:schemeClr val="tx1"/>
                </a:solidFill>
              </a:rPr>
              <a:t>从而大幅度增强了企业在激烈市场中的</a:t>
            </a:r>
            <a:r>
              <a:rPr lang="zh-CN" altLang="en-US" sz="2800" b="1" dirty="0">
                <a:solidFill>
                  <a:srgbClr val="00B050"/>
                </a:solidFill>
              </a:rPr>
              <a:t>竞争力</a:t>
            </a:r>
            <a:r>
              <a:rPr lang="zh-CN" altLang="en-US" sz="2800" b="1" dirty="0">
                <a:solidFill>
                  <a:schemeClr val="tx1"/>
                </a:solidFill>
              </a:rPr>
              <a:t>。</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当某项工作出现变化时，</a:t>
            </a:r>
            <a:r>
              <a:rPr lang="zh-CN" altLang="en-US" sz="2800" b="1" dirty="0">
                <a:solidFill>
                  <a:srgbClr val="00B050"/>
                </a:solidFill>
              </a:rPr>
              <a:t>及时更新</a:t>
            </a:r>
            <a:r>
              <a:rPr lang="zh-CN" altLang="en-US" sz="2800" b="1" dirty="0">
                <a:solidFill>
                  <a:schemeClr val="tx1"/>
                </a:solidFill>
              </a:rPr>
              <a:t>相关流程，避免出现流程文件和实际操作</a:t>
            </a:r>
            <a:r>
              <a:rPr lang="en-US" altLang="zh-CN" sz="2800" b="1" dirty="0">
                <a:solidFill>
                  <a:schemeClr val="tx1"/>
                </a:solidFill>
              </a:rPr>
              <a:t>"</a:t>
            </a:r>
            <a:r>
              <a:rPr lang="zh-CN" altLang="en-US" sz="2800" b="1" dirty="0">
                <a:solidFill>
                  <a:schemeClr val="tx1"/>
                </a:solidFill>
              </a:rPr>
              <a:t>两张皮</a:t>
            </a:r>
            <a:r>
              <a:rPr lang="en-US" altLang="zh-CN" sz="2800" b="1" dirty="0">
                <a:solidFill>
                  <a:schemeClr val="tx1"/>
                </a:solidFill>
              </a:rPr>
              <a:t>"</a:t>
            </a:r>
            <a:r>
              <a:rPr lang="zh-CN" altLang="en-US" sz="2800" b="1" dirty="0">
                <a:solidFill>
                  <a:schemeClr val="tx1"/>
                </a:solidFill>
              </a:rPr>
              <a:t>的现象。</a:t>
            </a:r>
            <a:endParaRPr lang="zh-CN" altLang="en-US" sz="2800" b="1" dirty="0">
              <a:solidFill>
                <a:schemeClr val="tx1"/>
              </a:solidFill>
            </a:endParaRPr>
          </a:p>
          <a:p>
            <a:pPr marL="0" indent="457200" algn="l" fontAlgn="auto">
              <a:lnSpc>
                <a:spcPct val="150000"/>
              </a:lnSpc>
              <a:buNone/>
            </a:pP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752475"/>
            <a:ext cx="10695940" cy="5928360"/>
          </a:xfrm>
        </p:spPr>
        <p:txBody>
          <a:bodyPr>
            <a:noAutofit/>
          </a:bodyPr>
          <a:lstStyle/>
          <a:p>
            <a:pPr marL="0" indent="457200" algn="l" fontAlgn="auto">
              <a:lnSpc>
                <a:spcPct val="150000"/>
              </a:lnSpc>
              <a:buNone/>
            </a:pPr>
            <a:r>
              <a:rPr lang="zh-CN" altLang="en-US" sz="3200" b="1" dirty="0">
                <a:solidFill>
                  <a:srgbClr val="7030A0"/>
                </a:solidFill>
              </a:rPr>
              <a:t>海尔启示：</a:t>
            </a:r>
            <a:endParaRPr lang="zh-CN" altLang="en-US" sz="3200" b="1" dirty="0">
              <a:solidFill>
                <a:srgbClr val="7030A0"/>
              </a:solidFill>
            </a:endParaRPr>
          </a:p>
          <a:p>
            <a:pPr marL="0" indent="457200" algn="l" fontAlgn="auto">
              <a:lnSpc>
                <a:spcPct val="150000"/>
              </a:lnSpc>
              <a:buNone/>
            </a:pPr>
            <a:r>
              <a:rPr lang="zh-CN" altLang="en-US" sz="3200" b="1" dirty="0">
                <a:solidFill>
                  <a:schemeClr val="tx1"/>
                </a:solidFill>
              </a:rPr>
              <a:t>企业组织是以业务和职能部门来划分的，但实际上真正起作用的是流程。</a:t>
            </a:r>
            <a:endParaRPr lang="zh-CN" altLang="en-US" sz="3200" b="1" dirty="0">
              <a:solidFill>
                <a:schemeClr val="tx1"/>
              </a:solidFill>
            </a:endParaRPr>
          </a:p>
          <a:p>
            <a:pPr marL="0" indent="457200" algn="l" fontAlgn="auto">
              <a:lnSpc>
                <a:spcPct val="150000"/>
              </a:lnSpc>
              <a:buNone/>
            </a:pPr>
            <a:r>
              <a:rPr lang="zh-CN" altLang="en-US" sz="3200" b="1" dirty="0">
                <a:solidFill>
                  <a:schemeClr val="tx1"/>
                </a:solidFill>
              </a:rPr>
              <a:t>没有一个部门能够单独创造价值，只有将所有活动放在一个整体框架里进行才能创造出价值，这个框架就是流程。</a:t>
            </a:r>
            <a:endParaRPr lang="zh-CN" altLang="en-US" sz="3200" b="1" dirty="0">
              <a:solidFill>
                <a:schemeClr val="tx1"/>
              </a:solidFill>
            </a:endParaRPr>
          </a:p>
          <a:p>
            <a:pPr marL="0" indent="457200" algn="l" fontAlgn="auto">
              <a:lnSpc>
                <a:spcPct val="150000"/>
              </a:lnSpc>
              <a:buNone/>
            </a:pPr>
            <a:r>
              <a:rPr lang="zh-CN" altLang="en-US" sz="3200" b="1" dirty="0">
                <a:solidFill>
                  <a:srgbClr val="FF0000"/>
                </a:solidFill>
              </a:rPr>
              <a:t>卓越的流程恰恰是提升企业绩效和竞争力的制胜法宝。</a:t>
            </a:r>
            <a:endParaRPr lang="zh-CN" altLang="en-US" sz="3200" b="1" dirty="0">
              <a:solidFill>
                <a:srgbClr val="FF0000"/>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929640"/>
            <a:ext cx="10695940" cy="5307965"/>
          </a:xfrm>
        </p:spPr>
        <p:txBody>
          <a:bodyPr>
            <a:noAutofit/>
          </a:bodyPr>
          <a:lstStyle/>
          <a:p>
            <a:pPr marL="0" indent="457200" algn="l" fontAlgn="auto">
              <a:lnSpc>
                <a:spcPct val="150000"/>
              </a:lnSpc>
              <a:buNone/>
            </a:pPr>
            <a:r>
              <a:rPr lang="zh-CN" altLang="en-US" sz="3600" b="1" dirty="0">
                <a:solidFill>
                  <a:srgbClr val="7030A0"/>
                </a:solidFill>
              </a:rPr>
              <a:t>如何让员工职业化、企业自动化</a:t>
            </a:r>
            <a:r>
              <a:rPr lang="en-US" altLang="zh-CN" sz="3600" b="1" dirty="0">
                <a:solidFill>
                  <a:srgbClr val="7030A0"/>
                </a:solidFill>
              </a:rPr>
              <a:t>？</a:t>
            </a:r>
            <a:endParaRPr lang="en-US" altLang="zh-CN" sz="3600" b="1" dirty="0">
              <a:solidFill>
                <a:srgbClr val="7030A0"/>
              </a:solidFill>
            </a:endParaRPr>
          </a:p>
          <a:p>
            <a:pPr marL="0" indent="457200" algn="l" fontAlgn="auto">
              <a:lnSpc>
                <a:spcPct val="150000"/>
              </a:lnSpc>
              <a:buNone/>
            </a:pPr>
            <a:r>
              <a:rPr lang="zh-CN" altLang="en-US" sz="3600" b="1" dirty="0">
                <a:solidFill>
                  <a:srgbClr val="00B050"/>
                </a:solidFill>
              </a:rPr>
              <a:t>工具：</a:t>
            </a:r>
            <a:endParaRPr lang="zh-CN" altLang="en-US" sz="3600" b="1" dirty="0">
              <a:solidFill>
                <a:srgbClr val="00B050"/>
              </a:solidFill>
            </a:endParaRPr>
          </a:p>
          <a:p>
            <a:pPr marL="0" indent="457200" algn="ctr" fontAlgn="auto">
              <a:lnSpc>
                <a:spcPct val="150000"/>
              </a:lnSpc>
              <a:buNone/>
            </a:pPr>
            <a:r>
              <a:rPr lang="zh-CN" altLang="en-US" sz="4800" b="1" dirty="0">
                <a:solidFill>
                  <a:srgbClr val="FF0000"/>
                </a:solidFill>
                <a:sym typeface="+mn-ea"/>
              </a:rPr>
              <a:t>操作</a:t>
            </a:r>
            <a:r>
              <a:rPr lang="zh-CN" altLang="en-US" sz="4800" b="1" dirty="0">
                <a:solidFill>
                  <a:srgbClr val="FF0000"/>
                </a:solidFill>
              </a:rPr>
              <a:t>系统！</a:t>
            </a:r>
            <a:endParaRPr lang="zh-CN" altLang="en-US" sz="4800" b="1" dirty="0">
              <a:solidFill>
                <a:srgbClr val="FF0000"/>
              </a:solidFill>
            </a:endParaRPr>
          </a:p>
          <a:p>
            <a:pPr marL="0" indent="457200" algn="ctr" fontAlgn="auto">
              <a:lnSpc>
                <a:spcPct val="150000"/>
              </a:lnSpc>
              <a:buNone/>
            </a:pPr>
            <a:endParaRPr lang="zh-CN" altLang="en-US" sz="4800" b="1" dirty="0">
              <a:solidFill>
                <a:srgbClr val="FF0000"/>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929640"/>
            <a:ext cx="10695940" cy="5307965"/>
          </a:xfrm>
        </p:spPr>
        <p:txBody>
          <a:bodyPr>
            <a:noAutofit/>
          </a:bodyPr>
          <a:lstStyle/>
          <a:p>
            <a:pPr marL="0" indent="457200" algn="l" fontAlgn="auto">
              <a:lnSpc>
                <a:spcPct val="150000"/>
              </a:lnSpc>
              <a:buNone/>
            </a:pPr>
            <a:r>
              <a:rPr lang="zh-CN" altLang="en-US" sz="3200" b="1" dirty="0">
                <a:solidFill>
                  <a:schemeClr val="tx1"/>
                </a:solidFill>
              </a:rPr>
              <a:t>让所有员工都按照</a:t>
            </a:r>
            <a:r>
              <a:rPr lang="zh-CN" altLang="en-US" sz="3200" b="1" dirty="0">
                <a:solidFill>
                  <a:srgbClr val="FF0000"/>
                </a:solidFill>
              </a:rPr>
              <a:t>操作流程</a:t>
            </a:r>
            <a:r>
              <a:rPr lang="zh-CN" altLang="en-US" sz="3200" b="1" dirty="0">
                <a:solidFill>
                  <a:schemeClr val="tx1"/>
                </a:solidFill>
              </a:rPr>
              <a:t>工作就是</a:t>
            </a:r>
            <a:r>
              <a:rPr lang="zh-CN" altLang="en-US" sz="3200" b="1" dirty="0">
                <a:solidFill>
                  <a:srgbClr val="FF0000"/>
                </a:solidFill>
              </a:rPr>
              <a:t>员工职业化</a:t>
            </a:r>
            <a:r>
              <a:rPr lang="zh-CN" altLang="en-US" sz="3200" b="1" dirty="0">
                <a:solidFill>
                  <a:schemeClr val="tx1"/>
                </a:solidFill>
              </a:rPr>
              <a:t>的最有效的途径。</a:t>
            </a:r>
            <a:endParaRPr lang="zh-CN" altLang="en-US" sz="3200" b="1" dirty="0">
              <a:solidFill>
                <a:schemeClr val="tx1"/>
              </a:solidFill>
            </a:endParaRPr>
          </a:p>
          <a:p>
            <a:pPr marL="0" indent="457200" algn="l" fontAlgn="auto">
              <a:lnSpc>
                <a:spcPct val="150000"/>
              </a:lnSpc>
              <a:buNone/>
            </a:pPr>
            <a:r>
              <a:rPr lang="zh-CN" altLang="en-US" sz="3200" b="1" dirty="0">
                <a:solidFill>
                  <a:schemeClr val="tx1"/>
                </a:solidFill>
              </a:rPr>
              <a:t>所有员工都能按一套</a:t>
            </a:r>
            <a:r>
              <a:rPr lang="zh-CN" altLang="en-US" sz="3200" b="1" dirty="0">
                <a:solidFill>
                  <a:srgbClr val="FF0000"/>
                </a:solidFill>
              </a:rPr>
              <a:t>相对固定</a:t>
            </a:r>
            <a:r>
              <a:rPr lang="zh-CN" altLang="en-US" sz="3200" b="1" dirty="0">
                <a:solidFill>
                  <a:schemeClr val="tx1"/>
                </a:solidFill>
              </a:rPr>
              <a:t>的</a:t>
            </a:r>
            <a:r>
              <a:rPr lang="zh-CN" altLang="en-US" sz="3200" b="1" dirty="0">
                <a:solidFill>
                  <a:srgbClr val="FF0000"/>
                </a:solidFill>
              </a:rPr>
              <a:t>流程规范</a:t>
            </a:r>
            <a:r>
              <a:rPr lang="zh-CN" altLang="en-US" sz="3200" b="1" dirty="0">
                <a:solidFill>
                  <a:schemeClr val="tx1"/>
                </a:solidFill>
              </a:rPr>
              <a:t>做事，而无须自己摸索从哪儿开始做、怎么去做，这就像自动化流水线一样，只要按动控制按钮就可以了，也就实现了</a:t>
            </a:r>
            <a:r>
              <a:rPr lang="zh-CN" altLang="en-US" sz="3200" b="1" dirty="0">
                <a:solidFill>
                  <a:srgbClr val="FF0000"/>
                </a:solidFill>
              </a:rPr>
              <a:t>企业自动化</a:t>
            </a:r>
            <a:r>
              <a:rPr lang="zh-CN" altLang="en-US" sz="3200" b="1" dirty="0">
                <a:solidFill>
                  <a:schemeClr val="tx1"/>
                </a:solidFill>
              </a:rPr>
              <a:t>。</a:t>
            </a:r>
            <a:endParaRPr lang="zh-CN" altLang="en-US" sz="32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752475"/>
            <a:ext cx="10695940" cy="5928360"/>
          </a:xfrm>
        </p:spPr>
        <p:txBody>
          <a:bodyPr>
            <a:noAutofit/>
          </a:bodyPr>
          <a:lstStyle/>
          <a:p>
            <a:pPr marL="0" indent="457200" algn="l" fontAlgn="auto">
              <a:lnSpc>
                <a:spcPct val="150000"/>
              </a:lnSpc>
              <a:buNone/>
            </a:pPr>
            <a:r>
              <a:rPr lang="zh-CN" altLang="en-US" sz="3200" b="1" dirty="0">
                <a:solidFill>
                  <a:srgbClr val="7030A0"/>
                </a:solidFill>
              </a:rPr>
              <a:t>案例说明：</a:t>
            </a:r>
            <a:endParaRPr lang="zh-CN" altLang="en-US" sz="3200" b="1" dirty="0">
              <a:solidFill>
                <a:srgbClr val="7030A0"/>
              </a:solidFill>
            </a:endParaRPr>
          </a:p>
          <a:p>
            <a:pPr marL="0" indent="457200" algn="ctr" fontAlgn="auto">
              <a:lnSpc>
                <a:spcPct val="150000"/>
              </a:lnSpc>
              <a:buNone/>
            </a:pPr>
            <a:r>
              <a:rPr lang="zh-CN" altLang="en-US" sz="3200" b="1" dirty="0">
                <a:solidFill>
                  <a:schemeClr val="tx1"/>
                </a:solidFill>
              </a:rPr>
              <a:t>华为为什么成功</a:t>
            </a:r>
            <a:r>
              <a:rPr lang="en-US" altLang="zh-CN" sz="3200" b="1" dirty="0">
                <a:solidFill>
                  <a:schemeClr val="tx1"/>
                </a:solidFill>
              </a:rPr>
              <a:t>？</a:t>
            </a:r>
            <a:endParaRPr lang="en-US" altLang="zh-CN" sz="3200" b="1" dirty="0">
              <a:solidFill>
                <a:schemeClr val="tx1"/>
              </a:solidFill>
            </a:endParaRPr>
          </a:p>
          <a:p>
            <a:pPr marL="0" indent="457200" algn="l" fontAlgn="auto">
              <a:lnSpc>
                <a:spcPct val="150000"/>
              </a:lnSpc>
              <a:buNone/>
            </a:pPr>
            <a:r>
              <a:rPr lang="zh-CN" altLang="en-US" sz="3200" b="1" dirty="0">
                <a:solidFill>
                  <a:schemeClr val="tx1"/>
                </a:solidFill>
              </a:rPr>
              <a:t>任正非说：</a:t>
            </a:r>
            <a:r>
              <a:rPr lang="en-US" altLang="zh-CN" sz="3200" b="1" dirty="0">
                <a:solidFill>
                  <a:schemeClr val="tx1"/>
                </a:solidFill>
              </a:rPr>
              <a:t>“</a:t>
            </a:r>
            <a:r>
              <a:rPr lang="zh-CN" altLang="en-US" sz="3200" b="1" dirty="0">
                <a:solidFill>
                  <a:schemeClr val="tx1"/>
                </a:solidFill>
              </a:rPr>
              <a:t>在外人看来华为成功的因素有技术、人才、资金、管理及服务；</a:t>
            </a:r>
            <a:endParaRPr lang="zh-CN" altLang="en-US" sz="3200" b="1" dirty="0">
              <a:solidFill>
                <a:schemeClr val="tx1"/>
              </a:solidFill>
            </a:endParaRPr>
          </a:p>
          <a:p>
            <a:pPr marL="0" indent="457200" algn="l" fontAlgn="auto">
              <a:lnSpc>
                <a:spcPct val="150000"/>
              </a:lnSpc>
              <a:buNone/>
            </a:pPr>
            <a:r>
              <a:rPr lang="zh-CN" altLang="en-US" sz="3200" b="1" dirty="0">
                <a:solidFill>
                  <a:schemeClr val="tx1"/>
                </a:solidFill>
              </a:rPr>
              <a:t>其实，在我看来最为关键的因素是如何将上述因素高效运行，即上述因素的</a:t>
            </a:r>
            <a:r>
              <a:rPr lang="zh-CN" altLang="en-US" sz="3200" b="1" dirty="0">
                <a:solidFill>
                  <a:srgbClr val="FF0000"/>
                </a:solidFill>
              </a:rPr>
              <a:t>流程化、标准化</a:t>
            </a:r>
            <a:r>
              <a:rPr lang="zh-CN" altLang="en-US" sz="3200" b="1" dirty="0">
                <a:solidFill>
                  <a:schemeClr val="tx1"/>
                </a:solidFill>
              </a:rPr>
              <a:t>。</a:t>
            </a:r>
            <a:r>
              <a:rPr lang="en-US" altLang="zh-CN" sz="3200" b="1" dirty="0">
                <a:solidFill>
                  <a:schemeClr val="tx1"/>
                </a:solidFill>
              </a:rPr>
              <a:t>"</a:t>
            </a:r>
            <a:endParaRPr lang="en-US" altLang="zh-CN" sz="32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34695" y="929640"/>
            <a:ext cx="10799445" cy="4932680"/>
          </a:xfrm>
        </p:spPr>
        <p:txBody>
          <a:bodyPr>
            <a:noAutofit/>
          </a:bodyPr>
          <a:lstStyle/>
          <a:p>
            <a:pPr marL="0" indent="457200" algn="l" fontAlgn="auto">
              <a:lnSpc>
                <a:spcPct val="150000"/>
              </a:lnSpc>
              <a:buNone/>
            </a:pPr>
            <a:r>
              <a:rPr lang="en-US" altLang="zh-CN" sz="2800" b="1" dirty="0">
                <a:solidFill>
                  <a:schemeClr val="tx1"/>
                </a:solidFill>
              </a:rPr>
              <a:t>"</a:t>
            </a:r>
            <a:r>
              <a:rPr lang="zh-CN" altLang="en-US" sz="2800" b="1" dirty="0">
                <a:solidFill>
                  <a:schemeClr val="tx1"/>
                </a:solidFill>
              </a:rPr>
              <a:t>为客户服务是华为存在的唯一理由；客户需求是企业发展的原动力。而我们的流程就是为了又快又好地为客户服务</a:t>
            </a:r>
            <a:r>
              <a:rPr lang="en-US" altLang="zh-CN" sz="2800" b="1" dirty="0">
                <a:solidFill>
                  <a:schemeClr val="tx1"/>
                </a:solidFill>
              </a:rPr>
              <a:t>（</a:t>
            </a:r>
            <a:r>
              <a:rPr lang="zh-CN" altLang="en-US" sz="2800" b="1" dirty="0">
                <a:solidFill>
                  <a:schemeClr val="tx1"/>
                </a:solidFill>
              </a:rPr>
              <a:t>创造价值</a:t>
            </a:r>
            <a:r>
              <a:rPr lang="en-US" altLang="zh-CN" sz="2800" b="1" dirty="0">
                <a:solidFill>
                  <a:schemeClr val="tx1"/>
                </a:solidFill>
              </a:rPr>
              <a:t>）</a:t>
            </a:r>
            <a:r>
              <a:rPr lang="zh-CN" altLang="en-US" sz="2800" b="1" dirty="0">
                <a:solidFill>
                  <a:schemeClr val="tx1"/>
                </a:solidFill>
              </a:rPr>
              <a:t>。</a:t>
            </a:r>
            <a:r>
              <a:rPr lang="en-US" altLang="zh-CN" sz="2800" b="1" dirty="0">
                <a:solidFill>
                  <a:schemeClr val="tx1"/>
                </a:solidFill>
              </a:rPr>
              <a:t>"</a:t>
            </a:r>
            <a:endParaRPr lang="en-US" altLang="zh-CN" sz="2800" b="1" dirty="0">
              <a:solidFill>
                <a:schemeClr val="tx1"/>
              </a:solidFill>
            </a:endParaRPr>
          </a:p>
          <a:p>
            <a:pPr marL="0" indent="457200" algn="l" fontAlgn="auto">
              <a:lnSpc>
                <a:spcPct val="150000"/>
              </a:lnSpc>
              <a:buNone/>
            </a:pPr>
            <a:r>
              <a:rPr lang="en-US" altLang="zh-CN" sz="2800" b="1" dirty="0">
                <a:solidFill>
                  <a:schemeClr val="tx1"/>
                </a:solidFill>
              </a:rPr>
              <a:t>“</a:t>
            </a:r>
            <a:r>
              <a:rPr lang="zh-CN" altLang="en-US" sz="2800" b="1" dirty="0">
                <a:solidFill>
                  <a:schemeClr val="tx1"/>
                </a:solidFill>
              </a:rPr>
              <a:t>现在流程上运作的干部，他们还习惯于事事都请示上级，这是错的。已经有规定，或者成为惯例的东西，不必请示，应快速让它通过去。</a:t>
            </a:r>
            <a:r>
              <a:rPr lang="en-US" altLang="zh-CN" sz="2800" b="1" dirty="0">
                <a:solidFill>
                  <a:schemeClr val="tx1"/>
                </a:solidFill>
              </a:rPr>
              <a:t>"</a:t>
            </a:r>
            <a:endParaRPr lang="en-US" altLang="zh-CN" sz="2800" b="1" dirty="0">
              <a:solidFill>
                <a:schemeClr val="tx1"/>
              </a:solidFill>
            </a:endParaRPr>
          </a:p>
          <a:p>
            <a:pPr marL="0" indent="457200" algn="l" fontAlgn="auto">
              <a:lnSpc>
                <a:spcPct val="150000"/>
              </a:lnSpc>
              <a:buNone/>
            </a:pPr>
            <a:r>
              <a:rPr lang="en-US" altLang="zh-CN" sz="2800" b="1" dirty="0">
                <a:solidFill>
                  <a:schemeClr val="tx1"/>
                </a:solidFill>
              </a:rPr>
              <a:t>"</a:t>
            </a:r>
            <a:r>
              <a:rPr lang="zh-CN" altLang="en-US" sz="2800" b="1" dirty="0">
                <a:solidFill>
                  <a:schemeClr val="tx1"/>
                </a:solidFill>
              </a:rPr>
              <a:t>执行流程，就是</a:t>
            </a:r>
            <a:r>
              <a:rPr lang="zh-CN" altLang="en-US" sz="2800" b="1" dirty="0">
                <a:solidFill>
                  <a:srgbClr val="FF0000"/>
                </a:solidFill>
              </a:rPr>
              <a:t>对事负责制</a:t>
            </a:r>
            <a:r>
              <a:rPr lang="zh-CN" altLang="en-US" sz="2800" b="1" dirty="0">
                <a:solidFill>
                  <a:schemeClr val="tx1"/>
                </a:solidFill>
              </a:rPr>
              <a:t>；事事都请示，就是</a:t>
            </a:r>
            <a:r>
              <a:rPr lang="zh-CN" altLang="en-US" sz="2800" b="1" dirty="0">
                <a:solidFill>
                  <a:srgbClr val="FF0000"/>
                </a:solidFill>
              </a:rPr>
              <a:t>对人负责制</a:t>
            </a:r>
            <a:r>
              <a:rPr lang="zh-CN" altLang="en-US" sz="2800" b="1" dirty="0">
                <a:solidFill>
                  <a:schemeClr val="tx1"/>
                </a:solidFill>
              </a:rPr>
              <a:t>。我们要</a:t>
            </a:r>
            <a:r>
              <a:rPr lang="zh-CN" altLang="en-US" sz="2800" b="1" dirty="0">
                <a:solidFill>
                  <a:srgbClr val="FF0000"/>
                </a:solidFill>
              </a:rPr>
              <a:t>对事不对人</a:t>
            </a:r>
            <a:r>
              <a:rPr lang="en-US" altLang="zh-CN" sz="2800" b="1" dirty="0">
                <a:solidFill>
                  <a:schemeClr val="tx1"/>
                </a:solidFill>
              </a:rPr>
              <a:t>！"</a:t>
            </a:r>
            <a:endParaRPr lang="en-US" altLang="zh-CN"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929640"/>
            <a:ext cx="10695940" cy="4932680"/>
          </a:xfrm>
        </p:spPr>
        <p:txBody>
          <a:bodyPr>
            <a:noAutofit/>
          </a:bodyPr>
          <a:lstStyle/>
          <a:p>
            <a:pPr marL="0" indent="457200" algn="l" fontAlgn="auto">
              <a:lnSpc>
                <a:spcPct val="150000"/>
              </a:lnSpc>
              <a:buNone/>
            </a:pPr>
            <a:r>
              <a:rPr lang="en-US" altLang="zh-CN" sz="3200" b="1" dirty="0">
                <a:solidFill>
                  <a:schemeClr val="tx1"/>
                </a:solidFill>
              </a:rPr>
              <a:t>"</a:t>
            </a:r>
            <a:r>
              <a:rPr lang="zh-CN" altLang="en-US" sz="3200" b="1" dirty="0">
                <a:solidFill>
                  <a:schemeClr val="tx1"/>
                </a:solidFill>
              </a:rPr>
              <a:t>我们要简化不必要确认的东西，减少管理中不必要、不重要的环节，否则公司怎么能高效运行呢</a:t>
            </a:r>
            <a:r>
              <a:rPr lang="en-US" altLang="zh-CN" sz="3200" b="1" dirty="0">
                <a:solidFill>
                  <a:schemeClr val="tx1"/>
                </a:solidFill>
              </a:rPr>
              <a:t>？</a:t>
            </a:r>
            <a:endParaRPr lang="en-US" altLang="zh-CN" sz="3200" b="1" dirty="0">
              <a:solidFill>
                <a:schemeClr val="tx1"/>
              </a:solidFill>
            </a:endParaRPr>
          </a:p>
          <a:p>
            <a:pPr marL="0" indent="457200" algn="l" fontAlgn="auto">
              <a:lnSpc>
                <a:spcPct val="150000"/>
              </a:lnSpc>
              <a:buNone/>
            </a:pPr>
            <a:r>
              <a:rPr lang="en-US" altLang="zh-CN" sz="3200" b="1" dirty="0">
                <a:solidFill>
                  <a:schemeClr val="tx1"/>
                </a:solidFill>
              </a:rPr>
              <a:t>"</a:t>
            </a:r>
            <a:r>
              <a:rPr lang="zh-CN" altLang="en-US" sz="3200" b="1" dirty="0">
                <a:solidFill>
                  <a:schemeClr val="tx1"/>
                </a:solidFill>
              </a:rPr>
              <a:t>秘书有权对例行的管理工作进行处理，经理主要对例外事件以及判别不清的重要例行事件进行处理。</a:t>
            </a:r>
            <a:r>
              <a:rPr lang="en-US" altLang="zh-CN" sz="3200" b="1" dirty="0">
                <a:solidFill>
                  <a:schemeClr val="tx1"/>
                </a:solidFill>
              </a:rPr>
              <a:t>"</a:t>
            </a:r>
            <a:endParaRPr lang="en-US" altLang="zh-CN" sz="3200" b="1" dirty="0">
              <a:solidFill>
                <a:schemeClr val="tx1"/>
              </a:solidFill>
            </a:endParaRPr>
          </a:p>
          <a:p>
            <a:pPr marL="0" indent="457200" algn="l" fontAlgn="auto">
              <a:lnSpc>
                <a:spcPct val="150000"/>
              </a:lnSpc>
              <a:buNone/>
            </a:pPr>
            <a:r>
              <a:rPr lang="en-US" altLang="zh-CN" sz="3200" b="1" dirty="0">
                <a:solidFill>
                  <a:schemeClr val="tx1"/>
                </a:solidFill>
              </a:rPr>
              <a:t>"</a:t>
            </a:r>
            <a:r>
              <a:rPr lang="zh-CN" altLang="en-US" sz="3200" b="1" dirty="0">
                <a:solidFill>
                  <a:schemeClr val="tx1"/>
                </a:solidFill>
              </a:rPr>
              <a:t>例行越多，管理人员就越少，成本就越低。例行越多的唯一方法就是不断</a:t>
            </a:r>
            <a:r>
              <a:rPr lang="zh-CN" altLang="en-US" sz="3200" b="1" dirty="0">
                <a:solidFill>
                  <a:srgbClr val="FF0000"/>
                </a:solidFill>
              </a:rPr>
              <a:t>完善流程</a:t>
            </a:r>
            <a:r>
              <a:rPr lang="zh-CN" altLang="en-US" sz="3200" b="1" dirty="0">
                <a:solidFill>
                  <a:schemeClr val="tx1"/>
                </a:solidFill>
              </a:rPr>
              <a:t>。</a:t>
            </a:r>
            <a:r>
              <a:rPr lang="en-US" altLang="zh-CN" sz="3200" b="1" dirty="0">
                <a:solidFill>
                  <a:schemeClr val="tx1"/>
                </a:solidFill>
              </a:rPr>
              <a:t>"</a:t>
            </a:r>
            <a:endParaRPr lang="en-US" altLang="zh-CN" sz="32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929640"/>
            <a:ext cx="10695940" cy="4932680"/>
          </a:xfrm>
        </p:spPr>
        <p:txBody>
          <a:bodyPr>
            <a:noAutofit/>
          </a:bodyPr>
          <a:lstStyle/>
          <a:p>
            <a:pPr marL="0" indent="457200" algn="l" fontAlgn="auto">
              <a:lnSpc>
                <a:spcPct val="150000"/>
              </a:lnSpc>
              <a:buNone/>
            </a:pPr>
            <a:r>
              <a:rPr lang="zh-CN" altLang="en-US" sz="3600" b="1" dirty="0">
                <a:solidFill>
                  <a:srgbClr val="7030A0"/>
                </a:solidFill>
              </a:rPr>
              <a:t>您知道流程的意义吗</a:t>
            </a:r>
            <a:r>
              <a:rPr lang="en-US" altLang="zh-CN" sz="3600" b="1" dirty="0">
                <a:solidFill>
                  <a:srgbClr val="7030A0"/>
                </a:solidFill>
              </a:rPr>
              <a:t>？</a:t>
            </a:r>
            <a:endParaRPr lang="en-US" altLang="zh-CN" sz="3600" b="1" dirty="0">
              <a:solidFill>
                <a:srgbClr val="7030A0"/>
              </a:solidFill>
            </a:endParaRPr>
          </a:p>
          <a:p>
            <a:pPr marL="0" indent="0" algn="ctr" fontAlgn="auto">
              <a:lnSpc>
                <a:spcPct val="150000"/>
              </a:lnSpc>
              <a:buNone/>
            </a:pPr>
            <a:r>
              <a:rPr lang="zh-CN" altLang="en-US" sz="4000" b="1" dirty="0">
                <a:solidFill>
                  <a:srgbClr val="FF0000"/>
                </a:solidFill>
              </a:rPr>
              <a:t>坏的流程让好人做不了好事；</a:t>
            </a:r>
            <a:endParaRPr lang="zh-CN" altLang="en-US" sz="4000" b="1" dirty="0">
              <a:solidFill>
                <a:srgbClr val="FF0000"/>
              </a:solidFill>
            </a:endParaRPr>
          </a:p>
          <a:p>
            <a:pPr marL="0" indent="0" algn="ctr" fontAlgn="auto">
              <a:lnSpc>
                <a:spcPct val="150000"/>
              </a:lnSpc>
              <a:buNone/>
            </a:pPr>
            <a:r>
              <a:rPr lang="zh-CN" altLang="en-US" sz="4000" b="1" dirty="0">
                <a:solidFill>
                  <a:srgbClr val="FF0000"/>
                </a:solidFill>
              </a:rPr>
              <a:t>好的流程让坏人做不了坏事</a:t>
            </a:r>
            <a:r>
              <a:rPr lang="en-US" altLang="zh-CN" sz="4000" b="1" dirty="0">
                <a:solidFill>
                  <a:srgbClr val="FF0000"/>
                </a:solidFill>
              </a:rPr>
              <a:t>！</a:t>
            </a:r>
            <a:endParaRPr lang="en-US" altLang="zh-CN" sz="4000" b="1" dirty="0">
              <a:solidFill>
                <a:srgbClr val="FF0000"/>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835" y="658495"/>
            <a:ext cx="10695940" cy="4932680"/>
          </a:xfrm>
        </p:spPr>
        <p:txBody>
          <a:bodyPr>
            <a:noAutofit/>
          </a:bodyPr>
          <a:lstStyle/>
          <a:p>
            <a:pPr marL="0" indent="457200" algn="l" fontAlgn="auto">
              <a:lnSpc>
                <a:spcPct val="150000"/>
              </a:lnSpc>
              <a:buNone/>
            </a:pPr>
            <a:r>
              <a:rPr lang="zh-CN" altLang="en-US" sz="2800" b="1" dirty="0">
                <a:solidFill>
                  <a:srgbClr val="7030A0"/>
                </a:solidFill>
              </a:rPr>
              <a:t>一段值得深思的文字：</a:t>
            </a:r>
            <a:endParaRPr lang="zh-CN" altLang="en-US" sz="2800" b="1" dirty="0">
              <a:solidFill>
                <a:srgbClr val="7030A0"/>
              </a:solidFill>
            </a:endParaRPr>
          </a:p>
          <a:p>
            <a:pPr marL="0" indent="457200" algn="l" fontAlgn="auto">
              <a:lnSpc>
                <a:spcPct val="150000"/>
              </a:lnSpc>
              <a:buNone/>
            </a:pPr>
            <a:r>
              <a:rPr lang="en-US" altLang="zh-CN" sz="2800" b="1" dirty="0">
                <a:solidFill>
                  <a:schemeClr val="tx1"/>
                </a:solidFill>
              </a:rPr>
              <a:t>——</a:t>
            </a:r>
            <a:r>
              <a:rPr lang="zh-CN" altLang="en-US" sz="2800" b="1" dirty="0">
                <a:solidFill>
                  <a:schemeClr val="tx1"/>
                </a:solidFill>
              </a:rPr>
              <a:t>中国企业并不是没有流程，而是流程处于</a:t>
            </a:r>
            <a:r>
              <a:rPr lang="zh-CN" altLang="en-US" sz="2800" b="1" dirty="0">
                <a:solidFill>
                  <a:srgbClr val="00B050"/>
                </a:solidFill>
              </a:rPr>
              <a:t>自发状态</a:t>
            </a:r>
            <a:r>
              <a:rPr lang="zh-CN" altLang="en-US" sz="2800" b="1" dirty="0">
                <a:solidFill>
                  <a:schemeClr val="tx1"/>
                </a:solidFill>
              </a:rPr>
              <a:t>；</a:t>
            </a:r>
            <a:endParaRPr lang="zh-CN" altLang="en-US" sz="2800" b="1" dirty="0">
              <a:solidFill>
                <a:schemeClr val="tx1"/>
              </a:solidFill>
            </a:endParaRPr>
          </a:p>
          <a:p>
            <a:pPr marL="0" indent="457200" algn="l" fontAlgn="auto">
              <a:lnSpc>
                <a:spcPct val="150000"/>
              </a:lnSpc>
              <a:buNone/>
            </a:pPr>
            <a:r>
              <a:rPr lang="en-US" altLang="zh-CN" sz="2800" b="1" dirty="0">
                <a:solidFill>
                  <a:schemeClr val="tx1"/>
                </a:solidFill>
              </a:rPr>
              <a:t>——</a:t>
            </a:r>
            <a:r>
              <a:rPr lang="zh-CN" altLang="en-US" sz="2800" b="1" dirty="0">
                <a:solidFill>
                  <a:schemeClr val="tx1"/>
                </a:solidFill>
              </a:rPr>
              <a:t>当企业一遍又一遍地在重复这个流程的时候，却很少有人把这个流程</a:t>
            </a:r>
            <a:r>
              <a:rPr lang="zh-CN" altLang="en-US" sz="2800" b="1" dirty="0">
                <a:solidFill>
                  <a:srgbClr val="00B050"/>
                </a:solidFill>
              </a:rPr>
              <a:t>记录下来并加以研究分析</a:t>
            </a:r>
            <a:r>
              <a:rPr lang="zh-CN" altLang="en-US" sz="2800" b="1" dirty="0">
                <a:solidFill>
                  <a:schemeClr val="tx1"/>
                </a:solidFill>
              </a:rPr>
              <a:t>；</a:t>
            </a:r>
            <a:endParaRPr lang="zh-CN" altLang="en-US" sz="2800" b="1" dirty="0">
              <a:solidFill>
                <a:schemeClr val="tx1"/>
              </a:solidFill>
            </a:endParaRPr>
          </a:p>
          <a:p>
            <a:pPr marL="0" indent="457200" algn="l" fontAlgn="auto">
              <a:lnSpc>
                <a:spcPct val="150000"/>
              </a:lnSpc>
              <a:buNone/>
            </a:pPr>
            <a:r>
              <a:rPr lang="en-US" altLang="zh-CN" sz="2800" b="1" dirty="0">
                <a:solidFill>
                  <a:schemeClr val="tx1"/>
                </a:solidFill>
              </a:rPr>
              <a:t>——</a:t>
            </a:r>
            <a:r>
              <a:rPr lang="zh-CN" altLang="en-US" sz="2800" b="1" dirty="0">
                <a:solidFill>
                  <a:schemeClr val="tx1"/>
                </a:solidFill>
              </a:rPr>
              <a:t>任何事情都有先后顺序，但</a:t>
            </a:r>
            <a:r>
              <a:rPr lang="en-US" altLang="zh-CN" sz="2800" b="1" dirty="0">
                <a:solidFill>
                  <a:schemeClr val="tx1"/>
                </a:solidFill>
              </a:rPr>
              <a:t>A-B-C</a:t>
            </a:r>
            <a:r>
              <a:rPr lang="zh-CN" altLang="en-US" sz="2800" b="1" dirty="0">
                <a:solidFill>
                  <a:schemeClr val="tx1"/>
                </a:solidFill>
              </a:rPr>
              <a:t>与</a:t>
            </a:r>
            <a:r>
              <a:rPr lang="en-US" altLang="zh-CN" sz="2800" b="1" dirty="0">
                <a:solidFill>
                  <a:schemeClr val="tx1"/>
                </a:solidFill>
              </a:rPr>
              <a:t>B-A-C</a:t>
            </a:r>
            <a:r>
              <a:rPr lang="zh-CN" altLang="en-US" sz="2800" b="1" dirty="0">
                <a:solidFill>
                  <a:schemeClr val="tx1"/>
                </a:solidFill>
              </a:rPr>
              <a:t>肯定有所不同。哪个更有效率</a:t>
            </a:r>
            <a:r>
              <a:rPr lang="en-US" altLang="zh-CN" sz="2800" b="1" dirty="0">
                <a:solidFill>
                  <a:schemeClr val="tx1"/>
                </a:solidFill>
              </a:rPr>
              <a:t>？</a:t>
            </a:r>
            <a:r>
              <a:rPr lang="zh-CN" altLang="en-US" sz="2800" b="1" dirty="0">
                <a:solidFill>
                  <a:schemeClr val="tx1"/>
                </a:solidFill>
              </a:rPr>
              <a:t>更节省成本</a:t>
            </a:r>
            <a:r>
              <a:rPr lang="en-US" altLang="zh-CN" sz="2800" b="1" dirty="0">
                <a:solidFill>
                  <a:schemeClr val="tx1"/>
                </a:solidFill>
              </a:rPr>
              <a:t>？</a:t>
            </a:r>
            <a:r>
              <a:rPr lang="zh-CN" altLang="en-US" sz="2800" b="1" dirty="0">
                <a:solidFill>
                  <a:schemeClr val="tx1"/>
                </a:solidFill>
              </a:rPr>
              <a:t>质量更优</a:t>
            </a:r>
            <a:r>
              <a:rPr lang="en-US" altLang="zh-CN" sz="2800" b="1" dirty="0">
                <a:solidFill>
                  <a:schemeClr val="tx1"/>
                </a:solidFill>
              </a:rPr>
              <a:t>？</a:t>
            </a:r>
            <a:r>
              <a:rPr lang="zh-CN" altLang="en-US" sz="2800" b="1" dirty="0">
                <a:solidFill>
                  <a:schemeClr val="tx1"/>
                </a:solidFill>
              </a:rPr>
              <a:t>那就看您</a:t>
            </a:r>
            <a:r>
              <a:rPr lang="zh-CN" altLang="en-US" sz="2800" b="1" dirty="0">
                <a:solidFill>
                  <a:srgbClr val="00B050"/>
                </a:solidFill>
              </a:rPr>
              <a:t>是否去总结它，是否去优化它。</a:t>
            </a:r>
            <a:endParaRPr lang="zh-CN" altLang="en-US" sz="2800" b="1" dirty="0">
              <a:solidFill>
                <a:srgbClr val="00B050"/>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835" y="658495"/>
            <a:ext cx="10695940" cy="4932680"/>
          </a:xfrm>
        </p:spPr>
        <p:txBody>
          <a:bodyPr>
            <a:noAutofit/>
          </a:bodyPr>
          <a:lstStyle/>
          <a:p>
            <a:pPr marL="0" indent="457200" algn="l" fontAlgn="auto">
              <a:lnSpc>
                <a:spcPct val="150000"/>
              </a:lnSpc>
              <a:buNone/>
            </a:pPr>
            <a:r>
              <a:rPr lang="zh-CN" altLang="en-US" sz="2800" b="1" dirty="0">
                <a:solidFill>
                  <a:srgbClr val="7030A0"/>
                </a:solidFill>
              </a:rPr>
              <a:t>企业中经常有如下情况出现：</a:t>
            </a:r>
            <a:endParaRPr lang="zh-CN" altLang="en-US" sz="2800" b="1" dirty="0">
              <a:solidFill>
                <a:srgbClr val="7030A0"/>
              </a:solidFill>
            </a:endParaRPr>
          </a:p>
          <a:p>
            <a:pPr marL="0" indent="457200" algn="just" fontAlgn="auto">
              <a:lnSpc>
                <a:spcPct val="150000"/>
              </a:lnSpc>
              <a:buNone/>
            </a:pPr>
            <a:r>
              <a:rPr lang="zh-CN" altLang="en-US" sz="2800" b="1" dirty="0">
                <a:solidFill>
                  <a:schemeClr val="tx1"/>
                </a:solidFill>
              </a:rPr>
              <a:t>一些企业的管理者经常反映，</a:t>
            </a:r>
            <a:r>
              <a:rPr lang="en-US" altLang="zh-CN" sz="2800" b="1" dirty="0">
                <a:solidFill>
                  <a:schemeClr val="tx1"/>
                </a:solidFill>
              </a:rPr>
              <a:t>"</a:t>
            </a:r>
            <a:r>
              <a:rPr lang="zh-CN" altLang="en-US" sz="2800" b="1" dirty="0">
                <a:solidFill>
                  <a:schemeClr val="tx1"/>
                </a:solidFill>
              </a:rPr>
              <a:t>在我们的企业内部，并非没有流程，企业有非常严格的制度，每个岗位具体的工作范围与内容有明确的规定，可是，在实际运营过程中，这些制度和规定常常形同虚设，只是写在墙上，却没有印在员工心里，大家在工作时依然我行我素，下达的命令得不到有效执行。</a:t>
            </a:r>
            <a:r>
              <a:rPr lang="en-US" altLang="zh-CN" sz="2800" b="1" dirty="0">
                <a:solidFill>
                  <a:schemeClr val="tx1"/>
                </a:solidFill>
              </a:rPr>
              <a:t>"</a:t>
            </a:r>
            <a:r>
              <a:rPr lang="zh-CN" altLang="en-US" sz="2800" b="1" dirty="0">
                <a:solidFill>
                  <a:schemeClr val="tx1"/>
                </a:solidFill>
              </a:rPr>
              <a:t>。</a:t>
            </a:r>
            <a:endParaRPr lang="zh-CN" altLang="en-US" sz="2800" b="1" dirty="0">
              <a:solidFill>
                <a:schemeClr val="tx1"/>
              </a:solidFill>
            </a:endParaRPr>
          </a:p>
          <a:p>
            <a:pPr marL="0" indent="457200" algn="ctr" fontAlgn="auto">
              <a:lnSpc>
                <a:spcPct val="150000"/>
              </a:lnSpc>
              <a:buNone/>
            </a:pPr>
            <a:r>
              <a:rPr lang="zh-CN" altLang="en-US" sz="2800" b="1" dirty="0">
                <a:solidFill>
                  <a:srgbClr val="00B050"/>
                </a:solidFill>
              </a:rPr>
              <a:t>原因何在</a:t>
            </a:r>
            <a:r>
              <a:rPr lang="en-US" altLang="zh-CN" sz="2800" b="1" dirty="0">
                <a:solidFill>
                  <a:srgbClr val="00B050"/>
                </a:solidFill>
              </a:rPr>
              <a:t>？</a:t>
            </a:r>
            <a:endParaRPr lang="en-US" altLang="zh-CN" sz="2800" b="1" dirty="0">
              <a:solidFill>
                <a:srgbClr val="00B050"/>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835" y="658495"/>
            <a:ext cx="10695940" cy="4932680"/>
          </a:xfrm>
        </p:spPr>
        <p:txBody>
          <a:bodyPr>
            <a:noAutofit/>
          </a:bodyPr>
          <a:lstStyle/>
          <a:p>
            <a:pPr marL="0" indent="457200" algn="l" fontAlgn="auto">
              <a:lnSpc>
                <a:spcPct val="150000"/>
              </a:lnSpc>
              <a:buNone/>
            </a:pPr>
            <a:r>
              <a:rPr lang="zh-CN" altLang="en-US" sz="3600" b="1" dirty="0">
                <a:solidFill>
                  <a:srgbClr val="7030A0"/>
                </a:solidFill>
              </a:rPr>
              <a:t>究其原因：</a:t>
            </a:r>
            <a:endParaRPr lang="zh-CN" altLang="en-US" sz="3600" b="1" dirty="0">
              <a:solidFill>
                <a:srgbClr val="7030A0"/>
              </a:solidFill>
            </a:endParaRPr>
          </a:p>
          <a:p>
            <a:pPr marL="0" indent="457200" algn="ctr" fontAlgn="auto">
              <a:lnSpc>
                <a:spcPct val="150000"/>
              </a:lnSpc>
              <a:buNone/>
            </a:pPr>
            <a:r>
              <a:rPr lang="zh-CN" altLang="en-US" sz="3600" b="1" dirty="0">
                <a:solidFill>
                  <a:schemeClr val="tx1"/>
                </a:solidFill>
              </a:rPr>
              <a:t>企业管理者对流程的认识不确切</a:t>
            </a:r>
            <a:r>
              <a:rPr lang="en-US" altLang="zh-CN" sz="3600" b="1" dirty="0">
                <a:solidFill>
                  <a:schemeClr val="tx1"/>
                </a:solidFill>
              </a:rPr>
              <a:t>！</a:t>
            </a:r>
            <a:endParaRPr lang="en-US" altLang="zh-CN" sz="3600" b="1" dirty="0">
              <a:solidFill>
                <a:schemeClr val="tx1"/>
              </a:solidFill>
            </a:endParaRPr>
          </a:p>
          <a:p>
            <a:pPr marL="0" indent="457200" algn="ctr" fontAlgn="auto">
              <a:lnSpc>
                <a:spcPct val="150000"/>
              </a:lnSpc>
              <a:buNone/>
            </a:pPr>
            <a:r>
              <a:rPr lang="en-US" altLang="zh-CN" sz="3600" b="1" dirty="0">
                <a:solidFill>
                  <a:schemeClr val="tx1"/>
                </a:solidFill>
              </a:rPr>
              <a:t>——</a:t>
            </a:r>
            <a:r>
              <a:rPr lang="zh-CN" altLang="en-US" sz="3600" b="1" dirty="0">
                <a:solidFill>
                  <a:srgbClr val="FF0000"/>
                </a:solidFill>
              </a:rPr>
              <a:t>企业制度与规定</a:t>
            </a:r>
            <a:r>
              <a:rPr lang="zh-CN" altLang="en-US" sz="3600" b="1" dirty="0">
                <a:solidFill>
                  <a:schemeClr val="tx1"/>
                </a:solidFill>
              </a:rPr>
              <a:t>不等于</a:t>
            </a:r>
            <a:r>
              <a:rPr lang="zh-CN" altLang="en-US" sz="3600" b="1" dirty="0">
                <a:solidFill>
                  <a:srgbClr val="FF0000"/>
                </a:solidFill>
              </a:rPr>
              <a:t>流程</a:t>
            </a:r>
            <a:r>
              <a:rPr lang="zh-CN" altLang="en-US" sz="3600" b="1" dirty="0">
                <a:solidFill>
                  <a:schemeClr val="tx1"/>
                </a:solidFill>
              </a:rPr>
              <a:t>！</a:t>
            </a:r>
            <a:endParaRPr lang="zh-CN" altLang="en-US" sz="36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835" y="541655"/>
            <a:ext cx="10695940" cy="4932680"/>
          </a:xfrm>
        </p:spPr>
        <p:txBody>
          <a:bodyPr>
            <a:noAutofit/>
          </a:bodyPr>
          <a:lstStyle/>
          <a:p>
            <a:pPr marL="0" indent="457200" algn="l" fontAlgn="auto">
              <a:lnSpc>
                <a:spcPct val="150000"/>
              </a:lnSpc>
              <a:buNone/>
            </a:pPr>
            <a:r>
              <a:rPr lang="zh-CN" altLang="en-US" sz="3200" b="1" dirty="0">
                <a:solidFill>
                  <a:srgbClr val="7030A0"/>
                </a:solidFill>
              </a:rPr>
              <a:t>您知道流程与制度的关系吗</a:t>
            </a:r>
            <a:r>
              <a:rPr lang="en-US" altLang="zh-CN" sz="3200" b="1" dirty="0">
                <a:solidFill>
                  <a:srgbClr val="7030A0"/>
                </a:solidFill>
              </a:rPr>
              <a:t>？</a:t>
            </a:r>
            <a:endParaRPr lang="en-US" altLang="zh-CN" sz="3200" b="1" dirty="0">
              <a:solidFill>
                <a:srgbClr val="7030A0"/>
              </a:solidFill>
            </a:endParaRPr>
          </a:p>
          <a:p>
            <a:pPr marL="0" indent="457200" algn="l" fontAlgn="auto">
              <a:lnSpc>
                <a:spcPct val="150000"/>
              </a:lnSpc>
              <a:buNone/>
            </a:pPr>
            <a:r>
              <a:rPr lang="zh-CN" altLang="en-US" sz="3200" b="1" dirty="0">
                <a:solidFill>
                  <a:schemeClr val="tx1"/>
                </a:solidFill>
              </a:rPr>
              <a:t>其一，制度告诉大家应做什么、不应该做什么及相应的奖惩；流程告诉大家应该怎么做、做到什么程度及状态。流程是将企业管理实务</a:t>
            </a:r>
            <a:r>
              <a:rPr lang="zh-CN" altLang="en-US" sz="3200" b="1" dirty="0">
                <a:solidFill>
                  <a:srgbClr val="FF0000"/>
                </a:solidFill>
              </a:rPr>
              <a:t>标准化、模块化、流程化</a:t>
            </a:r>
            <a:r>
              <a:rPr lang="zh-CN" altLang="en-US" sz="3200" b="1" dirty="0">
                <a:solidFill>
                  <a:schemeClr val="tx1"/>
                </a:solidFill>
              </a:rPr>
              <a:t>的过程；</a:t>
            </a:r>
            <a:endParaRPr lang="zh-CN" altLang="en-US" sz="3200" b="1" dirty="0">
              <a:solidFill>
                <a:schemeClr val="tx1"/>
              </a:solidFill>
            </a:endParaRPr>
          </a:p>
          <a:p>
            <a:pPr marL="0" indent="457200" algn="l" fontAlgn="auto">
              <a:lnSpc>
                <a:spcPct val="150000"/>
              </a:lnSpc>
              <a:buNone/>
            </a:pPr>
            <a:r>
              <a:rPr lang="zh-CN" altLang="en-US" sz="3200" b="1" dirty="0">
                <a:solidFill>
                  <a:schemeClr val="tx1"/>
                </a:solidFill>
              </a:rPr>
              <a:t>其二，制度是流程的</a:t>
            </a:r>
            <a:r>
              <a:rPr lang="zh-CN" altLang="en-US" sz="3200" b="1" dirty="0">
                <a:solidFill>
                  <a:srgbClr val="00B050"/>
                </a:solidFill>
              </a:rPr>
              <a:t>保证</a:t>
            </a:r>
            <a:r>
              <a:rPr lang="zh-CN" altLang="en-US" sz="3200" b="1" dirty="0">
                <a:solidFill>
                  <a:schemeClr val="tx1"/>
                </a:solidFill>
              </a:rPr>
              <a:t>，</a:t>
            </a:r>
            <a:r>
              <a:rPr lang="zh-CN" altLang="en-US" sz="3200" b="1" dirty="0">
                <a:solidFill>
                  <a:schemeClr val="tx1"/>
                </a:solidFill>
              </a:rPr>
              <a:t>流程是制度的</a:t>
            </a:r>
            <a:r>
              <a:rPr lang="zh-CN" altLang="en-US" sz="3200" b="1" dirty="0">
                <a:solidFill>
                  <a:srgbClr val="00B050"/>
                </a:solidFill>
              </a:rPr>
              <a:t>灵魂</a:t>
            </a:r>
            <a:r>
              <a:rPr lang="zh-CN" altLang="en-US" sz="3200" b="1" dirty="0">
                <a:solidFill>
                  <a:schemeClr val="tx1"/>
                </a:solidFill>
              </a:rPr>
              <a:t>；</a:t>
            </a:r>
            <a:endParaRPr lang="zh-CN" altLang="en-US" sz="3200" b="1" dirty="0">
              <a:solidFill>
                <a:schemeClr val="tx1"/>
              </a:solidFill>
            </a:endParaRPr>
          </a:p>
          <a:p>
            <a:pPr marL="0" indent="457200" algn="l" fontAlgn="auto">
              <a:lnSpc>
                <a:spcPct val="150000"/>
              </a:lnSpc>
              <a:buNone/>
            </a:pPr>
            <a:r>
              <a:rPr lang="zh-CN" altLang="en-US" sz="3200" b="1" dirty="0">
                <a:solidFill>
                  <a:schemeClr val="tx1"/>
                </a:solidFill>
              </a:rPr>
              <a:t>其三，制度是从</a:t>
            </a:r>
            <a:r>
              <a:rPr lang="zh-CN" altLang="en-US" sz="3200" b="1" dirty="0">
                <a:solidFill>
                  <a:srgbClr val="00B050"/>
                </a:solidFill>
              </a:rPr>
              <a:t>人性本恶</a:t>
            </a:r>
            <a:r>
              <a:rPr lang="zh-CN" altLang="en-US" sz="3200" b="1" dirty="0">
                <a:solidFill>
                  <a:schemeClr val="tx1"/>
                </a:solidFill>
              </a:rPr>
              <a:t>的假设来进行管理，流程是从</a:t>
            </a:r>
            <a:r>
              <a:rPr lang="zh-CN" altLang="en-US" sz="3200" b="1" dirty="0">
                <a:solidFill>
                  <a:srgbClr val="00B050"/>
                </a:solidFill>
              </a:rPr>
              <a:t>人性本善</a:t>
            </a:r>
            <a:r>
              <a:rPr lang="zh-CN" altLang="en-US" sz="3200" b="1" dirty="0">
                <a:solidFill>
                  <a:schemeClr val="tx1"/>
                </a:solidFill>
              </a:rPr>
              <a:t>的假设来进行管理；</a:t>
            </a:r>
            <a:endParaRPr lang="zh-CN" altLang="en-US" sz="32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835" y="709930"/>
            <a:ext cx="10695940" cy="4932680"/>
          </a:xfrm>
        </p:spPr>
        <p:txBody>
          <a:bodyPr>
            <a:noAutofit/>
          </a:bodyPr>
          <a:lstStyle/>
          <a:p>
            <a:pPr marL="0" indent="457200" algn="l" fontAlgn="auto">
              <a:lnSpc>
                <a:spcPct val="150000"/>
              </a:lnSpc>
              <a:buNone/>
            </a:pPr>
            <a:r>
              <a:rPr lang="zh-CN" altLang="en-US" sz="3200" b="1" dirty="0">
                <a:solidFill>
                  <a:schemeClr val="tx1"/>
                </a:solidFill>
              </a:rPr>
              <a:t>其三，制度是对事后结果奖惩</a:t>
            </a:r>
            <a:r>
              <a:rPr lang="en-US" altLang="zh-CN" sz="3200" b="1" dirty="0">
                <a:solidFill>
                  <a:schemeClr val="tx1"/>
                </a:solidFill>
              </a:rPr>
              <a:t>（</a:t>
            </a:r>
            <a:r>
              <a:rPr lang="zh-CN" altLang="en-US" sz="3200" b="1" dirty="0">
                <a:solidFill>
                  <a:srgbClr val="00B050"/>
                </a:solidFill>
              </a:rPr>
              <a:t>管人</a:t>
            </a:r>
            <a:r>
              <a:rPr lang="en-US" altLang="zh-CN" sz="3200" b="1" dirty="0">
                <a:solidFill>
                  <a:schemeClr val="tx1"/>
                </a:solidFill>
              </a:rPr>
              <a:t>）</a:t>
            </a:r>
            <a:r>
              <a:rPr lang="zh-CN" altLang="en-US" sz="3200" b="1" dirty="0">
                <a:solidFill>
                  <a:schemeClr val="tx1"/>
                </a:solidFill>
              </a:rPr>
              <a:t>，</a:t>
            </a:r>
            <a:r>
              <a:rPr lang="zh-CN" altLang="en-US" sz="3200" b="1" dirty="0">
                <a:solidFill>
                  <a:schemeClr val="tx1"/>
                </a:solidFill>
              </a:rPr>
              <a:t>流程是对事前进行梳理</a:t>
            </a:r>
            <a:r>
              <a:rPr lang="en-US" altLang="zh-CN" sz="3200" b="1" dirty="0">
                <a:solidFill>
                  <a:schemeClr val="tx1"/>
                </a:solidFill>
              </a:rPr>
              <a:t>（</a:t>
            </a:r>
            <a:r>
              <a:rPr lang="zh-CN" altLang="en-US" sz="3200" b="1" dirty="0">
                <a:solidFill>
                  <a:srgbClr val="00B050"/>
                </a:solidFill>
              </a:rPr>
              <a:t>理事</a:t>
            </a:r>
            <a:r>
              <a:rPr lang="en-US" altLang="zh-CN" sz="3200" b="1" dirty="0">
                <a:solidFill>
                  <a:schemeClr val="tx1"/>
                </a:solidFill>
              </a:rPr>
              <a:t>）；</a:t>
            </a:r>
            <a:endParaRPr lang="en-US" altLang="zh-CN" sz="3200" b="1" dirty="0">
              <a:solidFill>
                <a:schemeClr val="tx1"/>
              </a:solidFill>
            </a:endParaRPr>
          </a:p>
          <a:p>
            <a:pPr marL="0" indent="457200" algn="l" fontAlgn="auto">
              <a:lnSpc>
                <a:spcPct val="150000"/>
              </a:lnSpc>
              <a:buNone/>
            </a:pPr>
            <a:r>
              <a:rPr lang="zh-CN" altLang="en-US" sz="3200" b="1" dirty="0">
                <a:solidFill>
                  <a:schemeClr val="tx1"/>
                </a:solidFill>
              </a:rPr>
              <a:t>其四，简单的流程可用制度的方式进行规定，在此层面上流程和制度可以互换；</a:t>
            </a:r>
            <a:endParaRPr lang="zh-CN" altLang="en-US" sz="3200" b="1" dirty="0">
              <a:solidFill>
                <a:schemeClr val="tx1"/>
              </a:solidFill>
            </a:endParaRPr>
          </a:p>
          <a:p>
            <a:pPr marL="0" indent="457200" algn="l" fontAlgn="auto">
              <a:lnSpc>
                <a:spcPct val="150000"/>
              </a:lnSpc>
              <a:buNone/>
            </a:pPr>
            <a:r>
              <a:rPr lang="zh-CN" altLang="en-US" sz="3200" b="1" dirty="0">
                <a:solidFill>
                  <a:schemeClr val="tx1"/>
                </a:solidFill>
              </a:rPr>
              <a:t>其五，公司制度分为流程类规章制度和常规类规章制度。</a:t>
            </a:r>
            <a:endParaRPr lang="zh-CN" altLang="en-US" sz="32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835" y="209550"/>
            <a:ext cx="10695940" cy="6471285"/>
          </a:xfrm>
        </p:spPr>
        <p:txBody>
          <a:bodyPr>
            <a:noAutofit/>
          </a:bodyPr>
          <a:lstStyle/>
          <a:p>
            <a:pPr marL="0" indent="457200" algn="l" fontAlgn="auto">
              <a:lnSpc>
                <a:spcPct val="150000"/>
              </a:lnSpc>
              <a:buNone/>
            </a:pPr>
            <a:r>
              <a:rPr lang="zh-CN" altLang="en-US" sz="2800" b="1" dirty="0">
                <a:solidFill>
                  <a:srgbClr val="7030A0"/>
                </a:solidFill>
              </a:rPr>
              <a:t>您知道流程的目的吗</a:t>
            </a:r>
            <a:r>
              <a:rPr lang="en-US" altLang="zh-CN" sz="2800" b="1" dirty="0">
                <a:solidFill>
                  <a:srgbClr val="7030A0"/>
                </a:solidFill>
              </a:rPr>
              <a:t>？</a:t>
            </a:r>
            <a:endParaRPr lang="en-US" altLang="zh-CN" sz="2800" b="1" dirty="0">
              <a:solidFill>
                <a:srgbClr val="7030A0"/>
              </a:solidFill>
            </a:endParaRPr>
          </a:p>
          <a:p>
            <a:pPr marL="0" indent="457200" algn="l" fontAlgn="auto">
              <a:lnSpc>
                <a:spcPct val="150000"/>
              </a:lnSpc>
              <a:buNone/>
            </a:pPr>
            <a:r>
              <a:rPr lang="zh-CN" altLang="en-US" sz="2800" b="1" dirty="0">
                <a:solidFill>
                  <a:schemeClr val="tx1"/>
                </a:solidFill>
              </a:rPr>
              <a:t>其一，使得</a:t>
            </a:r>
            <a:r>
              <a:rPr lang="zh-CN" altLang="en-US" sz="2800" b="1" dirty="0">
                <a:solidFill>
                  <a:srgbClr val="00B050"/>
                </a:solidFill>
              </a:rPr>
              <a:t>组织机构</a:t>
            </a:r>
            <a:r>
              <a:rPr lang="zh-CN" altLang="en-US" sz="2800" b="1" dirty="0">
                <a:solidFill>
                  <a:schemeClr val="tx1"/>
                </a:solidFill>
              </a:rPr>
              <a:t>的职能统一与集中，企业资源有效利用；</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其二，使得</a:t>
            </a:r>
            <a:r>
              <a:rPr lang="zh-CN" altLang="en-US" sz="2800" b="1" dirty="0">
                <a:solidFill>
                  <a:srgbClr val="00B050"/>
                </a:solidFill>
              </a:rPr>
              <a:t>高层领导</a:t>
            </a:r>
            <a:r>
              <a:rPr lang="zh-CN" altLang="en-US" sz="2800" b="1" dirty="0">
                <a:solidFill>
                  <a:schemeClr val="tx1"/>
                </a:solidFill>
              </a:rPr>
              <a:t>高屋建瓴，理清运营脉络，明确发展方向；</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其三，使得</a:t>
            </a:r>
            <a:r>
              <a:rPr lang="zh-CN" altLang="en-US" sz="2800" b="1" dirty="0">
                <a:solidFill>
                  <a:srgbClr val="00B050"/>
                </a:solidFill>
              </a:rPr>
              <a:t>中层干部</a:t>
            </a:r>
            <a:r>
              <a:rPr lang="zh-CN" altLang="en-US" sz="2800" b="1" dirty="0">
                <a:solidFill>
                  <a:schemeClr val="tx1"/>
                </a:solidFill>
              </a:rPr>
              <a:t>不再上下为难，增强主动性并提高效率；</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其四，使得</a:t>
            </a:r>
            <a:r>
              <a:rPr lang="zh-CN" altLang="en-US" sz="2800" b="1" dirty="0">
                <a:solidFill>
                  <a:srgbClr val="00B050"/>
                </a:solidFill>
              </a:rPr>
              <a:t>基础员工</a:t>
            </a:r>
            <a:r>
              <a:rPr lang="zh-CN" altLang="en-US" sz="2800" b="1" dirty="0">
                <a:solidFill>
                  <a:schemeClr val="tx1"/>
                </a:solidFill>
              </a:rPr>
              <a:t>做事有章可循，工作变得更加简单高效。</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总之，流程的目的就是消除部门壁垒、职务空白地带、人浮于事、扯皮推诿、职责不清、执行不力的顽疾，确保企业运行有秩序、效率有保证，让企业管理工作简单高效，保证员工潜能得到释放、高效执行。</a:t>
            </a: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835" y="386080"/>
            <a:ext cx="10695940" cy="6471285"/>
          </a:xfrm>
        </p:spPr>
        <p:txBody>
          <a:bodyPr>
            <a:noAutofit/>
          </a:bodyPr>
          <a:lstStyle/>
          <a:p>
            <a:pPr marL="0" indent="457200" algn="l" fontAlgn="auto">
              <a:lnSpc>
                <a:spcPct val="150000"/>
              </a:lnSpc>
              <a:buNone/>
            </a:pPr>
            <a:r>
              <a:rPr lang="zh-CN" altLang="en-US" sz="3200" b="1" dirty="0">
                <a:solidFill>
                  <a:srgbClr val="7030A0"/>
                </a:solidFill>
              </a:rPr>
              <a:t>小结：</a:t>
            </a:r>
            <a:endParaRPr lang="zh-CN" altLang="en-US" sz="3200" b="1" dirty="0">
              <a:solidFill>
                <a:srgbClr val="7030A0"/>
              </a:solidFill>
            </a:endParaRPr>
          </a:p>
          <a:p>
            <a:pPr marL="0" indent="457200" algn="l" fontAlgn="auto">
              <a:lnSpc>
                <a:spcPct val="150000"/>
              </a:lnSpc>
              <a:buNone/>
            </a:pPr>
            <a:r>
              <a:rPr lang="zh-CN" altLang="en-US" sz="3200" b="1" dirty="0">
                <a:solidFill>
                  <a:schemeClr val="tx1"/>
                </a:solidFill>
              </a:rPr>
              <a:t>通过对</a:t>
            </a:r>
            <a:r>
              <a:rPr lang="zh-CN" altLang="en-US" sz="3200" b="1" dirty="0">
                <a:solidFill>
                  <a:srgbClr val="00B050"/>
                </a:solidFill>
              </a:rPr>
              <a:t>认识流程</a:t>
            </a:r>
            <a:r>
              <a:rPr lang="zh-CN" altLang="en-US" sz="3200" b="1" dirty="0">
                <a:solidFill>
                  <a:schemeClr val="tx1"/>
                </a:solidFill>
              </a:rPr>
              <a:t>这一部分的分享，使得大家得知实现企业管理、企业发展、执行力、竞争力、职业化、自动化等的前提必要条件就是</a:t>
            </a:r>
            <a:r>
              <a:rPr lang="zh-CN" altLang="en-US" sz="3200" b="1" dirty="0">
                <a:solidFill>
                  <a:srgbClr val="FF0000"/>
                </a:solidFill>
              </a:rPr>
              <a:t>流程体系</a:t>
            </a:r>
            <a:r>
              <a:rPr lang="zh-CN" altLang="en-US" sz="3200" b="1" dirty="0">
                <a:solidFill>
                  <a:schemeClr val="tx1"/>
                </a:solidFill>
              </a:rPr>
              <a:t>。</a:t>
            </a:r>
            <a:endParaRPr lang="zh-CN" altLang="en-US" sz="3200" b="1" dirty="0">
              <a:solidFill>
                <a:schemeClr val="tx1"/>
              </a:solidFill>
            </a:endParaRPr>
          </a:p>
          <a:p>
            <a:pPr marL="0" indent="0" algn="ctr" fontAlgn="auto">
              <a:lnSpc>
                <a:spcPct val="150000"/>
              </a:lnSpc>
              <a:buNone/>
            </a:pPr>
            <a:r>
              <a:rPr lang="zh-CN" altLang="en-US" sz="4000" b="1" dirty="0">
                <a:solidFill>
                  <a:srgbClr val="FF0000"/>
                </a:solidFill>
              </a:rPr>
              <a:t>没有流程，管理就是空话</a:t>
            </a:r>
            <a:r>
              <a:rPr lang="en-US" altLang="zh-CN" sz="4000" b="1" dirty="0">
                <a:solidFill>
                  <a:srgbClr val="FF0000"/>
                </a:solidFill>
              </a:rPr>
              <a:t>！</a:t>
            </a:r>
            <a:endParaRPr lang="en-US" altLang="zh-CN" sz="4000" b="1" dirty="0">
              <a:solidFill>
                <a:srgbClr val="FF0000"/>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35380" y="959485"/>
            <a:ext cx="10515600" cy="4351338"/>
          </a:xfrm>
        </p:spPr>
        <p:txBody>
          <a:bodyPr>
            <a:normAutofit lnSpcReduction="20000"/>
          </a:bodyPr>
          <a:lstStyle/>
          <a:p>
            <a:pPr marL="0" indent="0">
              <a:lnSpc>
                <a:spcPct val="150000"/>
              </a:lnSpc>
              <a:buNone/>
            </a:pPr>
            <a:r>
              <a:rPr lang="zh-CN" altLang="en-US" sz="3200" b="1" dirty="0">
                <a:solidFill>
                  <a:srgbClr val="7030A0"/>
                </a:solidFill>
              </a:rPr>
              <a:t>优质流程的宗旨是什么</a:t>
            </a:r>
            <a:r>
              <a:rPr lang="en-US" altLang="zh-CN" sz="3200" b="1" dirty="0">
                <a:solidFill>
                  <a:srgbClr val="7030A0"/>
                </a:solidFill>
              </a:rPr>
              <a:t>？</a:t>
            </a:r>
            <a:endParaRPr lang="en-US" altLang="zh-CN" sz="3200" b="1" dirty="0">
              <a:solidFill>
                <a:srgbClr val="7030A0"/>
              </a:solidFill>
            </a:endParaRPr>
          </a:p>
          <a:p>
            <a:pPr marL="0" indent="0">
              <a:lnSpc>
                <a:spcPct val="150000"/>
              </a:lnSpc>
              <a:buNone/>
            </a:pPr>
            <a:endParaRPr lang="en-US" altLang="zh-CN" sz="3200" b="1" dirty="0">
              <a:solidFill>
                <a:srgbClr val="7030A0"/>
              </a:solidFill>
            </a:endParaRPr>
          </a:p>
          <a:p>
            <a:pPr marL="0" indent="0">
              <a:lnSpc>
                <a:spcPct val="150000"/>
              </a:lnSpc>
              <a:buNone/>
            </a:pPr>
            <a:r>
              <a:rPr lang="zh-CN" altLang="en-US" sz="3600" b="1" dirty="0">
                <a:solidFill>
                  <a:schemeClr val="tx1"/>
                </a:solidFill>
              </a:rPr>
              <a:t>优质流程的宗旨是以</a:t>
            </a:r>
            <a:r>
              <a:rPr lang="zh-CN" altLang="en-US" sz="3600" b="1" dirty="0">
                <a:solidFill>
                  <a:srgbClr val="00B050"/>
                </a:solidFill>
              </a:rPr>
              <a:t>客户</a:t>
            </a:r>
            <a:r>
              <a:rPr lang="zh-CN" altLang="en-US" sz="3600" b="1" dirty="0">
                <a:solidFill>
                  <a:schemeClr val="tx1"/>
                </a:solidFill>
              </a:rPr>
              <a:t>为中心。</a:t>
            </a:r>
            <a:endParaRPr lang="zh-CN" altLang="en-US" sz="3600" b="1" dirty="0">
              <a:solidFill>
                <a:schemeClr val="tx1"/>
              </a:solidFill>
            </a:endParaRPr>
          </a:p>
          <a:p>
            <a:pPr marL="0" indent="0">
              <a:lnSpc>
                <a:spcPct val="150000"/>
              </a:lnSpc>
              <a:buNone/>
            </a:pPr>
            <a:r>
              <a:rPr lang="zh-CN" altLang="en-US" sz="3600" b="1" dirty="0">
                <a:solidFill>
                  <a:schemeClr val="tx1"/>
                </a:solidFill>
              </a:rPr>
              <a:t>其本质：</a:t>
            </a:r>
            <a:endParaRPr lang="zh-CN" altLang="en-US" sz="3600" b="1" dirty="0">
              <a:solidFill>
                <a:schemeClr val="tx1"/>
              </a:solidFill>
            </a:endParaRPr>
          </a:p>
          <a:p>
            <a:pPr marL="0" indent="0">
              <a:lnSpc>
                <a:spcPct val="150000"/>
              </a:lnSpc>
              <a:buNone/>
            </a:pPr>
            <a:r>
              <a:rPr lang="zh-CN" altLang="en-US" sz="3600" b="1" dirty="0">
                <a:solidFill>
                  <a:schemeClr val="tx1"/>
                </a:solidFill>
              </a:rPr>
              <a:t>实现</a:t>
            </a:r>
            <a:r>
              <a:rPr lang="en-US" altLang="zh-CN" sz="3600" b="1" dirty="0">
                <a:solidFill>
                  <a:schemeClr val="tx1"/>
                </a:solidFill>
              </a:rPr>
              <a:t>"</a:t>
            </a:r>
            <a:r>
              <a:rPr lang="zh-CN" altLang="en-US" sz="3600" b="1" dirty="0">
                <a:solidFill>
                  <a:srgbClr val="FF0000"/>
                </a:solidFill>
              </a:rPr>
              <a:t>唯我</a:t>
            </a:r>
            <a:r>
              <a:rPr lang="en-US" altLang="zh-CN" sz="3600" b="1" dirty="0">
                <a:solidFill>
                  <a:schemeClr val="tx1"/>
                </a:solidFill>
              </a:rPr>
              <a:t>”</a:t>
            </a:r>
            <a:r>
              <a:rPr lang="zh-CN" altLang="en-US" sz="3600" b="1" dirty="0">
                <a:solidFill>
                  <a:schemeClr val="tx1"/>
                </a:solidFill>
              </a:rPr>
              <a:t>思维向</a:t>
            </a:r>
            <a:r>
              <a:rPr lang="en-US" altLang="zh-CN" sz="3600" b="1" dirty="0">
                <a:solidFill>
                  <a:schemeClr val="tx1"/>
                </a:solidFill>
              </a:rPr>
              <a:t>"</a:t>
            </a:r>
            <a:r>
              <a:rPr lang="zh-CN" altLang="en-US" sz="3600" b="1" dirty="0">
                <a:solidFill>
                  <a:srgbClr val="FF0000"/>
                </a:solidFill>
              </a:rPr>
              <a:t>利他</a:t>
            </a:r>
            <a:r>
              <a:rPr lang="en-US" altLang="zh-CN" sz="3600" b="1" dirty="0">
                <a:solidFill>
                  <a:schemeClr val="tx1"/>
                </a:solidFill>
              </a:rPr>
              <a:t>"</a:t>
            </a:r>
            <a:r>
              <a:rPr lang="zh-CN" altLang="en-US" sz="3600" b="1" dirty="0">
                <a:solidFill>
                  <a:schemeClr val="tx1"/>
                </a:solidFill>
              </a:rPr>
              <a:t>思维的转变。</a:t>
            </a:r>
            <a:endParaRPr lang="zh-CN" altLang="en-US" sz="40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7875" y="514985"/>
            <a:ext cx="10373360" cy="5652770"/>
          </a:xfrm>
        </p:spPr>
        <p:txBody>
          <a:bodyPr>
            <a:noAutofit/>
          </a:bodyPr>
          <a:lstStyle/>
          <a:p>
            <a:pPr marL="0" indent="0">
              <a:lnSpc>
                <a:spcPct val="150000"/>
              </a:lnSpc>
              <a:buNone/>
            </a:pPr>
            <a:r>
              <a:rPr lang="zh-CN" altLang="en-US" sz="3200" b="1" dirty="0">
                <a:solidFill>
                  <a:srgbClr val="7030A0"/>
                </a:solidFill>
              </a:rPr>
              <a:t>优质流程的标准是什么</a:t>
            </a:r>
            <a:r>
              <a:rPr lang="en-US" altLang="zh-CN" sz="3200" b="1" dirty="0">
                <a:solidFill>
                  <a:srgbClr val="7030A0"/>
                </a:solidFill>
              </a:rPr>
              <a:t>？</a:t>
            </a:r>
            <a:endParaRPr lang="en-US" altLang="zh-CN" sz="3200" b="1" dirty="0">
              <a:solidFill>
                <a:srgbClr val="7030A0"/>
              </a:solidFill>
            </a:endParaRPr>
          </a:p>
          <a:p>
            <a:pPr marL="0" indent="0">
              <a:lnSpc>
                <a:spcPct val="150000"/>
              </a:lnSpc>
              <a:buNone/>
            </a:pPr>
            <a:r>
              <a:rPr lang="zh-CN" altLang="en-US" sz="3200" b="1" dirty="0">
                <a:solidFill>
                  <a:schemeClr val="tx1"/>
                </a:solidFill>
              </a:rPr>
              <a:t>标准一，方便员工做事</a:t>
            </a:r>
            <a:endParaRPr lang="zh-CN" altLang="en-US" sz="3200" b="1" dirty="0">
              <a:solidFill>
                <a:schemeClr val="tx1"/>
              </a:solidFill>
            </a:endParaRPr>
          </a:p>
          <a:p>
            <a:pPr marL="0" indent="0">
              <a:lnSpc>
                <a:spcPct val="150000"/>
              </a:lnSpc>
              <a:buNone/>
            </a:pPr>
            <a:r>
              <a:rPr lang="zh-CN" altLang="en-US" sz="3200" b="1" dirty="0">
                <a:solidFill>
                  <a:schemeClr val="tx1"/>
                </a:solidFill>
              </a:rPr>
              <a:t>流程要简单、可操作、可执行</a:t>
            </a:r>
            <a:r>
              <a:rPr lang="en-US" altLang="zh-CN" sz="3200" b="1" dirty="0">
                <a:solidFill>
                  <a:schemeClr val="tx1"/>
                </a:solidFill>
              </a:rPr>
              <a:t>——</a:t>
            </a:r>
            <a:r>
              <a:rPr lang="zh-CN" altLang="en-US" sz="3200" b="1" dirty="0">
                <a:solidFill>
                  <a:srgbClr val="00B050"/>
                </a:solidFill>
              </a:rPr>
              <a:t>导航仪</a:t>
            </a:r>
            <a:endParaRPr lang="zh-CN" altLang="en-US" sz="3200" b="1" dirty="0">
              <a:solidFill>
                <a:schemeClr val="tx1"/>
              </a:solidFill>
            </a:endParaRPr>
          </a:p>
          <a:p>
            <a:pPr marL="0" indent="0">
              <a:lnSpc>
                <a:spcPct val="150000"/>
              </a:lnSpc>
              <a:buNone/>
            </a:pPr>
            <a:r>
              <a:rPr lang="zh-CN" altLang="en-US" sz="3200" b="1" dirty="0">
                <a:solidFill>
                  <a:schemeClr val="tx1"/>
                </a:solidFill>
              </a:rPr>
              <a:t>标准二，方便培训人才</a:t>
            </a:r>
            <a:endParaRPr lang="zh-CN" altLang="en-US" sz="3200" b="1" dirty="0">
              <a:solidFill>
                <a:schemeClr val="tx1"/>
              </a:solidFill>
            </a:endParaRPr>
          </a:p>
          <a:p>
            <a:pPr marL="0" indent="0">
              <a:lnSpc>
                <a:spcPct val="150000"/>
              </a:lnSpc>
              <a:buNone/>
            </a:pPr>
            <a:r>
              <a:rPr lang="zh-CN" altLang="en-US" sz="3200" b="1" dirty="0">
                <a:solidFill>
                  <a:schemeClr val="tx1"/>
                </a:solidFill>
              </a:rPr>
              <a:t>流程要可学、可教、可持续性</a:t>
            </a:r>
            <a:r>
              <a:rPr lang="en-US" altLang="zh-CN" sz="3200" b="1" dirty="0">
                <a:solidFill>
                  <a:schemeClr val="tx1"/>
                </a:solidFill>
              </a:rPr>
              <a:t>——</a:t>
            </a:r>
            <a:r>
              <a:rPr lang="zh-CN" altLang="en-US" sz="3200" b="1" dirty="0">
                <a:solidFill>
                  <a:srgbClr val="00B050"/>
                </a:solidFill>
              </a:rPr>
              <a:t>教科书</a:t>
            </a:r>
            <a:endParaRPr lang="zh-CN" altLang="en-US" sz="3200" b="1" dirty="0">
              <a:solidFill>
                <a:schemeClr val="tx1"/>
              </a:solidFill>
            </a:endParaRPr>
          </a:p>
          <a:p>
            <a:pPr marL="0" indent="0">
              <a:lnSpc>
                <a:spcPct val="150000"/>
              </a:lnSpc>
              <a:buNone/>
            </a:pPr>
            <a:r>
              <a:rPr lang="zh-CN" altLang="en-US" sz="3200" b="1" dirty="0">
                <a:solidFill>
                  <a:schemeClr val="tx1"/>
                </a:solidFill>
              </a:rPr>
              <a:t>标准三，方便管理者督导</a:t>
            </a:r>
            <a:endParaRPr lang="zh-CN" altLang="en-US" sz="3200" b="1" dirty="0">
              <a:solidFill>
                <a:schemeClr val="tx1"/>
              </a:solidFill>
            </a:endParaRPr>
          </a:p>
          <a:p>
            <a:pPr marL="0" indent="0">
              <a:lnSpc>
                <a:spcPct val="150000"/>
              </a:lnSpc>
              <a:buNone/>
            </a:pPr>
            <a:r>
              <a:rPr lang="zh-CN" altLang="en-US" sz="3200" b="1" dirty="0">
                <a:solidFill>
                  <a:schemeClr val="tx1"/>
                </a:solidFill>
              </a:rPr>
              <a:t>流程要有操作步骤、细节和标准</a:t>
            </a:r>
            <a:r>
              <a:rPr lang="en-US" altLang="zh-CN" sz="3200" b="1" dirty="0">
                <a:solidFill>
                  <a:schemeClr val="tx1"/>
                </a:solidFill>
              </a:rPr>
              <a:t>——</a:t>
            </a:r>
            <a:r>
              <a:rPr lang="zh-CN" altLang="en-US" sz="3200" b="1" dirty="0">
                <a:solidFill>
                  <a:srgbClr val="00B050"/>
                </a:solidFill>
              </a:rPr>
              <a:t>检查表</a:t>
            </a:r>
            <a:endParaRPr lang="zh-CN" altLang="en-US" sz="3200" b="1" dirty="0">
              <a:solidFill>
                <a:schemeClr val="tx1"/>
              </a:solidFill>
            </a:endParaRPr>
          </a:p>
          <a:p>
            <a:pPr marL="0" indent="0">
              <a:lnSpc>
                <a:spcPct val="150000"/>
              </a:lnSpc>
              <a:buNone/>
            </a:pPr>
            <a:endParaRPr lang="zh-CN" altLang="en-US" sz="32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
        <p:nvSpPr>
          <p:cNvPr id="5" name="右大括号 4"/>
          <p:cNvSpPr/>
          <p:nvPr/>
        </p:nvSpPr>
        <p:spPr>
          <a:xfrm>
            <a:off x="8717915" y="2743200"/>
            <a:ext cx="414020" cy="3571875"/>
          </a:xfrm>
          <a:prstGeom prst="rightBrace">
            <a:avLst/>
          </a:prstGeom>
          <a:ln w="31750" cmpd="sng">
            <a:solidFill>
              <a:schemeClr val="tx1"/>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 name="文本框 5"/>
          <p:cNvSpPr txBox="1"/>
          <p:nvPr/>
        </p:nvSpPr>
        <p:spPr>
          <a:xfrm>
            <a:off x="9366250" y="3998595"/>
            <a:ext cx="2628900" cy="829945"/>
          </a:xfrm>
          <a:prstGeom prst="rect">
            <a:avLst/>
          </a:prstGeom>
          <a:noFill/>
        </p:spPr>
        <p:txBody>
          <a:bodyPr wrap="square" rtlCol="0" anchor="t">
            <a:spAutoFit/>
          </a:bodyPr>
          <a:p>
            <a:pPr marL="0" indent="0">
              <a:lnSpc>
                <a:spcPct val="150000"/>
              </a:lnSpc>
              <a:buNone/>
            </a:pPr>
            <a:r>
              <a:rPr lang="zh-CN" altLang="en-US" sz="3200" b="1" dirty="0">
                <a:solidFill>
                  <a:srgbClr val="FF0000"/>
                </a:solidFill>
                <a:latin typeface="微软雅黑" panose="020B0503020204020204" pitchFamily="34" charset="-122"/>
                <a:ea typeface="微软雅黑" panose="020B0503020204020204" pitchFamily="34" charset="-122"/>
                <a:sym typeface="+mn-ea"/>
              </a:rPr>
              <a:t>流程设计准则</a:t>
            </a:r>
            <a:endParaRPr lang="zh-CN" altLang="en-US" sz="3200" b="1" dirty="0">
              <a:solidFill>
                <a:srgbClr val="FF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3885" y="386080"/>
            <a:ext cx="10930890" cy="6471285"/>
          </a:xfrm>
        </p:spPr>
        <p:txBody>
          <a:bodyPr>
            <a:noAutofit/>
          </a:bodyPr>
          <a:lstStyle/>
          <a:p>
            <a:pPr marL="0" indent="457200" algn="l" fontAlgn="auto">
              <a:lnSpc>
                <a:spcPct val="150000"/>
              </a:lnSpc>
              <a:buNone/>
            </a:pPr>
            <a:r>
              <a:rPr lang="zh-CN" altLang="en-US" sz="3200" b="1" dirty="0">
                <a:solidFill>
                  <a:srgbClr val="7030A0"/>
                </a:solidFill>
              </a:rPr>
              <a:t>优质流程的准则是什么</a:t>
            </a:r>
            <a:r>
              <a:rPr lang="en-US" altLang="zh-CN" sz="3200" b="1" dirty="0">
                <a:solidFill>
                  <a:srgbClr val="7030A0"/>
                </a:solidFill>
              </a:rPr>
              <a:t>？</a:t>
            </a:r>
            <a:endParaRPr lang="en-US" altLang="zh-CN" sz="3200" b="1" dirty="0">
              <a:solidFill>
                <a:srgbClr val="7030A0"/>
              </a:solidFill>
            </a:endParaRPr>
          </a:p>
          <a:p>
            <a:pPr marL="0" indent="457200" algn="l" fontAlgn="auto">
              <a:lnSpc>
                <a:spcPct val="150000"/>
              </a:lnSpc>
              <a:buNone/>
            </a:pPr>
            <a:r>
              <a:rPr lang="zh-CN" altLang="en-US" sz="3200" b="1" dirty="0">
                <a:solidFill>
                  <a:srgbClr val="7030A0"/>
                </a:solidFill>
              </a:rPr>
              <a:t>准则一，简单化</a:t>
            </a:r>
            <a:endParaRPr lang="zh-CN" altLang="en-US" sz="3200" b="1" dirty="0">
              <a:solidFill>
                <a:srgbClr val="7030A0"/>
              </a:solidFill>
            </a:endParaRPr>
          </a:p>
          <a:p>
            <a:pPr marL="0" indent="457200" algn="l" fontAlgn="auto">
              <a:lnSpc>
                <a:spcPct val="150000"/>
              </a:lnSpc>
              <a:buNone/>
            </a:pPr>
            <a:r>
              <a:rPr lang="zh-CN" altLang="en-US" sz="3200" b="1" dirty="0">
                <a:solidFill>
                  <a:schemeClr val="tx1"/>
                </a:solidFill>
              </a:rPr>
              <a:t>简单化的关键在于</a:t>
            </a:r>
            <a:r>
              <a:rPr lang="zh-CN" altLang="en-US" sz="3200" b="1" dirty="0">
                <a:solidFill>
                  <a:srgbClr val="FF0000"/>
                </a:solidFill>
              </a:rPr>
              <a:t>流程化</a:t>
            </a:r>
            <a:r>
              <a:rPr lang="zh-CN" altLang="en-US" sz="3200" b="1" dirty="0">
                <a:solidFill>
                  <a:schemeClr val="tx1"/>
                </a:solidFill>
              </a:rPr>
              <a:t>，</a:t>
            </a:r>
            <a:r>
              <a:rPr lang="zh-CN" altLang="en-US" sz="3200" b="1" dirty="0">
                <a:solidFill>
                  <a:schemeClr val="tx1"/>
                </a:solidFill>
              </a:rPr>
              <a:t>流程化是指结构简单。</a:t>
            </a:r>
            <a:endParaRPr lang="zh-CN" altLang="en-US" sz="3200" b="1" dirty="0">
              <a:solidFill>
                <a:schemeClr val="tx1"/>
              </a:solidFill>
            </a:endParaRPr>
          </a:p>
          <a:p>
            <a:pPr marL="0" indent="457200" algn="l" fontAlgn="auto">
              <a:lnSpc>
                <a:spcPct val="150000"/>
              </a:lnSpc>
              <a:buNone/>
            </a:pPr>
            <a:r>
              <a:rPr lang="zh-CN" altLang="en-US" sz="3200" b="1" dirty="0">
                <a:solidFill>
                  <a:schemeClr val="tx1"/>
                </a:solidFill>
              </a:rPr>
              <a:t>优质的</a:t>
            </a:r>
            <a:r>
              <a:rPr lang="zh-CN" altLang="en-US" sz="3200" b="1" dirty="0">
                <a:solidFill>
                  <a:schemeClr val="tx1"/>
                </a:solidFill>
              </a:rPr>
              <a:t>流程结构应明确</a:t>
            </a:r>
            <a:r>
              <a:rPr lang="zh-CN" altLang="en-US" sz="3200" b="1" dirty="0">
                <a:solidFill>
                  <a:srgbClr val="00B050"/>
                </a:solidFill>
              </a:rPr>
              <a:t>各关键节点、涉及部门及岗位、工作阶段，要符合国际通用的</a:t>
            </a:r>
            <a:r>
              <a:rPr lang="en-US" altLang="zh-CN" sz="3200" b="1" dirty="0">
                <a:solidFill>
                  <a:srgbClr val="00B050"/>
                </a:solidFill>
              </a:rPr>
              <a:t>“</a:t>
            </a:r>
            <a:r>
              <a:rPr lang="zh-CN" altLang="en-US" sz="3200" b="1" dirty="0">
                <a:solidFill>
                  <a:srgbClr val="00B050"/>
                </a:solidFill>
              </a:rPr>
              <a:t>矩阵式流程图</a:t>
            </a:r>
            <a:r>
              <a:rPr lang="en-US" altLang="zh-CN" sz="3200" b="1" dirty="0">
                <a:solidFill>
                  <a:srgbClr val="00B050"/>
                </a:solidFill>
              </a:rPr>
              <a:t>”</a:t>
            </a:r>
            <a:r>
              <a:rPr lang="en-US" altLang="zh-CN" sz="3200" b="1" dirty="0">
                <a:solidFill>
                  <a:schemeClr val="tx1"/>
                </a:solidFill>
              </a:rPr>
              <a:t>；</a:t>
            </a:r>
            <a:endParaRPr lang="en-US" altLang="zh-CN" sz="3200" b="1" dirty="0">
              <a:solidFill>
                <a:schemeClr val="tx1"/>
              </a:solidFill>
            </a:endParaRPr>
          </a:p>
          <a:p>
            <a:pPr marL="0" indent="457200" algn="l" fontAlgn="auto">
              <a:lnSpc>
                <a:spcPct val="150000"/>
              </a:lnSpc>
              <a:buNone/>
            </a:pPr>
            <a:r>
              <a:rPr lang="zh-CN" altLang="en-US" sz="3200" b="1" dirty="0">
                <a:solidFill>
                  <a:schemeClr val="tx1"/>
                </a:solidFill>
              </a:rPr>
              <a:t>优质的</a:t>
            </a:r>
            <a:r>
              <a:rPr lang="zh-CN" altLang="en-US" sz="3200" b="1" dirty="0">
                <a:sym typeface="+mn-ea"/>
              </a:rPr>
              <a:t>流程结构</a:t>
            </a:r>
            <a:r>
              <a:rPr lang="zh-CN" altLang="en-US" sz="3200" b="1" dirty="0">
                <a:solidFill>
                  <a:schemeClr val="tx1"/>
                </a:solidFill>
              </a:rPr>
              <a:t>应</a:t>
            </a:r>
            <a:r>
              <a:rPr lang="zh-CN" altLang="en-US" sz="3200" b="1" dirty="0">
                <a:solidFill>
                  <a:srgbClr val="FF0000"/>
                </a:solidFill>
              </a:rPr>
              <a:t>可衡量、可量化、可交换</a:t>
            </a:r>
            <a:r>
              <a:rPr lang="zh-CN" altLang="en-US" sz="3200" b="1" dirty="0">
                <a:solidFill>
                  <a:schemeClr val="tx1"/>
                </a:solidFill>
              </a:rPr>
              <a:t>。</a:t>
            </a:r>
            <a:endParaRPr lang="zh-CN" altLang="en-US" sz="32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96265" y="767080"/>
            <a:ext cx="10938510" cy="6090285"/>
          </a:xfrm>
        </p:spPr>
        <p:txBody>
          <a:bodyPr>
            <a:noAutofit/>
          </a:bodyPr>
          <a:lstStyle/>
          <a:p>
            <a:pPr marL="0" indent="457200" algn="l" fontAlgn="auto">
              <a:lnSpc>
                <a:spcPct val="150000"/>
              </a:lnSpc>
              <a:buNone/>
            </a:pPr>
            <a:r>
              <a:rPr lang="zh-CN" altLang="en-US" sz="3200" b="1" dirty="0">
                <a:solidFill>
                  <a:srgbClr val="7030A0"/>
                </a:solidFill>
              </a:rPr>
              <a:t>准则二，专业化</a:t>
            </a:r>
            <a:endParaRPr lang="zh-CN" altLang="en-US" sz="3200" b="1" dirty="0">
              <a:solidFill>
                <a:srgbClr val="7030A0"/>
              </a:solidFill>
            </a:endParaRPr>
          </a:p>
          <a:p>
            <a:pPr marL="0" indent="457200" algn="l" fontAlgn="auto">
              <a:lnSpc>
                <a:spcPct val="150000"/>
              </a:lnSpc>
              <a:buNone/>
            </a:pPr>
            <a:r>
              <a:rPr lang="zh-CN" altLang="en-US" sz="3200" b="1" dirty="0">
                <a:solidFill>
                  <a:schemeClr val="tx1"/>
                </a:solidFill>
              </a:rPr>
              <a:t>专业化的关键在于</a:t>
            </a:r>
            <a:r>
              <a:rPr lang="zh-CN" altLang="en-US" sz="3200" b="1" dirty="0">
                <a:solidFill>
                  <a:srgbClr val="FF0000"/>
                </a:solidFill>
              </a:rPr>
              <a:t>细节</a:t>
            </a:r>
            <a:r>
              <a:rPr lang="zh-CN" altLang="en-US" sz="3200" b="1" dirty="0">
                <a:solidFill>
                  <a:schemeClr val="tx1"/>
                </a:solidFill>
              </a:rPr>
              <a:t>，</a:t>
            </a:r>
            <a:r>
              <a:rPr lang="zh-CN" altLang="en-US" sz="3200" b="1" dirty="0">
                <a:solidFill>
                  <a:schemeClr val="tx1"/>
                </a:solidFill>
              </a:rPr>
              <a:t>清晰的细节描述是行动指南。专业化是把步骤转化为</a:t>
            </a:r>
            <a:r>
              <a:rPr lang="zh-CN" altLang="en-US" sz="3200" b="1" dirty="0">
                <a:solidFill>
                  <a:srgbClr val="00B050"/>
                </a:solidFill>
              </a:rPr>
              <a:t>操作细节</a:t>
            </a:r>
            <a:r>
              <a:rPr lang="zh-CN" altLang="en-US" sz="3200" b="1" dirty="0">
                <a:solidFill>
                  <a:schemeClr val="tx1"/>
                </a:solidFill>
              </a:rPr>
              <a:t>。</a:t>
            </a:r>
            <a:endParaRPr lang="zh-CN" altLang="en-US" sz="3200" b="1" dirty="0">
              <a:solidFill>
                <a:schemeClr val="tx1"/>
              </a:solidFill>
            </a:endParaRPr>
          </a:p>
          <a:p>
            <a:pPr marL="0" indent="457200" algn="l" fontAlgn="auto">
              <a:lnSpc>
                <a:spcPct val="150000"/>
              </a:lnSpc>
              <a:buNone/>
            </a:pPr>
            <a:r>
              <a:rPr lang="zh-CN" altLang="en-US" sz="3200" b="1" dirty="0">
                <a:solidFill>
                  <a:srgbClr val="7030A0"/>
                </a:solidFill>
              </a:rPr>
              <a:t>准则三，标准化</a:t>
            </a:r>
            <a:endParaRPr lang="zh-CN" altLang="en-US" sz="3200" b="1" dirty="0">
              <a:solidFill>
                <a:srgbClr val="7030A0"/>
              </a:solidFill>
            </a:endParaRPr>
          </a:p>
          <a:p>
            <a:pPr marL="0" indent="457200" algn="l" fontAlgn="auto">
              <a:lnSpc>
                <a:spcPct val="150000"/>
              </a:lnSpc>
              <a:buNone/>
            </a:pPr>
            <a:r>
              <a:rPr lang="zh-CN" altLang="en-US" sz="3200" b="1" dirty="0">
                <a:solidFill>
                  <a:schemeClr val="tx1"/>
                </a:solidFill>
              </a:rPr>
              <a:t>标准化的关键在于</a:t>
            </a:r>
            <a:r>
              <a:rPr lang="zh-CN" altLang="en-US" sz="3200" b="1" dirty="0">
                <a:solidFill>
                  <a:srgbClr val="FF0000"/>
                </a:solidFill>
              </a:rPr>
              <a:t>规避模糊化</a:t>
            </a:r>
            <a:r>
              <a:rPr lang="zh-CN" altLang="en-US" sz="3200" b="1" dirty="0">
                <a:solidFill>
                  <a:schemeClr val="tx1"/>
                </a:solidFill>
              </a:rPr>
              <a:t>，</a:t>
            </a:r>
            <a:r>
              <a:rPr lang="zh-CN" altLang="en-US" sz="3200" b="1" dirty="0">
                <a:solidFill>
                  <a:schemeClr val="tx1"/>
                </a:solidFill>
              </a:rPr>
              <a:t>标准化是运用可衡量的精确描述实现</a:t>
            </a:r>
            <a:r>
              <a:rPr lang="zh-CN" altLang="en-US" sz="3200" b="1" dirty="0">
                <a:solidFill>
                  <a:srgbClr val="00B050"/>
                </a:solidFill>
              </a:rPr>
              <a:t>量化或行为化</a:t>
            </a:r>
            <a:r>
              <a:rPr lang="zh-CN" altLang="en-US" sz="3200" b="1" dirty="0">
                <a:solidFill>
                  <a:schemeClr val="tx1"/>
                </a:solidFill>
              </a:rPr>
              <a:t>。</a:t>
            </a:r>
            <a:endParaRPr lang="zh-CN" altLang="en-US" sz="32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835" y="563245"/>
            <a:ext cx="10695940" cy="6041390"/>
          </a:xfrm>
        </p:spPr>
        <p:txBody>
          <a:bodyPr>
            <a:noAutofit/>
          </a:bodyPr>
          <a:lstStyle/>
          <a:p>
            <a:pPr marL="0" indent="457200" algn="l" fontAlgn="auto">
              <a:lnSpc>
                <a:spcPct val="150000"/>
              </a:lnSpc>
              <a:buNone/>
            </a:pPr>
            <a:r>
              <a:rPr lang="zh-CN" altLang="en-US" sz="3200" b="1" dirty="0">
                <a:solidFill>
                  <a:srgbClr val="7030A0"/>
                </a:solidFill>
              </a:rPr>
              <a:t>精华萃取包括两个方面：</a:t>
            </a:r>
            <a:endParaRPr lang="zh-CN" altLang="en-US" sz="3200" b="1" dirty="0">
              <a:solidFill>
                <a:srgbClr val="7030A0"/>
              </a:solidFill>
            </a:endParaRPr>
          </a:p>
          <a:p>
            <a:pPr marL="0" indent="457200" algn="l" fontAlgn="auto">
              <a:lnSpc>
                <a:spcPct val="150000"/>
              </a:lnSpc>
              <a:buNone/>
            </a:pPr>
            <a:r>
              <a:rPr lang="zh-CN" altLang="en-US" sz="3200" b="1" dirty="0">
                <a:solidFill>
                  <a:schemeClr val="tx1"/>
                </a:solidFill>
              </a:rPr>
              <a:t>内萃外取</a:t>
            </a:r>
            <a:r>
              <a:rPr lang="en-US" altLang="zh-CN" sz="3200" b="1" dirty="0">
                <a:solidFill>
                  <a:schemeClr val="tx1"/>
                </a:solidFill>
              </a:rPr>
              <a:t>！</a:t>
            </a:r>
            <a:endParaRPr lang="en-US" altLang="zh-CN" sz="3200" b="1" dirty="0">
              <a:solidFill>
                <a:schemeClr val="tx1"/>
              </a:solidFill>
            </a:endParaRPr>
          </a:p>
          <a:p>
            <a:pPr marL="0" indent="457200" algn="l" fontAlgn="auto">
              <a:lnSpc>
                <a:spcPct val="150000"/>
              </a:lnSpc>
              <a:buNone/>
            </a:pPr>
            <a:r>
              <a:rPr lang="zh-CN" altLang="en-US" sz="3200" b="1" dirty="0">
                <a:solidFill>
                  <a:schemeClr val="tx1"/>
                </a:solidFill>
              </a:rPr>
              <a:t>内萃</a:t>
            </a:r>
            <a:r>
              <a:rPr lang="en-US" altLang="zh-CN" sz="3200" b="1" dirty="0">
                <a:solidFill>
                  <a:schemeClr val="tx1"/>
                </a:solidFill>
              </a:rPr>
              <a:t>——</a:t>
            </a:r>
            <a:r>
              <a:rPr lang="zh-CN" altLang="en-US" sz="3200" b="1" dirty="0">
                <a:solidFill>
                  <a:schemeClr val="tx1"/>
                </a:solidFill>
              </a:rPr>
              <a:t>在内部总结传承；外取</a:t>
            </a:r>
            <a:r>
              <a:rPr lang="en-US" altLang="zh-CN" sz="3200" b="1" dirty="0">
                <a:solidFill>
                  <a:schemeClr val="tx1"/>
                </a:solidFill>
              </a:rPr>
              <a:t>——</a:t>
            </a:r>
            <a:r>
              <a:rPr lang="zh-CN" altLang="en-US" sz="3200" b="1" dirty="0">
                <a:solidFill>
                  <a:schemeClr val="tx1"/>
                </a:solidFill>
              </a:rPr>
              <a:t>从外部吸收转化。</a:t>
            </a:r>
            <a:endParaRPr lang="zh-CN" altLang="en-US" sz="3200" b="1" dirty="0">
              <a:solidFill>
                <a:schemeClr val="tx1"/>
              </a:solidFill>
            </a:endParaRPr>
          </a:p>
          <a:p>
            <a:pPr marL="0" indent="457200" algn="l" fontAlgn="auto">
              <a:lnSpc>
                <a:spcPct val="150000"/>
              </a:lnSpc>
              <a:buNone/>
            </a:pPr>
            <a:r>
              <a:rPr lang="zh-CN" altLang="en-US" sz="3200" b="1" dirty="0">
                <a:solidFill>
                  <a:schemeClr val="tx1"/>
                </a:solidFill>
              </a:rPr>
              <a:t>精华萃取的本质：</a:t>
            </a:r>
            <a:r>
              <a:rPr lang="zh-CN" altLang="en-US" sz="3200" b="1" dirty="0">
                <a:solidFill>
                  <a:srgbClr val="FF0000"/>
                </a:solidFill>
              </a:rPr>
              <a:t>隐形经验显性化</a:t>
            </a:r>
            <a:endParaRPr lang="zh-CN" altLang="en-US" sz="3200" b="1" dirty="0">
              <a:solidFill>
                <a:srgbClr val="FF0000"/>
              </a:solidFill>
            </a:endParaRPr>
          </a:p>
          <a:p>
            <a:pPr marL="0" indent="457200" algn="l" fontAlgn="auto">
              <a:lnSpc>
                <a:spcPct val="150000"/>
              </a:lnSpc>
              <a:buNone/>
            </a:pPr>
            <a:r>
              <a:rPr lang="zh-CN" altLang="en-US" sz="3200" b="1" dirty="0">
                <a:solidFill>
                  <a:schemeClr val="tx1"/>
                </a:solidFill>
              </a:rPr>
              <a:t>将大量存在于个体头脑中隐性的、不能测量的、碎片化的认知，通过提炼转变成能验证、能复制、严谨记录后可以为大众所传播的结构化知识。</a:t>
            </a:r>
            <a:endParaRPr lang="zh-CN" altLang="en-US" sz="32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35280" y="562610"/>
            <a:ext cx="11520805" cy="6041390"/>
          </a:xfrm>
        </p:spPr>
        <p:txBody>
          <a:bodyPr>
            <a:noAutofit/>
          </a:bodyPr>
          <a:lstStyle/>
          <a:p>
            <a:pPr marL="0" indent="457200" algn="l" fontAlgn="auto">
              <a:lnSpc>
                <a:spcPct val="150000"/>
              </a:lnSpc>
              <a:buNone/>
            </a:pPr>
            <a:r>
              <a:rPr lang="zh-CN" altLang="en-US" sz="2800" b="1" dirty="0">
                <a:solidFill>
                  <a:srgbClr val="7030A0"/>
                </a:solidFill>
              </a:rPr>
              <a:t>精华萃取的价值：</a:t>
            </a:r>
            <a:endParaRPr lang="zh-CN" altLang="en-US" sz="2800" b="1" dirty="0">
              <a:solidFill>
                <a:srgbClr val="7030A0"/>
              </a:solidFill>
            </a:endParaRPr>
          </a:p>
          <a:p>
            <a:pPr marL="0" indent="457200" algn="l" fontAlgn="auto">
              <a:lnSpc>
                <a:spcPct val="150000"/>
              </a:lnSpc>
              <a:buNone/>
            </a:pPr>
            <a:r>
              <a:rPr lang="en-US" altLang="en-US" sz="2800" b="1" dirty="0">
                <a:solidFill>
                  <a:schemeClr val="tx1"/>
                </a:solidFill>
              </a:rPr>
              <a:t>①</a:t>
            </a:r>
            <a:r>
              <a:rPr lang="zh-CN" altLang="en-US" sz="2800" b="1" dirty="0">
                <a:solidFill>
                  <a:schemeClr val="tx1"/>
                </a:solidFill>
              </a:rPr>
              <a:t>避免知识资产流失</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人可以走，经验留下，将员工个人智慧当作组织的知识资产去管理。</a:t>
            </a:r>
            <a:endParaRPr lang="zh-CN" altLang="en-US" sz="2800" b="1" dirty="0">
              <a:solidFill>
                <a:schemeClr val="tx1"/>
              </a:solidFill>
            </a:endParaRPr>
          </a:p>
          <a:p>
            <a:pPr marL="0" indent="457200" algn="l" fontAlgn="auto">
              <a:lnSpc>
                <a:spcPct val="150000"/>
              </a:lnSpc>
              <a:buNone/>
            </a:pPr>
            <a:r>
              <a:rPr lang="en-US" altLang="en-US" sz="2800" b="1" dirty="0">
                <a:solidFill>
                  <a:schemeClr val="tx1"/>
                </a:solidFill>
              </a:rPr>
              <a:t>②</a:t>
            </a:r>
            <a:r>
              <a:rPr lang="zh-CN" altLang="en-US" sz="2800" b="1" dirty="0">
                <a:solidFill>
                  <a:schemeClr val="tx1"/>
                </a:solidFill>
              </a:rPr>
              <a:t>降低组织试错成本</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组织最大的成本是重复犯错的成本，通过经验梳理避免员工重复犯错。</a:t>
            </a:r>
            <a:endParaRPr lang="zh-CN" altLang="en-US" sz="2800" b="1" dirty="0">
              <a:solidFill>
                <a:schemeClr val="tx1"/>
              </a:solidFill>
            </a:endParaRPr>
          </a:p>
          <a:p>
            <a:pPr marL="0" indent="457200" algn="l" fontAlgn="auto">
              <a:lnSpc>
                <a:spcPct val="150000"/>
              </a:lnSpc>
              <a:buNone/>
            </a:pPr>
            <a:r>
              <a:rPr lang="en-US" altLang="en-US" sz="2800" b="1" dirty="0">
                <a:sym typeface="+mn-ea"/>
              </a:rPr>
              <a:t>③</a:t>
            </a:r>
            <a:r>
              <a:rPr lang="zh-CN" altLang="en-US" sz="2800" b="1" dirty="0">
                <a:sym typeface="+mn-ea"/>
              </a:rPr>
              <a:t>优化工作执行标准</a:t>
            </a:r>
            <a:endParaRPr lang="zh-CN" altLang="en-US" sz="2800" b="1" dirty="0">
              <a:solidFill>
                <a:schemeClr val="tx1"/>
              </a:solidFill>
            </a:endParaRPr>
          </a:p>
          <a:p>
            <a:pPr marL="0" indent="457200" algn="l" fontAlgn="auto">
              <a:lnSpc>
                <a:spcPct val="150000"/>
              </a:lnSpc>
              <a:buNone/>
            </a:pPr>
            <a:r>
              <a:rPr lang="zh-CN" altLang="en-US" sz="2800" b="1" dirty="0">
                <a:sym typeface="+mn-ea"/>
              </a:rPr>
              <a:t>一线打仗的人最有资格研究怎么打仗，从下至上优化标准，推动管理改善。</a:t>
            </a:r>
            <a:endParaRPr lang="zh-CN" altLang="en-US" sz="2800" b="1" dirty="0">
              <a:solidFill>
                <a:schemeClr val="tx1"/>
              </a:solidFill>
            </a:endParaRPr>
          </a:p>
          <a:p>
            <a:pPr marL="0" indent="457200" algn="l" fontAlgn="auto">
              <a:lnSpc>
                <a:spcPct val="150000"/>
              </a:lnSpc>
              <a:buNone/>
            </a:pP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57860" y="639445"/>
            <a:ext cx="10695940" cy="6041390"/>
          </a:xfrm>
        </p:spPr>
        <p:txBody>
          <a:bodyPr>
            <a:noAutofit/>
          </a:bodyPr>
          <a:lstStyle/>
          <a:p>
            <a:pPr marL="0" indent="457200" algn="l" fontAlgn="auto">
              <a:lnSpc>
                <a:spcPct val="150000"/>
              </a:lnSpc>
              <a:buNone/>
            </a:pPr>
            <a:r>
              <a:rPr lang="en-US" altLang="en-US" sz="2800" b="1" dirty="0">
                <a:solidFill>
                  <a:schemeClr val="tx1"/>
                </a:solidFill>
              </a:rPr>
              <a:t>④</a:t>
            </a:r>
            <a:r>
              <a:rPr lang="zh-CN" altLang="en-US" sz="2800" b="1" dirty="0">
                <a:solidFill>
                  <a:schemeClr val="tx1"/>
                </a:solidFill>
              </a:rPr>
              <a:t>培养专业师资队伍</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培训需要</a:t>
            </a:r>
            <a:r>
              <a:rPr lang="en-US" altLang="zh-CN" sz="2800" b="1" dirty="0">
                <a:solidFill>
                  <a:schemeClr val="tx1"/>
                </a:solidFill>
              </a:rPr>
              <a:t>"</a:t>
            </a:r>
            <a:r>
              <a:rPr lang="zh-CN" altLang="en-US" sz="2800" b="1" dirty="0">
                <a:solidFill>
                  <a:schemeClr val="tx1"/>
                </a:solidFill>
              </a:rPr>
              <a:t>内外结合，软硬兼施</a:t>
            </a:r>
            <a:r>
              <a:rPr lang="en-US" altLang="zh-CN" sz="2800" b="1" dirty="0">
                <a:solidFill>
                  <a:schemeClr val="tx1"/>
                </a:solidFill>
              </a:rPr>
              <a:t>"</a:t>
            </a:r>
            <a:r>
              <a:rPr lang="zh-CN" altLang="en-US" sz="2800" b="1" dirty="0">
                <a:solidFill>
                  <a:schemeClr val="tx1"/>
                </a:solidFill>
              </a:rPr>
              <a:t>，</a:t>
            </a:r>
            <a:r>
              <a:rPr lang="zh-CN" altLang="en-US" sz="2800" b="1" dirty="0">
                <a:solidFill>
                  <a:schemeClr val="tx1"/>
                </a:solidFill>
              </a:rPr>
              <a:t>但最终需要的是强有力的内部培训力量。</a:t>
            </a:r>
            <a:endParaRPr lang="zh-CN" altLang="en-US" sz="2800" b="1" dirty="0">
              <a:solidFill>
                <a:schemeClr val="tx1"/>
              </a:solidFill>
            </a:endParaRPr>
          </a:p>
          <a:p>
            <a:pPr marL="0" indent="457200" algn="l" fontAlgn="auto">
              <a:lnSpc>
                <a:spcPct val="150000"/>
              </a:lnSpc>
              <a:buNone/>
            </a:pPr>
            <a:r>
              <a:rPr lang="en-US" altLang="en-US" sz="2800" b="1" dirty="0">
                <a:sym typeface="+mn-ea"/>
              </a:rPr>
              <a:t>⑤</a:t>
            </a:r>
            <a:r>
              <a:rPr lang="zh-CN" altLang="en-US" sz="2800" b="1" dirty="0">
                <a:sym typeface="+mn-ea"/>
              </a:rPr>
              <a:t>构建内部学习文化</a:t>
            </a:r>
            <a:endParaRPr lang="zh-CN" altLang="en-US" sz="2800" b="1" dirty="0">
              <a:solidFill>
                <a:schemeClr val="tx1"/>
              </a:solidFill>
            </a:endParaRPr>
          </a:p>
          <a:p>
            <a:pPr marL="0" indent="457200" algn="l" fontAlgn="auto">
              <a:lnSpc>
                <a:spcPct val="150000"/>
              </a:lnSpc>
              <a:buNone/>
            </a:pPr>
            <a:r>
              <a:rPr lang="zh-CN" altLang="en-US" sz="2800" b="1" dirty="0">
                <a:sym typeface="+mn-ea"/>
              </a:rPr>
              <a:t>每个人都在教，每个人都在学，人人皆需为师，人人皆能为师。</a:t>
            </a:r>
            <a:endParaRPr lang="zh-CN" altLang="en-US" sz="2800" b="1" dirty="0">
              <a:solidFill>
                <a:schemeClr val="tx1"/>
              </a:solidFill>
            </a:endParaRPr>
          </a:p>
          <a:p>
            <a:pPr marL="0" indent="457200" algn="l" fontAlgn="auto">
              <a:lnSpc>
                <a:spcPct val="150000"/>
              </a:lnSpc>
              <a:buNone/>
            </a:pPr>
            <a:r>
              <a:rPr lang="en-US" altLang="en-US" sz="2800" b="1" dirty="0">
                <a:sym typeface="+mn-ea"/>
              </a:rPr>
              <a:t>⑥</a:t>
            </a:r>
            <a:r>
              <a:rPr lang="zh-CN" altLang="en-US" sz="2800" b="1" dirty="0">
                <a:sym typeface="+mn-ea"/>
              </a:rPr>
              <a:t>打造人才培养体系</a:t>
            </a:r>
            <a:endParaRPr lang="zh-CN" altLang="en-US" sz="2800" b="1" dirty="0">
              <a:solidFill>
                <a:schemeClr val="tx1"/>
              </a:solidFill>
            </a:endParaRPr>
          </a:p>
          <a:p>
            <a:pPr marL="0" indent="457200" algn="l" fontAlgn="auto">
              <a:lnSpc>
                <a:spcPct val="150000"/>
              </a:lnSpc>
              <a:buNone/>
            </a:pPr>
            <a:r>
              <a:rPr lang="zh-CN" altLang="en-US" sz="2800" b="1" dirty="0">
                <a:sym typeface="+mn-ea"/>
              </a:rPr>
              <a:t>为企业创造价值最高的方式是培养人才，解决人才培养体系的关键难题。</a:t>
            </a:r>
            <a:endParaRPr lang="zh-CN" altLang="en-US" sz="2800" b="1" dirty="0">
              <a:solidFill>
                <a:schemeClr val="tx1"/>
              </a:solidFill>
            </a:endParaRPr>
          </a:p>
          <a:p>
            <a:pPr marL="0" indent="457200" algn="l" fontAlgn="auto">
              <a:lnSpc>
                <a:spcPct val="150000"/>
              </a:lnSpc>
              <a:buNone/>
            </a:pP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64235" y="459740"/>
            <a:ext cx="10695940" cy="5602605"/>
          </a:xfrm>
        </p:spPr>
        <p:txBody>
          <a:bodyPr>
            <a:noAutofit/>
          </a:bodyPr>
          <a:lstStyle/>
          <a:p>
            <a:pPr marL="0" indent="457200" algn="l" fontAlgn="auto">
              <a:lnSpc>
                <a:spcPct val="150000"/>
              </a:lnSpc>
              <a:buNone/>
            </a:pPr>
            <a:r>
              <a:rPr lang="zh-CN" altLang="en-US" sz="2800" b="1" dirty="0">
                <a:solidFill>
                  <a:srgbClr val="00B050"/>
                </a:solidFill>
              </a:rPr>
              <a:t>经常会听到以下声音</a:t>
            </a:r>
            <a:endParaRPr lang="zh-CN" altLang="en-US" sz="2800" b="1" dirty="0">
              <a:solidFill>
                <a:srgbClr val="00B050"/>
              </a:solidFill>
            </a:endParaRPr>
          </a:p>
          <a:p>
            <a:pPr marL="0" indent="457200" algn="l" fontAlgn="auto">
              <a:lnSpc>
                <a:spcPct val="150000"/>
              </a:lnSpc>
              <a:buNone/>
            </a:pPr>
            <a:r>
              <a:rPr lang="en-US" altLang="zh-CN" sz="2800" b="1" dirty="0">
                <a:solidFill>
                  <a:schemeClr val="tx1"/>
                </a:solidFill>
              </a:rPr>
              <a:t>&gt; </a:t>
            </a:r>
            <a:r>
              <a:rPr lang="zh-CN" altLang="en-US" sz="2800" b="1" dirty="0">
                <a:solidFill>
                  <a:schemeClr val="tx1"/>
                </a:solidFill>
              </a:rPr>
              <a:t>流程就是官僚；</a:t>
            </a:r>
            <a:endParaRPr lang="zh-CN" altLang="en-US" sz="2800" b="1" dirty="0">
              <a:solidFill>
                <a:schemeClr val="tx1"/>
              </a:solidFill>
            </a:endParaRPr>
          </a:p>
          <a:p>
            <a:pPr marL="0" indent="457200" algn="l" fontAlgn="auto">
              <a:lnSpc>
                <a:spcPct val="150000"/>
              </a:lnSpc>
              <a:buNone/>
            </a:pPr>
            <a:r>
              <a:rPr lang="en-US" altLang="zh-CN" sz="2800" b="1" dirty="0">
                <a:solidFill>
                  <a:schemeClr val="tx1"/>
                </a:solidFill>
              </a:rPr>
              <a:t>&gt; </a:t>
            </a:r>
            <a:r>
              <a:rPr lang="zh-CN" altLang="en-US" sz="2800" b="1" dirty="0">
                <a:solidFill>
                  <a:schemeClr val="tx1"/>
                </a:solidFill>
              </a:rPr>
              <a:t>流程就是负担；</a:t>
            </a:r>
            <a:endParaRPr lang="zh-CN" altLang="en-US" sz="2800" b="1" dirty="0">
              <a:solidFill>
                <a:schemeClr val="tx1"/>
              </a:solidFill>
            </a:endParaRPr>
          </a:p>
          <a:p>
            <a:pPr marL="0" indent="457200" algn="l" fontAlgn="auto">
              <a:lnSpc>
                <a:spcPct val="150000"/>
              </a:lnSpc>
              <a:buNone/>
            </a:pPr>
            <a:r>
              <a:rPr lang="en-US" altLang="zh-CN" sz="2800" b="1" dirty="0">
                <a:solidFill>
                  <a:schemeClr val="tx1"/>
                </a:solidFill>
              </a:rPr>
              <a:t>&gt; </a:t>
            </a:r>
            <a:r>
              <a:rPr lang="zh-CN" altLang="en-US" sz="2800" b="1" dirty="0">
                <a:solidFill>
                  <a:schemeClr val="tx1"/>
                </a:solidFill>
              </a:rPr>
              <a:t>流程就是画图：</a:t>
            </a:r>
            <a:endParaRPr lang="zh-CN" altLang="en-US" sz="2800" b="1" dirty="0">
              <a:solidFill>
                <a:schemeClr val="tx1"/>
              </a:solidFill>
            </a:endParaRPr>
          </a:p>
          <a:p>
            <a:pPr marL="0" indent="457200" algn="l" fontAlgn="auto">
              <a:lnSpc>
                <a:spcPct val="150000"/>
              </a:lnSpc>
              <a:buNone/>
            </a:pPr>
            <a:r>
              <a:rPr lang="en-US" altLang="zh-CN" sz="2800" b="1" dirty="0">
                <a:solidFill>
                  <a:schemeClr val="tx1"/>
                </a:solidFill>
              </a:rPr>
              <a:t>&gt; </a:t>
            </a:r>
            <a:r>
              <a:rPr lang="zh-CN" altLang="en-US" sz="2800" b="1" dirty="0">
                <a:solidFill>
                  <a:schemeClr val="tx1"/>
                </a:solidFill>
              </a:rPr>
              <a:t>流程就是捣蛋；</a:t>
            </a:r>
            <a:endParaRPr lang="zh-CN" altLang="en-US" sz="2800" b="1" dirty="0">
              <a:solidFill>
                <a:schemeClr val="tx1"/>
              </a:solidFill>
            </a:endParaRPr>
          </a:p>
          <a:p>
            <a:pPr marL="0" indent="457200" algn="l" fontAlgn="auto">
              <a:lnSpc>
                <a:spcPct val="150000"/>
              </a:lnSpc>
              <a:buNone/>
            </a:pPr>
            <a:r>
              <a:rPr lang="en-US" altLang="zh-CN" sz="2800" b="1" dirty="0">
                <a:solidFill>
                  <a:schemeClr val="tx1"/>
                </a:solidFill>
              </a:rPr>
              <a:t>&gt; </a:t>
            </a:r>
            <a:r>
              <a:rPr lang="zh-CN" altLang="en-US" sz="2800" b="1" dirty="0">
                <a:solidFill>
                  <a:schemeClr val="tx1"/>
                </a:solidFill>
              </a:rPr>
              <a:t>流程就是摆设：</a:t>
            </a:r>
            <a:endParaRPr lang="zh-CN" altLang="en-US" sz="2800" b="1" dirty="0">
              <a:solidFill>
                <a:schemeClr val="tx1"/>
              </a:solidFill>
            </a:endParaRPr>
          </a:p>
          <a:p>
            <a:pPr marL="0" indent="457200" algn="l" fontAlgn="auto">
              <a:lnSpc>
                <a:spcPct val="150000"/>
              </a:lnSpc>
              <a:buNone/>
            </a:pPr>
            <a:r>
              <a:rPr lang="en-US" altLang="zh-CN" sz="2800" b="1" dirty="0">
                <a:solidFill>
                  <a:schemeClr val="tx1"/>
                </a:solidFill>
              </a:rPr>
              <a:t>&gt; </a:t>
            </a:r>
            <a:r>
              <a:rPr lang="zh-CN" altLang="en-US" sz="2800" b="1" dirty="0">
                <a:solidFill>
                  <a:schemeClr val="tx1"/>
                </a:solidFill>
              </a:rPr>
              <a:t>流程就是照搬。</a:t>
            </a: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64235" y="459740"/>
            <a:ext cx="10695940" cy="5602605"/>
          </a:xfrm>
        </p:spPr>
        <p:txBody>
          <a:bodyPr>
            <a:noAutofit/>
          </a:bodyPr>
          <a:lstStyle/>
          <a:p>
            <a:pPr marL="0" indent="457200" algn="l" fontAlgn="auto">
              <a:lnSpc>
                <a:spcPct val="150000"/>
              </a:lnSpc>
              <a:buNone/>
            </a:pPr>
            <a:r>
              <a:rPr lang="zh-CN" altLang="en-US" sz="2800" b="1" dirty="0">
                <a:solidFill>
                  <a:srgbClr val="7030A0"/>
                </a:solidFill>
                <a:sym typeface="+mn-ea"/>
              </a:rPr>
              <a:t>开展理念培训</a:t>
            </a:r>
            <a:r>
              <a:rPr lang="en-US" altLang="zh-CN" sz="2800" b="1" dirty="0">
                <a:solidFill>
                  <a:srgbClr val="7030A0"/>
                </a:solidFill>
                <a:sym typeface="+mn-ea"/>
              </a:rPr>
              <a:t> </a:t>
            </a:r>
            <a:endParaRPr lang="zh-CN" altLang="en-US" sz="2800" b="1" dirty="0">
              <a:solidFill>
                <a:srgbClr val="7030A0"/>
              </a:solidFill>
            </a:endParaRPr>
          </a:p>
          <a:p>
            <a:pPr marL="0" indent="457200" algn="l" fontAlgn="auto">
              <a:lnSpc>
                <a:spcPct val="150000"/>
              </a:lnSpc>
              <a:buClrTx/>
              <a:buSzTx/>
              <a:buNone/>
            </a:pPr>
            <a:r>
              <a:rPr lang="zh-CN" altLang="en-US" sz="2800" b="1" dirty="0">
                <a:solidFill>
                  <a:schemeClr val="tx1"/>
                </a:solidFill>
              </a:rPr>
              <a:t>设计流程不可避免地会涉及组织的改变、权利的更迭、习惯的调整、既得利益的打破、人事安排的变更、理念的冲击、标准的制订等因素。因此流程体系建立过程中最大的拦路虎就是思想理念问题。</a:t>
            </a:r>
            <a:endParaRPr lang="zh-CN" altLang="en-US" sz="2800" b="1" dirty="0">
              <a:solidFill>
                <a:schemeClr val="tx1"/>
              </a:solidFill>
            </a:endParaRPr>
          </a:p>
          <a:p>
            <a:pPr marL="0" indent="457200" algn="l" fontAlgn="auto">
              <a:lnSpc>
                <a:spcPct val="150000"/>
              </a:lnSpc>
              <a:buClrTx/>
              <a:buSzTx/>
              <a:buNone/>
            </a:pPr>
            <a:r>
              <a:rPr lang="zh-CN" altLang="en-US" sz="2800" b="1" dirty="0">
                <a:sym typeface="+mn-ea"/>
              </a:rPr>
              <a:t>企业流程思想的建立与否，大家对流程管理的概念以及对流程建立或优化的认识是否统一，是流程建立的关键。统一思想，是一件强大的武器，这点毋庸置疑。</a:t>
            </a:r>
            <a:endParaRPr lang="zh-CN" altLang="en-US" sz="2800" b="1" dirty="0">
              <a:solidFill>
                <a:schemeClr val="tx1"/>
              </a:solidFill>
            </a:endParaRPr>
          </a:p>
          <a:p>
            <a:pPr marL="0" indent="457200" algn="l" fontAlgn="auto">
              <a:lnSpc>
                <a:spcPct val="150000"/>
              </a:lnSpc>
              <a:buClrTx/>
              <a:buSzTx/>
              <a:buNone/>
            </a:pPr>
            <a:endParaRPr lang="zh-CN" altLang="en-US" sz="2800" b="1" dirty="0">
              <a:solidFill>
                <a:schemeClr val="tx1"/>
              </a:solidFill>
            </a:endParaRPr>
          </a:p>
          <a:p>
            <a:pPr marL="0" indent="457200" algn="l" fontAlgn="auto">
              <a:lnSpc>
                <a:spcPct val="150000"/>
              </a:lnSpc>
              <a:buClrTx/>
              <a:buSzTx/>
              <a:buNone/>
            </a:pP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5475" y="696595"/>
            <a:ext cx="10994390" cy="5307965"/>
          </a:xfrm>
        </p:spPr>
        <p:txBody>
          <a:bodyPr>
            <a:noAutofit/>
          </a:bodyPr>
          <a:lstStyle/>
          <a:p>
            <a:pPr marL="0" indent="457200" algn="l" fontAlgn="auto">
              <a:lnSpc>
                <a:spcPct val="150000"/>
              </a:lnSpc>
              <a:buNone/>
            </a:pPr>
            <a:r>
              <a:rPr lang="zh-CN" altLang="en-US" sz="2800" b="1" dirty="0">
                <a:solidFill>
                  <a:srgbClr val="7030A0"/>
                </a:solidFill>
              </a:rPr>
              <a:t>制作流程的基本标准：</a:t>
            </a:r>
            <a:endParaRPr lang="zh-CN" altLang="en-US" sz="2800" b="1" dirty="0">
              <a:solidFill>
                <a:srgbClr val="7030A0"/>
              </a:solidFill>
            </a:endParaRPr>
          </a:p>
          <a:p>
            <a:pPr marL="0" indent="457200" algn="l" fontAlgn="auto">
              <a:lnSpc>
                <a:spcPct val="150000"/>
              </a:lnSpc>
              <a:buNone/>
            </a:pPr>
            <a:r>
              <a:rPr lang="zh-CN" altLang="en-US" sz="2800" b="1" dirty="0">
                <a:solidFill>
                  <a:srgbClr val="00B050"/>
                </a:solidFill>
              </a:rPr>
              <a:t>其一，设计标准</a:t>
            </a:r>
            <a:endParaRPr lang="zh-CN" altLang="en-US" sz="2800" b="1" dirty="0">
              <a:solidFill>
                <a:srgbClr val="00B050"/>
              </a:solidFill>
            </a:endParaRPr>
          </a:p>
          <a:p>
            <a:pPr marL="457200" indent="-457200" algn="l" fontAlgn="auto">
              <a:lnSpc>
                <a:spcPct val="150000"/>
              </a:lnSpc>
              <a:buFont typeface="Wingdings" panose="05000000000000000000" charset="0"/>
              <a:buChar char="Ø"/>
            </a:pPr>
            <a:r>
              <a:rPr lang="zh-CN" altLang="en-US" sz="2800" b="1" dirty="0">
                <a:solidFill>
                  <a:schemeClr val="tx1"/>
                </a:solidFill>
              </a:rPr>
              <a:t>内容准确清楚、顺畅自然</a:t>
            </a:r>
            <a:endParaRPr lang="zh-CN" altLang="en-US" sz="2800" b="1" dirty="0">
              <a:solidFill>
                <a:schemeClr val="tx1"/>
              </a:solidFill>
            </a:endParaRPr>
          </a:p>
          <a:p>
            <a:pPr marL="457200" lvl="1" indent="457200" algn="l" fontAlgn="auto">
              <a:lnSpc>
                <a:spcPct val="150000"/>
              </a:lnSpc>
              <a:buNone/>
            </a:pPr>
            <a:r>
              <a:rPr lang="zh-CN" altLang="en-US" sz="2800" b="1" dirty="0">
                <a:solidFill>
                  <a:schemeClr val="tx1"/>
                </a:solidFill>
              </a:rPr>
              <a:t>内容反映事物本来面目，要明确、清晰，让执行者明确该做什么</a:t>
            </a:r>
            <a:r>
              <a:rPr lang="en-US" altLang="zh-CN" sz="2800" b="1" dirty="0">
                <a:solidFill>
                  <a:schemeClr val="tx1"/>
                </a:solidFill>
              </a:rPr>
              <a:t>，</a:t>
            </a:r>
            <a:r>
              <a:rPr lang="zh-CN" altLang="en-US" sz="2800" b="1" dirty="0">
                <a:solidFill>
                  <a:schemeClr val="tx1"/>
                </a:solidFill>
              </a:rPr>
              <a:t>如何做，在什么时间完成什么任务；</a:t>
            </a:r>
            <a:endParaRPr lang="zh-CN" altLang="en-US" sz="2800" b="1" dirty="0">
              <a:solidFill>
                <a:schemeClr val="tx1"/>
              </a:solidFill>
            </a:endParaRPr>
          </a:p>
          <a:p>
            <a:pPr marL="457200" lvl="1" indent="457200" algn="l" fontAlgn="auto">
              <a:lnSpc>
                <a:spcPct val="150000"/>
              </a:lnSpc>
              <a:buNone/>
            </a:pPr>
            <a:r>
              <a:rPr lang="zh-CN" altLang="en-US" sz="2800" b="1" dirty="0">
                <a:solidFill>
                  <a:schemeClr val="tx1"/>
                </a:solidFill>
              </a:rPr>
              <a:t>揭示工作内在联系，反映工作衔接逻辑联系。</a:t>
            </a: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5475" y="897890"/>
            <a:ext cx="10168255" cy="5307965"/>
          </a:xfrm>
        </p:spPr>
        <p:txBody>
          <a:bodyPr>
            <a:noAutofit/>
          </a:bodyPr>
          <a:lstStyle/>
          <a:p>
            <a:pPr marL="457200" indent="-457200" algn="l" fontAlgn="auto">
              <a:lnSpc>
                <a:spcPct val="150000"/>
              </a:lnSpc>
              <a:buClrTx/>
              <a:buSzTx/>
              <a:buFont typeface="Wingdings" panose="05000000000000000000" charset="0"/>
              <a:buChar char="Ø"/>
            </a:pPr>
            <a:r>
              <a:rPr lang="zh-CN" altLang="en-US" sz="2800" b="1" dirty="0">
                <a:solidFill>
                  <a:schemeClr val="tx1"/>
                </a:solidFill>
              </a:rPr>
              <a:t>形式简洁美观、有的放矢</a:t>
            </a:r>
            <a:endParaRPr lang="zh-CN" altLang="en-US" sz="2800" b="1" dirty="0">
              <a:solidFill>
                <a:schemeClr val="tx1"/>
              </a:solidFill>
            </a:endParaRPr>
          </a:p>
          <a:p>
            <a:pPr marL="457200" lvl="1" indent="457200" algn="l" fontAlgn="auto">
              <a:lnSpc>
                <a:spcPct val="150000"/>
              </a:lnSpc>
              <a:buNone/>
            </a:pPr>
            <a:r>
              <a:rPr lang="zh-CN" altLang="en-US" sz="2800" b="1" dirty="0">
                <a:solidFill>
                  <a:schemeClr val="tx1"/>
                </a:solidFill>
              </a:rPr>
              <a:t>流程图一目了然，使用有效；</a:t>
            </a:r>
            <a:endParaRPr lang="zh-CN" altLang="en-US" sz="2800" b="1" dirty="0">
              <a:solidFill>
                <a:schemeClr val="tx1"/>
              </a:solidFill>
            </a:endParaRPr>
          </a:p>
          <a:p>
            <a:pPr marL="457200" lvl="1" indent="457200" algn="l" fontAlgn="auto">
              <a:lnSpc>
                <a:spcPct val="150000"/>
              </a:lnSpc>
              <a:buNone/>
            </a:pPr>
            <a:r>
              <a:rPr lang="zh-CN" altLang="en-US" sz="2800" b="1" dirty="0">
                <a:solidFill>
                  <a:schemeClr val="tx1"/>
                </a:solidFill>
              </a:rPr>
              <a:t>那些多余的流程，多余的环节，能省略就省略，该放弃的就放弃。</a:t>
            </a:r>
            <a:endParaRPr lang="zh-CN" altLang="en-US" sz="2800" b="1" dirty="0">
              <a:solidFill>
                <a:schemeClr val="tx1"/>
              </a:solidFill>
            </a:endParaRPr>
          </a:p>
          <a:p>
            <a:pPr marL="457200" indent="-457200" algn="l" fontAlgn="auto">
              <a:lnSpc>
                <a:spcPct val="150000"/>
              </a:lnSpc>
              <a:buClrTx/>
              <a:buSzTx/>
              <a:buFont typeface="Wingdings" panose="05000000000000000000" charset="0"/>
              <a:buChar char="Ø"/>
            </a:pPr>
            <a:r>
              <a:rPr lang="zh-CN" altLang="en-US" sz="2800" b="1" dirty="0">
                <a:solidFill>
                  <a:schemeClr val="tx1"/>
                </a:solidFill>
              </a:rPr>
              <a:t>内容与形式并重、相辅相成</a:t>
            </a:r>
            <a:endParaRPr lang="zh-CN" altLang="en-US" sz="2800" b="1" dirty="0">
              <a:solidFill>
                <a:schemeClr val="tx1"/>
              </a:solidFill>
            </a:endParaRPr>
          </a:p>
          <a:p>
            <a:pPr marL="457200" lvl="1" indent="457200" algn="l" fontAlgn="auto">
              <a:lnSpc>
                <a:spcPct val="150000"/>
              </a:lnSpc>
              <a:buNone/>
            </a:pPr>
            <a:r>
              <a:rPr lang="zh-CN" altLang="en-US" sz="2800" b="1" dirty="0">
                <a:solidFill>
                  <a:schemeClr val="tx1"/>
                </a:solidFill>
              </a:rPr>
              <a:t>内容决定形式，形式影响内容，两者相辅相成，相互影响。</a:t>
            </a: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41045" y="1253490"/>
            <a:ext cx="10994390" cy="4829810"/>
          </a:xfrm>
        </p:spPr>
        <p:txBody>
          <a:bodyPr>
            <a:noAutofit/>
          </a:bodyPr>
          <a:lstStyle/>
          <a:p>
            <a:pPr marL="0" indent="0" algn="l" fontAlgn="auto">
              <a:lnSpc>
                <a:spcPct val="150000"/>
              </a:lnSpc>
              <a:buClrTx/>
              <a:buSzTx/>
              <a:buFont typeface="Wingdings" panose="05000000000000000000" charset="0"/>
              <a:buNone/>
            </a:pPr>
            <a:r>
              <a:rPr lang="zh-CN" altLang="en-US" sz="2800" b="1" dirty="0">
                <a:solidFill>
                  <a:srgbClr val="00B050"/>
                </a:solidFill>
              </a:rPr>
              <a:t>其二，使用标准</a:t>
            </a:r>
            <a:endParaRPr lang="zh-CN" altLang="en-US" sz="2800" b="1" dirty="0">
              <a:solidFill>
                <a:srgbClr val="00B050"/>
              </a:solidFill>
            </a:endParaRPr>
          </a:p>
          <a:p>
            <a:pPr marL="457200" indent="-457200" algn="l" fontAlgn="auto">
              <a:lnSpc>
                <a:spcPct val="150000"/>
              </a:lnSpc>
              <a:buClrTx/>
              <a:buSzTx/>
              <a:buFont typeface="Wingdings" panose="05000000000000000000" charset="0"/>
              <a:buChar char="Ø"/>
            </a:pPr>
            <a:r>
              <a:rPr lang="zh-CN" altLang="en-US" sz="2800" b="1" dirty="0">
                <a:solidFill>
                  <a:schemeClr val="tx1"/>
                </a:solidFill>
              </a:rPr>
              <a:t>一目了然，掌握整体；</a:t>
            </a:r>
            <a:endParaRPr lang="zh-CN" altLang="en-US" sz="2800" b="1" dirty="0">
              <a:solidFill>
                <a:schemeClr val="tx1"/>
              </a:solidFill>
            </a:endParaRPr>
          </a:p>
          <a:p>
            <a:pPr marL="457200" indent="-457200" algn="l" fontAlgn="auto">
              <a:lnSpc>
                <a:spcPct val="150000"/>
              </a:lnSpc>
              <a:buClrTx/>
              <a:buSzTx/>
              <a:buFont typeface="Wingdings" panose="05000000000000000000" charset="0"/>
              <a:buChar char="Ø"/>
            </a:pPr>
            <a:r>
              <a:rPr lang="zh-CN" altLang="en-US" sz="2800" b="1" dirty="0">
                <a:solidFill>
                  <a:schemeClr val="tx1"/>
                </a:solidFill>
              </a:rPr>
              <a:t>按图索骥，容易上手；</a:t>
            </a:r>
            <a:endParaRPr lang="zh-CN" altLang="en-US" sz="2800" b="1" dirty="0">
              <a:solidFill>
                <a:schemeClr val="tx1"/>
              </a:solidFill>
            </a:endParaRPr>
          </a:p>
          <a:p>
            <a:pPr marL="457200" indent="-457200" algn="l" fontAlgn="auto">
              <a:lnSpc>
                <a:spcPct val="150000"/>
              </a:lnSpc>
              <a:buClrTx/>
              <a:buSzTx/>
              <a:buFont typeface="Wingdings" panose="05000000000000000000" charset="0"/>
              <a:buChar char="Ø"/>
            </a:pPr>
            <a:r>
              <a:rPr lang="zh-CN" altLang="en-US" sz="2800" b="1" dirty="0">
                <a:solidFill>
                  <a:schemeClr val="tx1"/>
                </a:solidFill>
              </a:rPr>
              <a:t>疏忽之处，适时调整或更正</a:t>
            </a:r>
            <a:r>
              <a:rPr lang="zh-CN" altLang="en-US" sz="3200" b="1" dirty="0">
                <a:solidFill>
                  <a:schemeClr val="tx1"/>
                </a:solidFill>
              </a:rPr>
              <a:t>。</a:t>
            </a:r>
            <a:endParaRPr lang="zh-CN" altLang="en-US" sz="32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9620" y="619125"/>
            <a:ext cx="10523855" cy="5307965"/>
          </a:xfrm>
        </p:spPr>
        <p:txBody>
          <a:bodyPr>
            <a:noAutofit/>
          </a:bodyPr>
          <a:lstStyle/>
          <a:p>
            <a:pPr marL="0" indent="457200" algn="l" fontAlgn="auto">
              <a:lnSpc>
                <a:spcPct val="150000"/>
              </a:lnSpc>
              <a:buNone/>
            </a:pPr>
            <a:r>
              <a:rPr lang="zh-CN" altLang="en-US" sz="2800" b="1" dirty="0">
                <a:solidFill>
                  <a:srgbClr val="7030A0"/>
                </a:solidFill>
              </a:rPr>
              <a:t>制作流程的基本导向：</a:t>
            </a:r>
            <a:endParaRPr lang="zh-CN" altLang="en-US" sz="2800" b="1" dirty="0">
              <a:solidFill>
                <a:srgbClr val="7030A0"/>
              </a:solidFill>
            </a:endParaRPr>
          </a:p>
          <a:p>
            <a:pPr marL="0" indent="457200" algn="l" fontAlgn="auto">
              <a:lnSpc>
                <a:spcPct val="150000"/>
              </a:lnSpc>
              <a:buNone/>
            </a:pPr>
            <a:r>
              <a:rPr lang="zh-CN" altLang="en-US" sz="2800" b="1" dirty="0">
                <a:solidFill>
                  <a:srgbClr val="00B050"/>
                </a:solidFill>
              </a:rPr>
              <a:t>其一，以结果为导向</a:t>
            </a:r>
            <a:r>
              <a:rPr lang="en-US" altLang="zh-CN" sz="2800" b="1" dirty="0">
                <a:solidFill>
                  <a:srgbClr val="00B050"/>
                </a:solidFill>
              </a:rPr>
              <a:t> </a:t>
            </a:r>
            <a:r>
              <a:rPr lang="en-US" altLang="zh-CN" sz="2800" b="1" dirty="0">
                <a:solidFill>
                  <a:srgbClr val="7030A0"/>
                </a:solidFill>
              </a:rPr>
              <a:t>                                </a:t>
            </a:r>
            <a:r>
              <a:rPr lang="en-US" altLang="zh-CN" sz="2800" b="1" dirty="0">
                <a:solidFill>
                  <a:schemeClr val="tx1"/>
                </a:solidFill>
              </a:rPr>
              <a:t> ——</a:t>
            </a:r>
            <a:r>
              <a:rPr lang="zh-CN" altLang="en-US" sz="2800" b="1" dirty="0">
                <a:solidFill>
                  <a:schemeClr val="tx1"/>
                </a:solidFill>
              </a:rPr>
              <a:t>注重结果</a:t>
            </a:r>
            <a:r>
              <a:rPr lang="en-US" altLang="zh-CN" sz="2800" b="1" dirty="0">
                <a:solidFill>
                  <a:schemeClr val="tx1"/>
                </a:solidFill>
              </a:rPr>
              <a:t>！</a:t>
            </a:r>
            <a:endParaRPr lang="en-US" altLang="zh-CN" sz="2800" b="1" dirty="0">
              <a:solidFill>
                <a:schemeClr val="tx1"/>
              </a:solidFill>
            </a:endParaRPr>
          </a:p>
          <a:p>
            <a:pPr marL="0" indent="457200" algn="l" fontAlgn="auto">
              <a:lnSpc>
                <a:spcPct val="150000"/>
              </a:lnSpc>
              <a:buNone/>
            </a:pPr>
            <a:r>
              <a:rPr lang="zh-CN" altLang="en-US" sz="2800" b="1" dirty="0">
                <a:solidFill>
                  <a:schemeClr val="tx1"/>
                </a:solidFill>
              </a:rPr>
              <a:t>所做的每一个动作、每一个步骤都要符合结果的要求，否则一切都将失去价值和意义。</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最终结果就是企业效益最大化，防止本末倒置</a:t>
            </a:r>
            <a:r>
              <a:rPr lang="en-US" altLang="zh-CN" sz="2800" b="1" dirty="0">
                <a:solidFill>
                  <a:schemeClr val="tx1"/>
                </a:solidFill>
              </a:rPr>
              <a:t>！</a:t>
            </a:r>
            <a:endParaRPr lang="en-US" altLang="zh-CN" sz="2800" b="1" dirty="0">
              <a:solidFill>
                <a:schemeClr val="tx1"/>
              </a:solidFill>
            </a:endParaRPr>
          </a:p>
          <a:p>
            <a:pPr marL="0" indent="457200" algn="l" fontAlgn="auto">
              <a:lnSpc>
                <a:spcPct val="150000"/>
              </a:lnSpc>
              <a:buNone/>
            </a:pPr>
            <a:r>
              <a:rPr lang="zh-CN" altLang="en-US" sz="2800" b="1" dirty="0">
                <a:solidFill>
                  <a:srgbClr val="00B050"/>
                </a:solidFill>
              </a:rPr>
              <a:t>其二，以过程为保障</a:t>
            </a:r>
            <a:r>
              <a:rPr lang="en-US" altLang="zh-CN" sz="2800" b="1" dirty="0">
                <a:solidFill>
                  <a:srgbClr val="00B050"/>
                </a:solidFill>
              </a:rPr>
              <a:t> </a:t>
            </a:r>
            <a:r>
              <a:rPr lang="en-US" altLang="zh-CN" sz="2800" b="1" dirty="0">
                <a:solidFill>
                  <a:schemeClr val="tx1"/>
                </a:solidFill>
              </a:rPr>
              <a:t>                                 ——</a:t>
            </a:r>
            <a:r>
              <a:rPr lang="zh-CN" altLang="en-US" sz="2800" b="1" dirty="0">
                <a:solidFill>
                  <a:schemeClr val="tx1"/>
                </a:solidFill>
              </a:rPr>
              <a:t>做好过程</a:t>
            </a:r>
            <a:r>
              <a:rPr lang="en-US" altLang="zh-CN" sz="2800" b="1" dirty="0">
                <a:solidFill>
                  <a:schemeClr val="tx1"/>
                </a:solidFill>
              </a:rPr>
              <a:t>！</a:t>
            </a:r>
            <a:endParaRPr lang="en-US" altLang="zh-CN" sz="2800" b="1" dirty="0">
              <a:solidFill>
                <a:schemeClr val="tx1"/>
              </a:solidFill>
            </a:endParaRPr>
          </a:p>
          <a:p>
            <a:pPr marL="0" indent="457200" algn="l" fontAlgn="auto">
              <a:lnSpc>
                <a:spcPct val="150000"/>
              </a:lnSpc>
              <a:buNone/>
            </a:pPr>
            <a:r>
              <a:rPr lang="zh-CN" altLang="en-US" sz="2800" b="1" dirty="0">
                <a:solidFill>
                  <a:schemeClr val="tx1"/>
                </a:solidFill>
              </a:rPr>
              <a:t>结果指导过程，只有时时以结果为指导才能做好过程；</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过程体现结果，只有做好过程才能实现最终结果。</a:t>
            </a: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32155" y="1139190"/>
            <a:ext cx="10728325" cy="4944110"/>
          </a:xfrm>
        </p:spPr>
        <p:txBody>
          <a:bodyPr>
            <a:noAutofit/>
          </a:bodyPr>
          <a:lstStyle/>
          <a:p>
            <a:pPr marL="0" indent="457200" algn="l" fontAlgn="auto">
              <a:lnSpc>
                <a:spcPct val="150000"/>
              </a:lnSpc>
              <a:buNone/>
            </a:pPr>
            <a:r>
              <a:rPr lang="zh-CN" altLang="en-US" sz="2800" b="1" dirty="0">
                <a:solidFill>
                  <a:schemeClr val="tx1"/>
                </a:solidFill>
              </a:rPr>
              <a:t>制作流程需要按照公司业务的分解，将流程划分为三个层级：</a:t>
            </a:r>
            <a:endParaRPr lang="zh-CN" altLang="en-US" sz="2800" b="1" dirty="0">
              <a:solidFill>
                <a:schemeClr val="tx1"/>
              </a:solidFill>
            </a:endParaRPr>
          </a:p>
          <a:p>
            <a:pPr marL="0" indent="457200" algn="l" fontAlgn="auto">
              <a:lnSpc>
                <a:spcPct val="150000"/>
              </a:lnSpc>
              <a:buNone/>
            </a:pPr>
            <a:r>
              <a:rPr lang="zh-CN" altLang="en-US" sz="2800" b="1" dirty="0">
                <a:solidFill>
                  <a:srgbClr val="00B050"/>
                </a:solidFill>
              </a:rPr>
              <a:t>一级流程：是指公司级流程。</a:t>
            </a:r>
            <a:endParaRPr lang="zh-CN" altLang="en-US" sz="2800" b="1" dirty="0">
              <a:solidFill>
                <a:srgbClr val="00B050"/>
              </a:solidFill>
            </a:endParaRPr>
          </a:p>
          <a:p>
            <a:pPr marL="0" indent="457200" algn="l" fontAlgn="auto">
              <a:lnSpc>
                <a:spcPct val="150000"/>
              </a:lnSpc>
              <a:buNone/>
            </a:pPr>
            <a:r>
              <a:rPr lang="zh-CN" altLang="en-US" sz="2800" b="1" dirty="0">
                <a:solidFill>
                  <a:schemeClr val="tx1"/>
                </a:solidFill>
              </a:rPr>
              <a:t>公司整体事务运行遵循一定的程序和标准而形成做事的流程，根据</a:t>
            </a:r>
            <a:r>
              <a:rPr lang="zh-CN" altLang="en-US" sz="2800" b="1" dirty="0">
                <a:solidFill>
                  <a:srgbClr val="FF0000"/>
                </a:solidFill>
              </a:rPr>
              <a:t>公司</a:t>
            </a:r>
            <a:r>
              <a:rPr lang="zh-CN" altLang="en-US" sz="2800" b="1" dirty="0">
                <a:solidFill>
                  <a:srgbClr val="00B050"/>
                </a:solidFill>
              </a:rPr>
              <a:t>顶层流程</a:t>
            </a:r>
            <a:r>
              <a:rPr lang="zh-CN" altLang="en-US" sz="2800" b="1" dirty="0">
                <a:solidFill>
                  <a:schemeClr val="tx1"/>
                </a:solidFill>
              </a:rPr>
              <a:t>环节的复杂程度可以把不同的业务节点划分为不同的职能部门。因此一级流程是跨部门流程。</a:t>
            </a: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5475" y="619125"/>
            <a:ext cx="10850880" cy="5307965"/>
          </a:xfrm>
        </p:spPr>
        <p:txBody>
          <a:bodyPr>
            <a:noAutofit/>
          </a:bodyPr>
          <a:lstStyle/>
          <a:p>
            <a:pPr marL="0" indent="457200" algn="l" fontAlgn="auto">
              <a:lnSpc>
                <a:spcPct val="150000"/>
              </a:lnSpc>
              <a:buNone/>
            </a:pPr>
            <a:r>
              <a:rPr lang="zh-CN" altLang="en-US" sz="2800" b="1" dirty="0">
                <a:solidFill>
                  <a:srgbClr val="00B050"/>
                </a:solidFill>
              </a:rPr>
              <a:t>二级流程：是指部门级流程。</a:t>
            </a:r>
            <a:endParaRPr lang="zh-CN" altLang="en-US" sz="2800" b="1" dirty="0">
              <a:solidFill>
                <a:srgbClr val="00B050"/>
              </a:solidFill>
            </a:endParaRPr>
          </a:p>
          <a:p>
            <a:pPr marL="0" indent="457200" algn="l" fontAlgn="auto">
              <a:lnSpc>
                <a:spcPct val="150000"/>
              </a:lnSpc>
              <a:buNone/>
            </a:pPr>
            <a:r>
              <a:rPr lang="zh-CN" altLang="en-US" sz="2800" b="1" dirty="0">
                <a:solidFill>
                  <a:schemeClr val="tx1"/>
                </a:solidFill>
              </a:rPr>
              <a:t>部门整体事务运行遵循一定的做事流程，根据</a:t>
            </a:r>
            <a:r>
              <a:rPr lang="zh-CN" altLang="en-US" sz="2800" b="1" dirty="0">
                <a:solidFill>
                  <a:srgbClr val="FF0000"/>
                </a:solidFill>
              </a:rPr>
              <a:t>部门</a:t>
            </a:r>
            <a:r>
              <a:rPr lang="zh-CN" altLang="en-US" sz="2800" b="1" dirty="0">
                <a:solidFill>
                  <a:srgbClr val="00B050"/>
                </a:solidFill>
              </a:rPr>
              <a:t>顶层流程</a:t>
            </a:r>
            <a:r>
              <a:rPr lang="zh-CN" altLang="en-US" sz="2800" b="1" dirty="0">
                <a:solidFill>
                  <a:schemeClr val="tx1"/>
                </a:solidFill>
              </a:rPr>
              <a:t>环节的复杂程度可以把不同的业务节点划分为不同的业务班组。因此二级流程是跨班组流程。</a:t>
            </a:r>
            <a:endParaRPr lang="zh-CN" altLang="en-US" sz="2800" b="1" dirty="0">
              <a:solidFill>
                <a:schemeClr val="tx1"/>
              </a:solidFill>
            </a:endParaRPr>
          </a:p>
          <a:p>
            <a:pPr marL="0" indent="457200" algn="l" fontAlgn="auto">
              <a:lnSpc>
                <a:spcPct val="150000"/>
              </a:lnSpc>
              <a:buNone/>
            </a:pPr>
            <a:r>
              <a:rPr lang="zh-CN" altLang="en-US" sz="2800" b="1" dirty="0">
                <a:solidFill>
                  <a:srgbClr val="00B050"/>
                </a:solidFill>
              </a:rPr>
              <a:t>三级流程：是指班组级流程。</a:t>
            </a:r>
            <a:endParaRPr lang="zh-CN" altLang="en-US" sz="2800" b="1" dirty="0">
              <a:solidFill>
                <a:srgbClr val="00B050"/>
              </a:solidFill>
            </a:endParaRPr>
          </a:p>
          <a:p>
            <a:pPr marL="0" indent="457200" algn="l" fontAlgn="auto">
              <a:lnSpc>
                <a:spcPct val="150000"/>
              </a:lnSpc>
              <a:buNone/>
            </a:pPr>
            <a:r>
              <a:rPr lang="zh-CN" altLang="en-US" sz="2800" b="1" dirty="0">
                <a:solidFill>
                  <a:schemeClr val="tx1"/>
                </a:solidFill>
              </a:rPr>
              <a:t>班组整体事务运行遵循一定的做事流程，根据</a:t>
            </a:r>
            <a:r>
              <a:rPr lang="zh-CN" altLang="en-US" sz="2800" b="1" dirty="0">
                <a:solidFill>
                  <a:srgbClr val="FF0000"/>
                </a:solidFill>
              </a:rPr>
              <a:t>班组</a:t>
            </a:r>
            <a:r>
              <a:rPr lang="zh-CN" altLang="en-US" sz="2800" b="1" dirty="0">
                <a:solidFill>
                  <a:srgbClr val="00B050"/>
                </a:solidFill>
              </a:rPr>
              <a:t>顶层流程</a:t>
            </a:r>
            <a:r>
              <a:rPr lang="zh-CN" altLang="en-US" sz="2800" b="1" dirty="0">
                <a:solidFill>
                  <a:schemeClr val="tx1"/>
                </a:solidFill>
              </a:rPr>
              <a:t>环节的复杂程度可以把不同的业务节点划分为不同的工作岗位。因此三级流程可能是跨岗位流程。</a:t>
            </a: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0077" y="152083"/>
            <a:ext cx="7707524" cy="1371600"/>
          </a:xfrm>
        </p:spPr>
        <p:txBody>
          <a:bodyPr>
            <a:normAutofit/>
          </a:bodyPr>
          <a:lstStyle/>
          <a:p>
            <a:pPr algn="l">
              <a:buClrTx/>
              <a:buSzTx/>
              <a:buFontTx/>
            </a:pPr>
            <a:r>
              <a:rPr lang="zh-CN" sz="3600" b="1" dirty="0" smtClean="0"/>
              <a:t>运行系统模块</a:t>
            </a:r>
            <a:endParaRPr lang="en-US" altLang="zh-CN" sz="3600" b="1" dirty="0" smtClean="0"/>
          </a:p>
        </p:txBody>
      </p:sp>
      <p:sp>
        <p:nvSpPr>
          <p:cNvPr id="16" name="灯片编号占位符 15"/>
          <p:cNvSpPr>
            <a:spLocks noGrp="1"/>
          </p:cNvSpPr>
          <p:nvPr>
            <p:ph type="sldNum" sz="quarter" idx="12"/>
            <p:custDataLst>
              <p:tags r:id="rId1"/>
            </p:custDataLst>
          </p:nvPr>
        </p:nvSpPr>
        <p:spPr/>
        <p:txBody>
          <a:bodyPr/>
          <a:p>
            <a:fld id="{F38DF745-7D3F-47F4-83A3-874385CFAA69}" type="slidenum">
              <a:rPr lang="en-US" smtClean="0"/>
            </a:fld>
            <a:endParaRPr lang="en-US"/>
          </a:p>
        </p:txBody>
      </p:sp>
      <p:graphicFrame>
        <p:nvGraphicFramePr>
          <p:cNvPr id="11" name="图示 10"/>
          <p:cNvGraphicFramePr/>
          <p:nvPr/>
        </p:nvGraphicFramePr>
        <p:xfrm>
          <a:off x="1142683" y="1600200"/>
          <a:ext cx="9606915" cy="4211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fad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5475" y="619125"/>
            <a:ext cx="10994390" cy="5307965"/>
          </a:xfrm>
        </p:spPr>
        <p:txBody>
          <a:bodyPr>
            <a:noAutofit/>
          </a:bodyPr>
          <a:lstStyle/>
          <a:p>
            <a:pPr marL="0" indent="457200" algn="l" fontAlgn="auto">
              <a:lnSpc>
                <a:spcPct val="150000"/>
              </a:lnSpc>
              <a:buNone/>
            </a:pPr>
            <a:r>
              <a:rPr lang="zh-CN" altLang="en-US" sz="2800" b="1" dirty="0">
                <a:solidFill>
                  <a:srgbClr val="7030A0"/>
                </a:solidFill>
              </a:rPr>
              <a:t>如何制作流程</a:t>
            </a:r>
            <a:r>
              <a:rPr lang="en-US" altLang="zh-CN" sz="2800" b="1" dirty="0">
                <a:solidFill>
                  <a:srgbClr val="7030A0"/>
                </a:solidFill>
              </a:rPr>
              <a:t>？  </a:t>
            </a:r>
            <a:r>
              <a:rPr lang="en-US" altLang="zh-CN" sz="2800" b="1" dirty="0">
                <a:solidFill>
                  <a:schemeClr val="tx1"/>
                </a:solidFill>
              </a:rPr>
              <a:t>             </a:t>
            </a:r>
            <a:r>
              <a:rPr lang="en-US" altLang="zh-CN" sz="2800" b="1" dirty="0">
                <a:solidFill>
                  <a:srgbClr val="00B050"/>
                </a:solidFill>
              </a:rPr>
              <a:t>——</a:t>
            </a:r>
            <a:r>
              <a:rPr lang="zh-CN" altLang="en-US" sz="2800" b="1" dirty="0">
                <a:solidFill>
                  <a:srgbClr val="00B050"/>
                </a:solidFill>
              </a:rPr>
              <a:t>逐级制作流程</a:t>
            </a:r>
            <a:r>
              <a:rPr lang="en-US" altLang="zh-CN" sz="2800" b="1" dirty="0">
                <a:solidFill>
                  <a:srgbClr val="00B050"/>
                </a:solidFill>
              </a:rPr>
              <a:t>！</a:t>
            </a:r>
            <a:endParaRPr lang="en-US" altLang="zh-CN" sz="2800" b="1" dirty="0">
              <a:solidFill>
                <a:schemeClr val="tx1"/>
              </a:solidFill>
            </a:endParaRPr>
          </a:p>
          <a:p>
            <a:pPr marL="0" indent="457200" algn="l" fontAlgn="auto">
              <a:lnSpc>
                <a:spcPct val="150000"/>
              </a:lnSpc>
              <a:buNone/>
            </a:pPr>
            <a:r>
              <a:rPr lang="zh-CN" altLang="en-US" sz="2800" b="1" dirty="0">
                <a:solidFill>
                  <a:srgbClr val="00B050"/>
                </a:solidFill>
              </a:rPr>
              <a:t>具体操作如下：</a:t>
            </a:r>
            <a:endParaRPr lang="zh-CN" altLang="en-US" sz="2800" b="1" dirty="0">
              <a:solidFill>
                <a:srgbClr val="00B050"/>
              </a:solidFill>
            </a:endParaRPr>
          </a:p>
          <a:p>
            <a:pPr marL="0" indent="457200" algn="l" fontAlgn="auto">
              <a:lnSpc>
                <a:spcPct val="150000"/>
              </a:lnSpc>
              <a:buNone/>
            </a:pPr>
            <a:r>
              <a:rPr lang="zh-CN" altLang="en-US" sz="2800" b="1" dirty="0">
                <a:solidFill>
                  <a:srgbClr val="7030A0"/>
                </a:solidFill>
              </a:rPr>
              <a:t>其一，制作一级流程</a:t>
            </a:r>
            <a:endParaRPr lang="zh-CN" altLang="en-US" sz="2800" b="1" dirty="0">
              <a:solidFill>
                <a:srgbClr val="7030A0"/>
              </a:solidFill>
            </a:endParaRPr>
          </a:p>
          <a:p>
            <a:pPr marL="0" indent="457200" algn="l" fontAlgn="auto">
              <a:lnSpc>
                <a:spcPct val="150000"/>
              </a:lnSpc>
              <a:buNone/>
            </a:pPr>
            <a:r>
              <a:rPr lang="zh-CN" altLang="en-US" sz="2800" b="1" dirty="0">
                <a:solidFill>
                  <a:schemeClr val="tx1"/>
                </a:solidFill>
              </a:rPr>
              <a:t>一级流程也就是</a:t>
            </a:r>
            <a:r>
              <a:rPr lang="zh-CN" altLang="en-US" sz="2800" b="1" dirty="0">
                <a:solidFill>
                  <a:srgbClr val="00B050"/>
                </a:solidFill>
              </a:rPr>
              <a:t>跨部门</a:t>
            </a:r>
            <a:r>
              <a:rPr lang="zh-CN" altLang="en-US" sz="2800" b="1" dirty="0">
                <a:solidFill>
                  <a:schemeClr val="tx1"/>
                </a:solidFill>
              </a:rPr>
              <a:t>流程</a:t>
            </a:r>
            <a:r>
              <a:rPr lang="en-US" altLang="zh-CN" sz="2800" b="1" dirty="0">
                <a:solidFill>
                  <a:schemeClr val="tx1"/>
                </a:solidFill>
              </a:rPr>
              <a:t>！</a:t>
            </a:r>
            <a:endParaRPr lang="en-US" altLang="zh-CN" sz="2800" b="1" dirty="0">
              <a:solidFill>
                <a:schemeClr val="tx1"/>
              </a:solidFill>
            </a:endParaRPr>
          </a:p>
          <a:p>
            <a:pPr marL="0" indent="457200" algn="l" fontAlgn="auto">
              <a:lnSpc>
                <a:spcPct val="150000"/>
              </a:lnSpc>
              <a:buNone/>
            </a:pPr>
            <a:r>
              <a:rPr lang="zh-CN" altLang="en-US" sz="2800" b="1" dirty="0">
                <a:solidFill>
                  <a:schemeClr val="tx1"/>
                </a:solidFill>
              </a:rPr>
              <a:t>首先，确定业务框架</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根据企业的战略定位，把企业主要事务进行梳理、找出关键节点，相互衔接优化组合，形成一级流程体系框架。</a:t>
            </a: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1525" y="877570"/>
            <a:ext cx="10648950" cy="5307965"/>
          </a:xfrm>
        </p:spPr>
        <p:txBody>
          <a:bodyPr>
            <a:noAutofit/>
          </a:bodyPr>
          <a:lstStyle/>
          <a:p>
            <a:pPr marL="0" indent="457200" algn="l" fontAlgn="auto">
              <a:lnSpc>
                <a:spcPct val="150000"/>
              </a:lnSpc>
              <a:buNone/>
            </a:pPr>
            <a:r>
              <a:rPr lang="zh-CN" altLang="en-US" sz="2800" b="1" dirty="0">
                <a:solidFill>
                  <a:schemeClr val="tx1"/>
                </a:solidFill>
              </a:rPr>
              <a:t>其次，把握业务环节</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对业务内容进行认真分析，理解其要点，并针对不同要求对业务环节进行取舍。</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流程环节并不是越多越好，必须做到有所放弃、有所侧重才能高效执行。</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在保证完成目标的前提下，认识到哪些是必要的环节，哪些是不必要的环节，根据实际情况把必要的环节找出来。</a:t>
            </a: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5475" y="877570"/>
            <a:ext cx="10994390" cy="5307965"/>
          </a:xfrm>
        </p:spPr>
        <p:txBody>
          <a:bodyPr>
            <a:noAutofit/>
          </a:bodyPr>
          <a:lstStyle/>
          <a:p>
            <a:pPr marL="0" indent="457200" algn="l" fontAlgn="auto">
              <a:lnSpc>
                <a:spcPct val="150000"/>
              </a:lnSpc>
              <a:buNone/>
            </a:pPr>
            <a:r>
              <a:rPr lang="zh-CN" altLang="en-US" sz="2800" b="1" dirty="0">
                <a:solidFill>
                  <a:srgbClr val="7030A0"/>
                </a:solidFill>
              </a:rPr>
              <a:t>案例说明：</a:t>
            </a:r>
            <a:endParaRPr lang="zh-CN" altLang="en-US" sz="2800" b="1" dirty="0">
              <a:solidFill>
                <a:srgbClr val="7030A0"/>
              </a:solidFill>
            </a:endParaRPr>
          </a:p>
          <a:p>
            <a:pPr marL="0" indent="0" algn="ctr" fontAlgn="auto">
              <a:lnSpc>
                <a:spcPct val="150000"/>
              </a:lnSpc>
              <a:buNone/>
            </a:pPr>
            <a:r>
              <a:rPr lang="zh-CN" altLang="en-US" sz="2800" b="1" dirty="0">
                <a:solidFill>
                  <a:schemeClr val="tx1"/>
                </a:solidFill>
              </a:rPr>
              <a:t>万科房地产的一级流程</a:t>
            </a:r>
            <a:endParaRPr lang="zh-CN" altLang="en-US" sz="2800" b="1" dirty="0">
              <a:solidFill>
                <a:schemeClr val="tx1"/>
              </a:solidFill>
            </a:endParaRPr>
          </a:p>
          <a:p>
            <a:pPr marL="0" indent="457200" algn="just" fontAlgn="auto">
              <a:lnSpc>
                <a:spcPct val="150000"/>
              </a:lnSpc>
              <a:buNone/>
            </a:pPr>
            <a:r>
              <a:rPr lang="zh-CN" altLang="en-US" sz="2800" b="1" dirty="0">
                <a:solidFill>
                  <a:schemeClr val="tx1"/>
                </a:solidFill>
              </a:rPr>
              <a:t>万科为了提高企业效能，依据战略规划重新梳理了整个业务框架。以实现客户价值为前提，对公司</a:t>
            </a:r>
            <a:r>
              <a:rPr lang="zh-CN" altLang="en-US" sz="2800" b="1" dirty="0">
                <a:solidFill>
                  <a:srgbClr val="FF0000"/>
                </a:solidFill>
              </a:rPr>
              <a:t>顶层业务</a:t>
            </a:r>
            <a:r>
              <a:rPr lang="zh-CN" altLang="en-US" sz="2800" b="1" dirty="0">
                <a:solidFill>
                  <a:schemeClr val="tx1"/>
                </a:solidFill>
              </a:rPr>
              <a:t>内容进行深度分析，对每个业务节点进行取舍考量，最终确定了关键业务环节，根据业务环节的复杂程度设置职能部门，这就形成了最适合企业的一级业务流程结构</a:t>
            </a:r>
            <a:r>
              <a:rPr lang="en-US" altLang="zh-CN" sz="2800" b="1" dirty="0">
                <a:solidFill>
                  <a:srgbClr val="00B050"/>
                </a:solidFill>
              </a:rPr>
              <a:t>（</a:t>
            </a:r>
            <a:r>
              <a:rPr lang="zh-CN" altLang="en-US" sz="2800" b="1" dirty="0">
                <a:solidFill>
                  <a:srgbClr val="00B050"/>
                </a:solidFill>
              </a:rPr>
              <a:t>主流程</a:t>
            </a:r>
            <a:r>
              <a:rPr lang="en-US" altLang="zh-CN" sz="2800" b="1" dirty="0">
                <a:solidFill>
                  <a:srgbClr val="00B050"/>
                </a:solidFill>
              </a:rPr>
              <a:t>）</a:t>
            </a:r>
            <a:r>
              <a:rPr lang="zh-CN" altLang="en-US" sz="2800" b="1" dirty="0">
                <a:solidFill>
                  <a:schemeClr val="tx1"/>
                </a:solidFill>
              </a:rPr>
              <a:t>。</a:t>
            </a: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5475" y="877570"/>
            <a:ext cx="10476865" cy="5307965"/>
          </a:xfrm>
        </p:spPr>
        <p:txBody>
          <a:bodyPr>
            <a:noAutofit/>
          </a:bodyPr>
          <a:lstStyle/>
          <a:p>
            <a:pPr marL="0" indent="457200" algn="ctr" fontAlgn="auto">
              <a:lnSpc>
                <a:spcPct val="150000"/>
              </a:lnSpc>
              <a:buNone/>
            </a:pPr>
            <a:r>
              <a:rPr lang="zh-CN" altLang="en-US" sz="2800" b="1" dirty="0">
                <a:solidFill>
                  <a:schemeClr val="tx1"/>
                </a:solidFill>
              </a:rPr>
              <a:t>万科房地产业务开发流程</a:t>
            </a:r>
            <a:endParaRPr lang="zh-CN" altLang="en-US" sz="2800" b="1" dirty="0">
              <a:solidFill>
                <a:schemeClr val="tx1"/>
              </a:solidFill>
            </a:endParaRPr>
          </a:p>
          <a:p>
            <a:pPr marL="0" indent="457200" algn="ctr" fontAlgn="auto">
              <a:lnSpc>
                <a:spcPct val="150000"/>
              </a:lnSpc>
              <a:buNone/>
            </a:pPr>
            <a:r>
              <a:rPr lang="zh-CN" altLang="en-US" sz="2800" b="1" dirty="0">
                <a:solidFill>
                  <a:srgbClr val="00B050"/>
                </a:solidFill>
              </a:rPr>
              <a:t>关键环节及程序</a:t>
            </a:r>
            <a:endParaRPr lang="zh-CN" altLang="en-US" sz="2800" b="1" dirty="0">
              <a:solidFill>
                <a:srgbClr val="00B050"/>
              </a:solidFill>
            </a:endParaRPr>
          </a:p>
          <a:p>
            <a:pPr marL="0" indent="457200" algn="l" fontAlgn="auto">
              <a:lnSpc>
                <a:spcPct val="150000"/>
              </a:lnSpc>
              <a:buNone/>
            </a:pPr>
            <a:r>
              <a:rPr lang="en-US" altLang="zh-CN" sz="2800" b="1" dirty="0">
                <a:sym typeface="+mn-ea"/>
              </a:rPr>
              <a:t>                  </a:t>
            </a:r>
            <a:r>
              <a:rPr lang="zh-CN" altLang="en-US" sz="2800" b="1" dirty="0">
                <a:solidFill>
                  <a:srgbClr val="FF0000"/>
                </a:solidFill>
              </a:rPr>
              <a:t>项目论证</a:t>
            </a:r>
            <a:r>
              <a:rPr lang="en-US" altLang="zh-CN" sz="2800" b="1" dirty="0">
                <a:solidFill>
                  <a:srgbClr val="FF0000"/>
                </a:solidFill>
                <a:sym typeface="+mn-ea"/>
              </a:rPr>
              <a:t>            </a:t>
            </a:r>
            <a:r>
              <a:rPr lang="zh-CN" altLang="en-US" sz="2800" b="1" dirty="0">
                <a:solidFill>
                  <a:srgbClr val="FF0000"/>
                </a:solidFill>
              </a:rPr>
              <a:t>项目策划</a:t>
            </a:r>
            <a:r>
              <a:rPr lang="en-US" altLang="zh-CN" sz="2800" b="1" dirty="0">
                <a:solidFill>
                  <a:srgbClr val="FF0000"/>
                </a:solidFill>
                <a:sym typeface="+mn-ea"/>
              </a:rPr>
              <a:t>            </a:t>
            </a:r>
            <a:r>
              <a:rPr lang="zh-CN" altLang="en-US" sz="2800" b="1" dirty="0">
                <a:solidFill>
                  <a:srgbClr val="FF0000"/>
                </a:solidFill>
              </a:rPr>
              <a:t>设计管理</a:t>
            </a:r>
            <a:endParaRPr lang="zh-CN" altLang="en-US" sz="2800" b="1" dirty="0">
              <a:solidFill>
                <a:srgbClr val="FF0000"/>
              </a:solidFill>
            </a:endParaRPr>
          </a:p>
          <a:p>
            <a:pPr marL="0" indent="457200" algn="l" fontAlgn="auto">
              <a:lnSpc>
                <a:spcPct val="150000"/>
              </a:lnSpc>
              <a:buNone/>
            </a:pPr>
            <a:endParaRPr lang="zh-CN" altLang="en-US" sz="2800" b="1" dirty="0">
              <a:solidFill>
                <a:srgbClr val="FF0000"/>
              </a:solidFill>
            </a:endParaRPr>
          </a:p>
          <a:p>
            <a:pPr marL="0" indent="457200" algn="l" fontAlgn="auto">
              <a:lnSpc>
                <a:spcPct val="150000"/>
              </a:lnSpc>
              <a:buNone/>
            </a:pPr>
            <a:r>
              <a:rPr lang="zh-CN" altLang="en-US" sz="2800" b="1" dirty="0">
                <a:solidFill>
                  <a:srgbClr val="FF0000"/>
                </a:solidFill>
              </a:rPr>
              <a:t>物业管理</a:t>
            </a:r>
            <a:r>
              <a:rPr lang="en-US" altLang="zh-CN" sz="2800" b="1" dirty="0">
                <a:solidFill>
                  <a:srgbClr val="FF0000"/>
                </a:solidFill>
              </a:rPr>
              <a:t>            </a:t>
            </a:r>
            <a:r>
              <a:rPr lang="zh-CN" altLang="en-US" sz="2800" b="1" dirty="0">
                <a:solidFill>
                  <a:srgbClr val="FF0000"/>
                </a:solidFill>
              </a:rPr>
              <a:t>入住管理</a:t>
            </a:r>
            <a:r>
              <a:rPr lang="en-US" altLang="zh-CN" sz="2800" b="1" dirty="0">
                <a:solidFill>
                  <a:srgbClr val="FF0000"/>
                </a:solidFill>
                <a:sym typeface="+mn-ea"/>
              </a:rPr>
              <a:t>            </a:t>
            </a:r>
            <a:r>
              <a:rPr lang="zh-CN" altLang="en-US" sz="2800" b="1" dirty="0">
                <a:solidFill>
                  <a:srgbClr val="FF0000"/>
                </a:solidFill>
              </a:rPr>
              <a:t>销售管理</a:t>
            </a:r>
            <a:r>
              <a:rPr lang="en-US" altLang="zh-CN" sz="2800" b="1" dirty="0">
                <a:solidFill>
                  <a:srgbClr val="FF0000"/>
                </a:solidFill>
                <a:sym typeface="+mn-ea"/>
              </a:rPr>
              <a:t>            </a:t>
            </a:r>
            <a:r>
              <a:rPr lang="zh-CN" altLang="en-US" sz="2800" b="1" dirty="0">
                <a:solidFill>
                  <a:srgbClr val="FF0000"/>
                </a:solidFill>
                <a:sym typeface="+mn-ea"/>
              </a:rPr>
              <a:t>工</a:t>
            </a:r>
            <a:r>
              <a:rPr lang="zh-CN" altLang="en-US" sz="2800" b="1" dirty="0">
                <a:solidFill>
                  <a:srgbClr val="FF0000"/>
                </a:solidFill>
              </a:rPr>
              <a:t>程管理</a:t>
            </a:r>
            <a:endParaRPr lang="zh-CN" altLang="en-US" sz="2800" b="1" dirty="0">
              <a:solidFill>
                <a:srgbClr val="FF0000"/>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cxnSp>
        <p:nvCxnSpPr>
          <p:cNvPr id="2" name="直接箭头连接符 1"/>
          <p:cNvCxnSpPr/>
          <p:nvPr/>
        </p:nvCxnSpPr>
        <p:spPr>
          <a:xfrm>
            <a:off x="4620260" y="2861945"/>
            <a:ext cx="1018540" cy="0"/>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5" name="直接箭头连接符 4"/>
          <p:cNvCxnSpPr/>
          <p:nvPr/>
        </p:nvCxnSpPr>
        <p:spPr>
          <a:xfrm>
            <a:off x="7329170" y="2861945"/>
            <a:ext cx="1018540" cy="0"/>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7" name="直接箭头连接符 6"/>
          <p:cNvCxnSpPr/>
          <p:nvPr/>
        </p:nvCxnSpPr>
        <p:spPr>
          <a:xfrm flipH="1">
            <a:off x="8097520" y="4399280"/>
            <a:ext cx="1018540" cy="0"/>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8" name="直接箭头连接符 7"/>
          <p:cNvCxnSpPr/>
          <p:nvPr/>
        </p:nvCxnSpPr>
        <p:spPr>
          <a:xfrm flipH="1">
            <a:off x="5436235" y="4399280"/>
            <a:ext cx="1018540" cy="0"/>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9" name="直接箭头连接符 8"/>
          <p:cNvCxnSpPr/>
          <p:nvPr/>
        </p:nvCxnSpPr>
        <p:spPr>
          <a:xfrm flipH="1">
            <a:off x="2688590" y="4399280"/>
            <a:ext cx="1018540" cy="0"/>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10" name="直接箭头连接符 9"/>
          <p:cNvCxnSpPr/>
          <p:nvPr/>
        </p:nvCxnSpPr>
        <p:spPr>
          <a:xfrm>
            <a:off x="9654540" y="3265170"/>
            <a:ext cx="0" cy="673100"/>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sp>
        <p:nvSpPr>
          <p:cNvPr id="11" name="左大括号 10"/>
          <p:cNvSpPr/>
          <p:nvPr/>
        </p:nvSpPr>
        <p:spPr>
          <a:xfrm>
            <a:off x="750570" y="2688590"/>
            <a:ext cx="334010" cy="1786890"/>
          </a:xfrm>
          <a:prstGeom prst="leftBrace">
            <a:avLst/>
          </a:prstGeom>
          <a:ln>
            <a:solidFill>
              <a:schemeClr val="tx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2" name="文本框 11"/>
          <p:cNvSpPr txBox="1"/>
          <p:nvPr/>
        </p:nvSpPr>
        <p:spPr>
          <a:xfrm>
            <a:off x="164465" y="2861945"/>
            <a:ext cx="365125" cy="1383665"/>
          </a:xfrm>
          <a:prstGeom prst="rect">
            <a:avLst/>
          </a:prstGeom>
          <a:noFill/>
        </p:spPr>
        <p:txBody>
          <a:bodyPr wrap="square" rtlCol="0">
            <a:spAutoFit/>
          </a:bodyPr>
          <a:p>
            <a:r>
              <a:rPr lang="zh-CN" altLang="en-US" sz="2800" b="1" dirty="0">
                <a:solidFill>
                  <a:srgbClr val="00B050"/>
                </a:solidFill>
                <a:latin typeface="微软雅黑" panose="020B0503020204020204" pitchFamily="34" charset="-122"/>
                <a:ea typeface="微软雅黑" panose="020B0503020204020204" pitchFamily="34" charset="-122"/>
              </a:rPr>
              <a:t>跨部门</a:t>
            </a:r>
            <a:endParaRPr lang="zh-CN" altLang="en-US" sz="2800" b="1" dirty="0">
              <a:solidFill>
                <a:srgbClr val="00B05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5475" y="589280"/>
            <a:ext cx="10476865" cy="946150"/>
          </a:xfrm>
        </p:spPr>
        <p:txBody>
          <a:bodyPr>
            <a:noAutofit/>
          </a:bodyPr>
          <a:lstStyle/>
          <a:p>
            <a:pPr marL="0" indent="457200" algn="ctr" fontAlgn="auto">
              <a:lnSpc>
                <a:spcPct val="150000"/>
              </a:lnSpc>
              <a:buNone/>
            </a:pPr>
            <a:r>
              <a:rPr lang="zh-CN" altLang="en-US" sz="2800" b="1" dirty="0">
                <a:solidFill>
                  <a:schemeClr val="tx1"/>
                </a:solidFill>
              </a:rPr>
              <a:t>一级主流程关键环节结构</a:t>
            </a: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
        <p:nvSpPr>
          <p:cNvPr id="13" name="文本框 12"/>
          <p:cNvSpPr txBox="1"/>
          <p:nvPr/>
        </p:nvSpPr>
        <p:spPr>
          <a:xfrm>
            <a:off x="7673340" y="1393190"/>
            <a:ext cx="2887980" cy="4739005"/>
          </a:xfrm>
          <a:prstGeom prst="rect">
            <a:avLst/>
          </a:prstGeom>
          <a:noFill/>
        </p:spPr>
        <p:txBody>
          <a:bodyPr wrap="square" rtlCol="0">
            <a:spAutoFit/>
          </a:bodyPr>
          <a:p>
            <a:pPr indent="457200" algn="ctr">
              <a:lnSpc>
                <a:spcPct val="150000"/>
              </a:lnSpc>
              <a:spcBef>
                <a:spcPts val="1000"/>
              </a:spcBef>
              <a:buClrTx/>
              <a:buSzTx/>
              <a:buFont typeface="Arial" panose="020B0604020202020204" pitchFamily="34" charset="0"/>
            </a:pPr>
            <a:r>
              <a:rPr lang="zh-CN" altLang="en-US" sz="2400" b="1" dirty="0">
                <a:solidFill>
                  <a:srgbClr val="FF0000"/>
                </a:solidFill>
                <a:latin typeface="微软雅黑" panose="020B0503020204020204" pitchFamily="34" charset="-122"/>
                <a:ea typeface="微软雅黑" panose="020B0503020204020204" pitchFamily="34" charset="-122"/>
              </a:rPr>
              <a:t>项目论证</a:t>
            </a:r>
            <a:r>
              <a:rPr lang="zh-CN" altLang="en-US" sz="2400" b="1" dirty="0">
                <a:latin typeface="微软雅黑" panose="020B0503020204020204" pitchFamily="34" charset="-122"/>
                <a:ea typeface="微软雅黑" panose="020B0503020204020204" pitchFamily="34" charset="-122"/>
              </a:rPr>
              <a:t>流程</a:t>
            </a:r>
            <a:endParaRPr lang="zh-CN" altLang="en-US" sz="2400" b="1" dirty="0">
              <a:latin typeface="微软雅黑" panose="020B0503020204020204" pitchFamily="34" charset="-122"/>
              <a:ea typeface="微软雅黑" panose="020B0503020204020204" pitchFamily="34" charset="-122"/>
            </a:endParaRPr>
          </a:p>
          <a:p>
            <a:pPr indent="457200" algn="ctr">
              <a:lnSpc>
                <a:spcPct val="150000"/>
              </a:lnSpc>
              <a:spcBef>
                <a:spcPts val="1000"/>
              </a:spcBef>
              <a:buClrTx/>
              <a:buSzTx/>
              <a:buFont typeface="Arial" panose="020B0604020202020204" pitchFamily="34" charset="0"/>
            </a:pPr>
            <a:r>
              <a:rPr lang="zh-CN" altLang="en-US" sz="2400" b="1" dirty="0">
                <a:solidFill>
                  <a:srgbClr val="FF0000"/>
                </a:solidFill>
                <a:latin typeface="微软雅黑" panose="020B0503020204020204" pitchFamily="34" charset="-122"/>
                <a:ea typeface="微软雅黑" panose="020B0503020204020204" pitchFamily="34" charset="-122"/>
              </a:rPr>
              <a:t>项目策划</a:t>
            </a:r>
            <a:r>
              <a:rPr lang="zh-CN" altLang="en-US" sz="2400" b="1" dirty="0">
                <a:latin typeface="微软雅黑" panose="020B0503020204020204" pitchFamily="34" charset="-122"/>
                <a:ea typeface="微软雅黑" panose="020B0503020204020204" pitchFamily="34" charset="-122"/>
              </a:rPr>
              <a:t>流程</a:t>
            </a:r>
            <a:endParaRPr lang="zh-CN" altLang="en-US" sz="2400" b="1" dirty="0">
              <a:latin typeface="微软雅黑" panose="020B0503020204020204" pitchFamily="34" charset="-122"/>
              <a:ea typeface="微软雅黑" panose="020B0503020204020204" pitchFamily="34" charset="-122"/>
            </a:endParaRPr>
          </a:p>
          <a:p>
            <a:pPr indent="457200" algn="ctr">
              <a:lnSpc>
                <a:spcPct val="150000"/>
              </a:lnSpc>
              <a:spcBef>
                <a:spcPts val="1000"/>
              </a:spcBef>
              <a:buClrTx/>
              <a:buSzTx/>
              <a:buFont typeface="Arial" panose="020B0604020202020204" pitchFamily="34" charset="0"/>
            </a:pPr>
            <a:r>
              <a:rPr lang="zh-CN" altLang="en-US" sz="2400" b="1" dirty="0">
                <a:solidFill>
                  <a:srgbClr val="FF0000"/>
                </a:solidFill>
                <a:latin typeface="微软雅黑" panose="020B0503020204020204" pitchFamily="34" charset="-122"/>
                <a:ea typeface="微软雅黑" panose="020B0503020204020204" pitchFamily="34" charset="-122"/>
              </a:rPr>
              <a:t>设计管理</a:t>
            </a:r>
            <a:r>
              <a:rPr lang="zh-CN" altLang="en-US" sz="2400" b="1" dirty="0">
                <a:latin typeface="微软雅黑" panose="020B0503020204020204" pitchFamily="34" charset="-122"/>
                <a:ea typeface="微软雅黑" panose="020B0503020204020204" pitchFamily="34" charset="-122"/>
              </a:rPr>
              <a:t>流程</a:t>
            </a:r>
            <a:endParaRPr lang="zh-CN" altLang="en-US" sz="2400" b="1" dirty="0">
              <a:latin typeface="微软雅黑" panose="020B0503020204020204" pitchFamily="34" charset="-122"/>
              <a:ea typeface="微软雅黑" panose="020B0503020204020204" pitchFamily="34" charset="-122"/>
            </a:endParaRPr>
          </a:p>
          <a:p>
            <a:pPr indent="457200" algn="ctr">
              <a:lnSpc>
                <a:spcPct val="150000"/>
              </a:lnSpc>
              <a:spcBef>
                <a:spcPts val="1000"/>
              </a:spcBef>
              <a:buClrTx/>
              <a:buSzTx/>
              <a:buFont typeface="Arial" panose="020B0604020202020204" pitchFamily="34" charset="0"/>
            </a:pPr>
            <a:r>
              <a:rPr lang="zh-CN" altLang="en-US" sz="2400" b="1" dirty="0">
                <a:solidFill>
                  <a:srgbClr val="FF0000"/>
                </a:solidFill>
                <a:latin typeface="微软雅黑" panose="020B0503020204020204" pitchFamily="34" charset="-122"/>
                <a:ea typeface="微软雅黑" panose="020B0503020204020204" pitchFamily="34" charset="-122"/>
              </a:rPr>
              <a:t>工程管理</a:t>
            </a:r>
            <a:r>
              <a:rPr lang="zh-CN" altLang="en-US" sz="2400" b="1" dirty="0">
                <a:latin typeface="微软雅黑" panose="020B0503020204020204" pitchFamily="34" charset="-122"/>
                <a:ea typeface="微软雅黑" panose="020B0503020204020204" pitchFamily="34" charset="-122"/>
              </a:rPr>
              <a:t>流程</a:t>
            </a:r>
            <a:endParaRPr lang="zh-CN" altLang="en-US" sz="2400" b="1" dirty="0">
              <a:latin typeface="微软雅黑" panose="020B0503020204020204" pitchFamily="34" charset="-122"/>
              <a:ea typeface="微软雅黑" panose="020B0503020204020204" pitchFamily="34" charset="-122"/>
            </a:endParaRPr>
          </a:p>
          <a:p>
            <a:pPr indent="457200" algn="ctr">
              <a:lnSpc>
                <a:spcPct val="150000"/>
              </a:lnSpc>
              <a:spcBef>
                <a:spcPts val="1000"/>
              </a:spcBef>
              <a:buClrTx/>
              <a:buSzTx/>
              <a:buFont typeface="Arial" panose="020B0604020202020204" pitchFamily="34" charset="0"/>
            </a:pPr>
            <a:r>
              <a:rPr lang="zh-CN" altLang="en-US" sz="2400" b="1" dirty="0">
                <a:solidFill>
                  <a:srgbClr val="FF0000"/>
                </a:solidFill>
                <a:latin typeface="微软雅黑" panose="020B0503020204020204" pitchFamily="34" charset="-122"/>
                <a:ea typeface="微软雅黑" panose="020B0503020204020204" pitchFamily="34" charset="-122"/>
              </a:rPr>
              <a:t>销售管理</a:t>
            </a:r>
            <a:r>
              <a:rPr lang="zh-CN" altLang="en-US" sz="2400" b="1" dirty="0">
                <a:latin typeface="微软雅黑" panose="020B0503020204020204" pitchFamily="34" charset="-122"/>
                <a:ea typeface="微软雅黑" panose="020B0503020204020204" pitchFamily="34" charset="-122"/>
              </a:rPr>
              <a:t>流程</a:t>
            </a:r>
            <a:endParaRPr lang="zh-CN" altLang="en-US" sz="2400" b="1" dirty="0">
              <a:latin typeface="微软雅黑" panose="020B0503020204020204" pitchFamily="34" charset="-122"/>
              <a:ea typeface="微软雅黑" panose="020B0503020204020204" pitchFamily="34" charset="-122"/>
            </a:endParaRPr>
          </a:p>
          <a:p>
            <a:pPr indent="457200" algn="ctr">
              <a:lnSpc>
                <a:spcPct val="150000"/>
              </a:lnSpc>
              <a:spcBef>
                <a:spcPts val="1000"/>
              </a:spcBef>
              <a:buClrTx/>
              <a:buSzTx/>
              <a:buFont typeface="Arial" panose="020B0604020202020204" pitchFamily="34" charset="0"/>
            </a:pPr>
            <a:r>
              <a:rPr lang="zh-CN" altLang="en-US" sz="2400" b="1" dirty="0">
                <a:solidFill>
                  <a:srgbClr val="FF0000"/>
                </a:solidFill>
                <a:latin typeface="微软雅黑" panose="020B0503020204020204" pitchFamily="34" charset="-122"/>
                <a:ea typeface="微软雅黑" panose="020B0503020204020204" pitchFamily="34" charset="-122"/>
              </a:rPr>
              <a:t>入住管理</a:t>
            </a:r>
            <a:r>
              <a:rPr lang="zh-CN" altLang="en-US" sz="2400" b="1" dirty="0">
                <a:latin typeface="微软雅黑" panose="020B0503020204020204" pitchFamily="34" charset="-122"/>
                <a:ea typeface="微软雅黑" panose="020B0503020204020204" pitchFamily="34" charset="-122"/>
              </a:rPr>
              <a:t>流程</a:t>
            </a:r>
            <a:endParaRPr lang="zh-CN" altLang="en-US" sz="2400" b="1" dirty="0">
              <a:latin typeface="微软雅黑" panose="020B0503020204020204" pitchFamily="34" charset="-122"/>
              <a:ea typeface="微软雅黑" panose="020B0503020204020204" pitchFamily="34" charset="-122"/>
            </a:endParaRPr>
          </a:p>
          <a:p>
            <a:pPr indent="457200" algn="ctr">
              <a:lnSpc>
                <a:spcPct val="150000"/>
              </a:lnSpc>
              <a:spcBef>
                <a:spcPts val="1000"/>
              </a:spcBef>
              <a:buClrTx/>
              <a:buSzTx/>
              <a:buFont typeface="Arial" panose="020B0604020202020204" pitchFamily="34" charset="0"/>
            </a:pPr>
            <a:r>
              <a:rPr lang="zh-CN" altLang="en-US" sz="2400" b="1" dirty="0">
                <a:solidFill>
                  <a:srgbClr val="FF0000"/>
                </a:solidFill>
                <a:latin typeface="微软雅黑" panose="020B0503020204020204" pitchFamily="34" charset="-122"/>
                <a:ea typeface="微软雅黑" panose="020B0503020204020204" pitchFamily="34" charset="-122"/>
              </a:rPr>
              <a:t>物业管理</a:t>
            </a:r>
            <a:r>
              <a:rPr lang="zh-CN" altLang="en-US" sz="2400" b="1" dirty="0">
                <a:latin typeface="微软雅黑" panose="020B0503020204020204" pitchFamily="34" charset="-122"/>
                <a:ea typeface="微软雅黑" panose="020B0503020204020204" pitchFamily="34" charset="-122"/>
              </a:rPr>
              <a:t>流程</a:t>
            </a:r>
            <a:endParaRPr lang="zh-CN" altLang="en-US" sz="2400" b="1"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2206625" y="2557780"/>
            <a:ext cx="2887980" cy="2009775"/>
          </a:xfrm>
          <a:prstGeom prst="rect">
            <a:avLst/>
          </a:prstGeom>
          <a:noFill/>
        </p:spPr>
        <p:txBody>
          <a:bodyPr wrap="square" rtlCol="0">
            <a:spAutoFit/>
          </a:bodyPr>
          <a:p>
            <a:pPr indent="457200" algn="ctr">
              <a:lnSpc>
                <a:spcPct val="150000"/>
              </a:lnSpc>
              <a:spcBef>
                <a:spcPts val="1000"/>
              </a:spcBef>
              <a:buClrTx/>
              <a:buSzTx/>
              <a:buFont typeface="Arial" panose="020B0604020202020204" pitchFamily="34" charset="0"/>
            </a:pPr>
            <a:r>
              <a:rPr lang="zh-CN" altLang="en-US" sz="2400" b="1" dirty="0">
                <a:latin typeface="微软雅黑" panose="020B0503020204020204" pitchFamily="34" charset="-122"/>
                <a:ea typeface="微软雅黑" panose="020B0503020204020204" pitchFamily="34" charset="-122"/>
              </a:rPr>
              <a:t>万科房地产开发</a:t>
            </a:r>
            <a:endParaRPr lang="zh-CN" altLang="en-US" sz="2400" b="1" dirty="0">
              <a:latin typeface="微软雅黑" panose="020B0503020204020204" pitchFamily="34" charset="-122"/>
              <a:ea typeface="微软雅黑" panose="020B0503020204020204" pitchFamily="34" charset="-122"/>
            </a:endParaRPr>
          </a:p>
          <a:p>
            <a:pPr indent="457200" algn="ctr">
              <a:lnSpc>
                <a:spcPct val="150000"/>
              </a:lnSpc>
              <a:spcBef>
                <a:spcPts val="1000"/>
              </a:spcBef>
              <a:buClrTx/>
              <a:buSzTx/>
              <a:buFont typeface="Arial" panose="020B0604020202020204" pitchFamily="34" charset="0"/>
            </a:pPr>
            <a:r>
              <a:rPr lang="zh-CN" altLang="en-US" sz="2400" b="1" dirty="0">
                <a:solidFill>
                  <a:srgbClr val="FF0000"/>
                </a:solidFill>
                <a:latin typeface="微软雅黑" panose="020B0503020204020204" pitchFamily="34" charset="-122"/>
                <a:ea typeface="微软雅黑" panose="020B0503020204020204" pitchFamily="34" charset="-122"/>
              </a:rPr>
              <a:t>七大核心流程</a:t>
            </a:r>
            <a:endParaRPr lang="zh-CN" altLang="en-US" sz="2400" b="1" dirty="0">
              <a:latin typeface="微软雅黑" panose="020B0503020204020204" pitchFamily="34" charset="-122"/>
              <a:ea typeface="微软雅黑" panose="020B0503020204020204" pitchFamily="34" charset="-122"/>
            </a:endParaRPr>
          </a:p>
          <a:p>
            <a:pPr indent="457200" algn="ctr">
              <a:lnSpc>
                <a:spcPct val="150000"/>
              </a:lnSpc>
              <a:spcBef>
                <a:spcPts val="1000"/>
              </a:spcBef>
              <a:buClrTx/>
              <a:buSzTx/>
              <a:buFont typeface="Arial" panose="020B0604020202020204" pitchFamily="34" charset="0"/>
            </a:pPr>
            <a:r>
              <a:rPr lang="zh-CN" altLang="en-US" sz="2400" b="1" dirty="0">
                <a:solidFill>
                  <a:srgbClr val="00B050"/>
                </a:solidFill>
                <a:latin typeface="微软雅黑" panose="020B0503020204020204" pitchFamily="34" charset="-122"/>
                <a:ea typeface="微软雅黑" panose="020B0503020204020204" pitchFamily="34" charset="-122"/>
              </a:rPr>
              <a:t>（二级主流程）</a:t>
            </a:r>
            <a:endParaRPr lang="zh-CN" altLang="en-US" sz="2400" b="1" dirty="0">
              <a:solidFill>
                <a:srgbClr val="00B050"/>
              </a:solidFill>
              <a:latin typeface="微软雅黑" panose="020B0503020204020204" pitchFamily="34" charset="-122"/>
              <a:ea typeface="微软雅黑" panose="020B0503020204020204" pitchFamily="34" charset="-122"/>
            </a:endParaRPr>
          </a:p>
        </p:txBody>
      </p:sp>
      <p:sp>
        <p:nvSpPr>
          <p:cNvPr id="15" name="椭圆 14"/>
          <p:cNvSpPr/>
          <p:nvPr/>
        </p:nvSpPr>
        <p:spPr>
          <a:xfrm>
            <a:off x="1970405" y="2179320"/>
            <a:ext cx="3871595" cy="2766695"/>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6" name="直接箭头连接符 15"/>
          <p:cNvCxnSpPr/>
          <p:nvPr/>
        </p:nvCxnSpPr>
        <p:spPr>
          <a:xfrm flipV="1">
            <a:off x="4908550" y="1757045"/>
            <a:ext cx="3449320" cy="605155"/>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17" name="直接箭头连接符 16"/>
          <p:cNvCxnSpPr/>
          <p:nvPr/>
        </p:nvCxnSpPr>
        <p:spPr>
          <a:xfrm flipH="1" flipV="1">
            <a:off x="4841240" y="4773295"/>
            <a:ext cx="3564255" cy="1047750"/>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18" name="直接箭头连接符 17"/>
          <p:cNvCxnSpPr/>
          <p:nvPr/>
        </p:nvCxnSpPr>
        <p:spPr>
          <a:xfrm>
            <a:off x="9356725" y="1939290"/>
            <a:ext cx="0" cy="346075"/>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19" name="直接箭头连接符 18"/>
          <p:cNvCxnSpPr/>
          <p:nvPr/>
        </p:nvCxnSpPr>
        <p:spPr>
          <a:xfrm>
            <a:off x="9356725" y="2630805"/>
            <a:ext cx="0" cy="346075"/>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20" name="直接箭头连接符 19"/>
          <p:cNvCxnSpPr/>
          <p:nvPr/>
        </p:nvCxnSpPr>
        <p:spPr>
          <a:xfrm>
            <a:off x="9356725" y="3322320"/>
            <a:ext cx="0" cy="346075"/>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21" name="直接箭头连接符 20"/>
          <p:cNvCxnSpPr/>
          <p:nvPr/>
        </p:nvCxnSpPr>
        <p:spPr>
          <a:xfrm>
            <a:off x="9356725" y="4013835"/>
            <a:ext cx="0" cy="346075"/>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22" name="直接箭头连接符 21"/>
          <p:cNvCxnSpPr/>
          <p:nvPr/>
        </p:nvCxnSpPr>
        <p:spPr>
          <a:xfrm>
            <a:off x="9356725" y="4705350"/>
            <a:ext cx="0" cy="346075"/>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23" name="直接箭头连接符 22"/>
          <p:cNvCxnSpPr/>
          <p:nvPr/>
        </p:nvCxnSpPr>
        <p:spPr>
          <a:xfrm>
            <a:off x="9356725" y="5396865"/>
            <a:ext cx="0" cy="346075"/>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82345" y="877570"/>
            <a:ext cx="10227310" cy="5307965"/>
          </a:xfrm>
        </p:spPr>
        <p:txBody>
          <a:bodyPr>
            <a:noAutofit/>
          </a:bodyPr>
          <a:lstStyle/>
          <a:p>
            <a:pPr marL="0" indent="457200" algn="ctr" fontAlgn="auto">
              <a:lnSpc>
                <a:spcPct val="150000"/>
              </a:lnSpc>
              <a:buNone/>
            </a:pPr>
            <a:r>
              <a:rPr lang="zh-CN" altLang="en-US" sz="2800" b="1" dirty="0">
                <a:solidFill>
                  <a:schemeClr val="tx1"/>
                </a:solidFill>
              </a:rPr>
              <a:t>万科流程管理体系的</a:t>
            </a:r>
            <a:r>
              <a:rPr lang="zh-CN" altLang="en-US" sz="2800" b="1" dirty="0">
                <a:solidFill>
                  <a:srgbClr val="FF0000"/>
                </a:solidFill>
              </a:rPr>
              <a:t>成果</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其一，</a:t>
            </a:r>
            <a:r>
              <a:rPr lang="zh-CN" altLang="en-US" sz="2800" b="1" dirty="0">
                <a:solidFill>
                  <a:srgbClr val="FF0000"/>
                </a:solidFill>
              </a:rPr>
              <a:t>服从流程</a:t>
            </a:r>
            <a:endParaRPr lang="zh-CN" altLang="en-US" sz="2800" b="1" dirty="0">
              <a:solidFill>
                <a:srgbClr val="00B050"/>
              </a:solidFill>
            </a:endParaRPr>
          </a:p>
          <a:p>
            <a:pPr marL="0" indent="457200" algn="l" fontAlgn="auto">
              <a:lnSpc>
                <a:spcPct val="150000"/>
              </a:lnSpc>
              <a:buNone/>
            </a:pPr>
            <a:r>
              <a:rPr lang="zh-CN" altLang="en-US" sz="2800" b="1" dirty="0">
                <a:solidFill>
                  <a:schemeClr val="tx1"/>
                </a:solidFill>
              </a:rPr>
              <a:t>不是所有时候都要求下级服从上级，但却是所有时候都要求所有人服从流程管理；</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其二，</a:t>
            </a:r>
            <a:r>
              <a:rPr lang="zh-CN" altLang="en-US" sz="2800" b="1" dirty="0">
                <a:solidFill>
                  <a:srgbClr val="FF0000"/>
                </a:solidFill>
              </a:rPr>
              <a:t>工作指引</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流程的内容是针对事情的，告诉员工什么事情该如何做，而不是向何人请示；</a:t>
            </a: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82345" y="877570"/>
            <a:ext cx="10227310" cy="5307965"/>
          </a:xfrm>
        </p:spPr>
        <p:txBody>
          <a:bodyPr>
            <a:noAutofit/>
          </a:bodyPr>
          <a:lstStyle/>
          <a:p>
            <a:pPr marL="0" indent="457200" algn="l" fontAlgn="auto">
              <a:lnSpc>
                <a:spcPct val="150000"/>
              </a:lnSpc>
              <a:buNone/>
            </a:pPr>
            <a:r>
              <a:rPr lang="zh-CN" altLang="en-US" sz="2800" b="1" dirty="0">
                <a:solidFill>
                  <a:schemeClr val="tx1"/>
                </a:solidFill>
              </a:rPr>
              <a:t>其三，</a:t>
            </a:r>
            <a:r>
              <a:rPr lang="zh-CN" altLang="en-US" sz="2800" b="1" dirty="0">
                <a:solidFill>
                  <a:srgbClr val="FF0000"/>
                </a:solidFill>
              </a:rPr>
              <a:t>工作高效</a:t>
            </a:r>
            <a:endParaRPr lang="zh-CN" altLang="en-US" sz="2800" b="1" dirty="0">
              <a:solidFill>
                <a:srgbClr val="00B050"/>
              </a:solidFill>
            </a:endParaRPr>
          </a:p>
          <a:p>
            <a:pPr marL="0" indent="457200" algn="l" fontAlgn="auto">
              <a:lnSpc>
                <a:spcPct val="150000"/>
              </a:lnSpc>
              <a:buNone/>
            </a:pPr>
            <a:r>
              <a:rPr lang="zh-CN" altLang="en-US" sz="2800" b="1" dirty="0">
                <a:solidFill>
                  <a:schemeClr val="tx1"/>
                </a:solidFill>
              </a:rPr>
              <a:t>规范的流程体系，使万科内部很少看到烦琐的请示汇报，提高了效率，降低了成本；</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其四，</a:t>
            </a:r>
            <a:r>
              <a:rPr lang="zh-CN" altLang="en-US" sz="2800" b="1" dirty="0">
                <a:solidFill>
                  <a:srgbClr val="FF0000"/>
                </a:solidFill>
              </a:rPr>
              <a:t>坚持原则</a:t>
            </a:r>
            <a:endParaRPr lang="zh-CN" altLang="en-US" sz="2800" b="1" dirty="0">
              <a:solidFill>
                <a:srgbClr val="00B050"/>
              </a:solidFill>
            </a:endParaRPr>
          </a:p>
          <a:p>
            <a:pPr marL="0" indent="457200" algn="l" fontAlgn="auto">
              <a:lnSpc>
                <a:spcPct val="150000"/>
              </a:lnSpc>
              <a:buNone/>
            </a:pPr>
            <a:r>
              <a:rPr lang="zh-CN" altLang="en-US" sz="2800" b="1" dirty="0">
                <a:solidFill>
                  <a:schemeClr val="tx1"/>
                </a:solidFill>
              </a:rPr>
              <a:t>员工凭借对流程的熟悉而不是凭人际关系进行工作和竞争。</a:t>
            </a: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82345" y="877570"/>
            <a:ext cx="10227310" cy="5307965"/>
          </a:xfrm>
        </p:spPr>
        <p:txBody>
          <a:bodyPr>
            <a:noAutofit/>
          </a:bodyPr>
          <a:lstStyle/>
          <a:p>
            <a:pPr marL="0" indent="457200" algn="l" fontAlgn="auto">
              <a:lnSpc>
                <a:spcPct val="150000"/>
              </a:lnSpc>
              <a:buNone/>
            </a:pPr>
            <a:r>
              <a:rPr lang="zh-CN" altLang="en-US" sz="2800" b="1" dirty="0">
                <a:solidFill>
                  <a:schemeClr val="tx1"/>
                </a:solidFill>
              </a:rPr>
              <a:t>万科为什么强大</a:t>
            </a:r>
            <a:r>
              <a:rPr lang="en-US" altLang="zh-CN" sz="2800" b="1" dirty="0">
                <a:solidFill>
                  <a:schemeClr val="tx1"/>
                </a:solidFill>
              </a:rPr>
              <a:t>？</a:t>
            </a:r>
            <a:endParaRPr lang="en-US" altLang="zh-CN" sz="2800" b="1" dirty="0">
              <a:solidFill>
                <a:schemeClr val="tx1"/>
              </a:solidFill>
            </a:endParaRPr>
          </a:p>
          <a:p>
            <a:pPr marL="0" indent="457200" algn="l" fontAlgn="auto">
              <a:lnSpc>
                <a:spcPct val="150000"/>
              </a:lnSpc>
              <a:buNone/>
            </a:pPr>
            <a:r>
              <a:rPr lang="zh-CN" altLang="en-US" sz="2800" b="1" dirty="0">
                <a:solidFill>
                  <a:schemeClr val="tx1"/>
                </a:solidFill>
              </a:rPr>
              <a:t>关键因素：</a:t>
            </a:r>
            <a:endParaRPr lang="zh-CN" altLang="en-US" sz="2800" b="1" dirty="0">
              <a:solidFill>
                <a:schemeClr val="tx1"/>
              </a:solidFill>
            </a:endParaRPr>
          </a:p>
          <a:p>
            <a:pPr marL="0" indent="457200" algn="l" fontAlgn="auto">
              <a:lnSpc>
                <a:spcPct val="150000"/>
              </a:lnSpc>
              <a:buNone/>
            </a:pPr>
            <a:r>
              <a:rPr lang="en-US" altLang="zh-CN" sz="2800" b="1" dirty="0">
                <a:solidFill>
                  <a:schemeClr val="tx1"/>
                </a:solidFill>
              </a:rPr>
              <a:t>——</a:t>
            </a:r>
            <a:r>
              <a:rPr lang="zh-CN" altLang="en-US" sz="2800" b="1" dirty="0">
                <a:solidFill>
                  <a:schemeClr val="tx1"/>
                </a:solidFill>
              </a:rPr>
              <a:t>地产工业化，快速复制</a:t>
            </a:r>
            <a:r>
              <a:rPr lang="en-US" altLang="zh-CN" sz="2800" b="1" dirty="0">
                <a:solidFill>
                  <a:schemeClr val="tx1"/>
                </a:solidFill>
              </a:rPr>
              <a:t>（</a:t>
            </a:r>
            <a:r>
              <a:rPr lang="zh-CN" altLang="en-US" sz="2800" b="1" dirty="0">
                <a:solidFill>
                  <a:schemeClr val="tx1"/>
                </a:solidFill>
              </a:rPr>
              <a:t>向制造业学习</a:t>
            </a:r>
            <a:r>
              <a:rPr lang="en-US" altLang="zh-CN" sz="2800" b="1" dirty="0">
                <a:solidFill>
                  <a:schemeClr val="tx1"/>
                </a:solidFill>
              </a:rPr>
              <a:t>）；</a:t>
            </a:r>
            <a:endParaRPr lang="en-US" altLang="zh-CN" sz="2800" b="1" dirty="0">
              <a:solidFill>
                <a:schemeClr val="tx1"/>
              </a:solidFill>
            </a:endParaRPr>
          </a:p>
          <a:p>
            <a:pPr marL="0" indent="457200" algn="l" fontAlgn="auto">
              <a:lnSpc>
                <a:spcPct val="150000"/>
              </a:lnSpc>
              <a:buNone/>
            </a:pPr>
            <a:r>
              <a:rPr lang="en-US" altLang="zh-CN" sz="2800" b="1" dirty="0">
                <a:solidFill>
                  <a:schemeClr val="tx1"/>
                </a:solidFill>
              </a:rPr>
              <a:t>——</a:t>
            </a:r>
            <a:r>
              <a:rPr lang="zh-CN" altLang="en-US" sz="2800" b="1" dirty="0">
                <a:solidFill>
                  <a:schemeClr val="tx1"/>
                </a:solidFill>
              </a:rPr>
              <a:t>高效的运行体系</a:t>
            </a:r>
            <a:r>
              <a:rPr lang="en-US" altLang="zh-CN" sz="2800" b="1" dirty="0">
                <a:solidFill>
                  <a:schemeClr val="tx1"/>
                </a:solidFill>
              </a:rPr>
              <a:t>（</a:t>
            </a:r>
            <a:r>
              <a:rPr lang="zh-CN" altLang="en-US" sz="2800" b="1" dirty="0">
                <a:solidFill>
                  <a:srgbClr val="FF0000"/>
                </a:solidFill>
              </a:rPr>
              <a:t>流程</a:t>
            </a:r>
            <a:r>
              <a:rPr lang="en-US" altLang="zh-CN" sz="2800" b="1" dirty="0">
                <a:solidFill>
                  <a:srgbClr val="FF0000"/>
                </a:solidFill>
              </a:rPr>
              <a:t>/</a:t>
            </a:r>
            <a:r>
              <a:rPr lang="zh-CN" altLang="en-US" sz="2800" b="1" dirty="0">
                <a:solidFill>
                  <a:srgbClr val="FF0000"/>
                </a:solidFill>
              </a:rPr>
              <a:t>制度库</a:t>
            </a:r>
            <a:r>
              <a:rPr lang="en-US" altLang="zh-CN" sz="2800" b="1" dirty="0">
                <a:solidFill>
                  <a:schemeClr val="tx1"/>
                </a:solidFill>
              </a:rPr>
              <a:t>）；</a:t>
            </a:r>
            <a:endParaRPr lang="en-US" altLang="zh-CN" sz="2800" b="1" dirty="0">
              <a:solidFill>
                <a:schemeClr val="tx1"/>
              </a:solidFill>
            </a:endParaRPr>
          </a:p>
          <a:p>
            <a:pPr marL="0" indent="457200" algn="l" fontAlgn="auto">
              <a:lnSpc>
                <a:spcPct val="150000"/>
              </a:lnSpc>
              <a:buNone/>
            </a:pPr>
            <a:r>
              <a:rPr lang="en-US" altLang="zh-CN" sz="2800" b="1" dirty="0">
                <a:solidFill>
                  <a:schemeClr val="tx1"/>
                </a:solidFill>
              </a:rPr>
              <a:t>——</a:t>
            </a:r>
            <a:r>
              <a:rPr lang="zh-CN" altLang="en-US" sz="2800" b="1" dirty="0">
                <a:solidFill>
                  <a:schemeClr val="tx1"/>
                </a:solidFill>
              </a:rPr>
              <a:t>强有力的成本管理；</a:t>
            </a:r>
            <a:endParaRPr lang="zh-CN" altLang="en-US" sz="2800" b="1" dirty="0">
              <a:solidFill>
                <a:schemeClr val="tx1"/>
              </a:solidFill>
            </a:endParaRPr>
          </a:p>
          <a:p>
            <a:pPr marL="0" indent="457200" algn="l" fontAlgn="auto">
              <a:lnSpc>
                <a:spcPct val="150000"/>
              </a:lnSpc>
              <a:buNone/>
            </a:pPr>
            <a:r>
              <a:rPr lang="en-US" altLang="zh-CN" sz="2800" b="1" dirty="0">
                <a:solidFill>
                  <a:schemeClr val="tx1"/>
                </a:solidFill>
              </a:rPr>
              <a:t>——</a:t>
            </a:r>
            <a:r>
              <a:rPr lang="zh-CN" altLang="en-US" sz="2800" b="1" dirty="0">
                <a:solidFill>
                  <a:schemeClr val="tx1"/>
                </a:solidFill>
              </a:rPr>
              <a:t>集权化的管控。</a:t>
            </a: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41425" y="1218565"/>
            <a:ext cx="10055225" cy="5307965"/>
          </a:xfrm>
        </p:spPr>
        <p:txBody>
          <a:bodyPr>
            <a:noAutofit/>
          </a:bodyPr>
          <a:lstStyle/>
          <a:p>
            <a:pPr marL="0" indent="457200" algn="l" fontAlgn="auto">
              <a:lnSpc>
                <a:spcPct val="150000"/>
              </a:lnSpc>
              <a:buNone/>
            </a:pPr>
            <a:r>
              <a:rPr lang="en-US" altLang="zh-CN" sz="2800" b="1" dirty="0">
                <a:solidFill>
                  <a:schemeClr val="tx1"/>
                </a:solidFill>
              </a:rPr>
              <a:t>"</a:t>
            </a:r>
            <a:r>
              <a:rPr lang="zh-CN" altLang="en-US" sz="2800" b="1" dirty="0">
                <a:solidFill>
                  <a:schemeClr val="tx1"/>
                </a:solidFill>
              </a:rPr>
              <a:t>我们有一个最底线的标准，就是做简单，而非做复杂；做开放，而非做封闭；做规范，而非做谋权，唯有这样才是长久之计。</a:t>
            </a:r>
            <a:r>
              <a:rPr lang="en-US" altLang="zh-CN" sz="2800" b="1" dirty="0">
                <a:solidFill>
                  <a:schemeClr val="tx1"/>
                </a:solidFill>
              </a:rPr>
              <a:t>"</a:t>
            </a:r>
            <a:endParaRPr lang="en-US" altLang="zh-CN" sz="2800" b="1" dirty="0">
              <a:solidFill>
                <a:schemeClr val="tx1"/>
              </a:solidFill>
            </a:endParaRPr>
          </a:p>
          <a:p>
            <a:pPr marL="0" indent="457200" algn="r" fontAlgn="auto">
              <a:lnSpc>
                <a:spcPct val="150000"/>
              </a:lnSpc>
              <a:buNone/>
            </a:pPr>
            <a:r>
              <a:rPr lang="en-US" altLang="zh-CN" sz="2800" b="1" dirty="0">
                <a:solidFill>
                  <a:schemeClr val="tx1"/>
                </a:solidFill>
              </a:rPr>
              <a:t>——</a:t>
            </a:r>
            <a:r>
              <a:rPr lang="zh-CN" altLang="en-US" sz="2800" b="1" dirty="0">
                <a:solidFill>
                  <a:schemeClr val="tx1"/>
                </a:solidFill>
              </a:rPr>
              <a:t>万科原董事长王石</a:t>
            </a: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fld id="{2B2480BF-4544-46C3-88FF-29CB4BD8896C}" type="slidenum">
              <a:rPr lang="zh-CN" altLang="en-US" smtClean="0"/>
            </a:fld>
            <a:endParaRPr lang="zh-CN" altLang="en-US"/>
          </a:p>
        </p:txBody>
      </p:sp>
      <p:pic>
        <p:nvPicPr>
          <p:cNvPr id="5" name="图片 4" descr="业务流程图1"/>
          <p:cNvPicPr>
            <a:picLocks noChangeAspect="1"/>
          </p:cNvPicPr>
          <p:nvPr/>
        </p:nvPicPr>
        <p:blipFill>
          <a:blip r:embed="rId1"/>
          <a:stretch>
            <a:fillRect/>
          </a:stretch>
        </p:blipFill>
        <p:spPr>
          <a:xfrm>
            <a:off x="1543685" y="1021715"/>
            <a:ext cx="8574405" cy="5937885"/>
          </a:xfrm>
          <a:prstGeom prst="rect">
            <a:avLst/>
          </a:prstGeom>
        </p:spPr>
      </p:pic>
      <p:sp>
        <p:nvSpPr>
          <p:cNvPr id="6" name="标题 5"/>
          <p:cNvSpPr>
            <a:spLocks noGrp="1"/>
          </p:cNvSpPr>
          <p:nvPr>
            <p:ph type="title"/>
          </p:nvPr>
        </p:nvSpPr>
        <p:spPr>
          <a:xfrm>
            <a:off x="610077" y="152083"/>
            <a:ext cx="7707524" cy="1371600"/>
          </a:xfrm>
        </p:spPr>
        <p:txBody>
          <a:bodyPr>
            <a:normAutofit/>
          </a:bodyPr>
          <a:lstStyle/>
          <a:p>
            <a:pPr algn="l">
              <a:buClrTx/>
              <a:buSzTx/>
              <a:buFontTx/>
            </a:pPr>
            <a:r>
              <a:rPr lang="zh-CN" sz="3600" b="1" dirty="0" smtClean="0"/>
              <a:t>一级流程示例：营销业务流程</a:t>
            </a:r>
            <a:endParaRPr lang="en-US" altLang="zh-CN" sz="3600" b="1" dirty="0" smtClean="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66775" y="892175"/>
            <a:ext cx="10487025" cy="5307965"/>
          </a:xfrm>
        </p:spPr>
        <p:txBody>
          <a:bodyPr>
            <a:noAutofit/>
          </a:bodyPr>
          <a:lstStyle/>
          <a:p>
            <a:pPr marL="0" indent="457200" algn="l" fontAlgn="auto">
              <a:lnSpc>
                <a:spcPct val="150000"/>
              </a:lnSpc>
              <a:buNone/>
            </a:pPr>
            <a:r>
              <a:rPr lang="zh-CN" altLang="en-US" sz="2800" b="1" dirty="0">
                <a:solidFill>
                  <a:srgbClr val="7030A0"/>
                </a:solidFill>
              </a:rPr>
              <a:t>其二，制作二级流程</a:t>
            </a:r>
            <a:endParaRPr lang="zh-CN" altLang="en-US" sz="2800" b="1" dirty="0">
              <a:solidFill>
                <a:srgbClr val="7030A0"/>
              </a:solidFill>
            </a:endParaRPr>
          </a:p>
          <a:p>
            <a:pPr marL="0" indent="457200" algn="l" fontAlgn="auto">
              <a:lnSpc>
                <a:spcPct val="150000"/>
              </a:lnSpc>
              <a:buNone/>
            </a:pPr>
            <a:r>
              <a:rPr lang="zh-CN" altLang="en-US" sz="2800" b="1" dirty="0">
                <a:solidFill>
                  <a:schemeClr val="tx1"/>
                </a:solidFill>
              </a:rPr>
              <a:t>二级流程也就是</a:t>
            </a:r>
            <a:r>
              <a:rPr lang="zh-CN" altLang="en-US" sz="2800" b="1" dirty="0">
                <a:solidFill>
                  <a:srgbClr val="00B050"/>
                </a:solidFill>
              </a:rPr>
              <a:t>跨部门</a:t>
            </a:r>
            <a:r>
              <a:rPr lang="zh-CN" altLang="en-US" sz="2800" b="1" dirty="0">
                <a:solidFill>
                  <a:schemeClr val="tx1"/>
                </a:solidFill>
              </a:rPr>
              <a:t>流程</a:t>
            </a:r>
            <a:r>
              <a:rPr lang="en-US" altLang="zh-CN" sz="2800" b="1" dirty="0">
                <a:solidFill>
                  <a:schemeClr val="tx1"/>
                </a:solidFill>
              </a:rPr>
              <a:t>！</a:t>
            </a:r>
            <a:endParaRPr lang="en-US" altLang="zh-CN" sz="2800" b="1" dirty="0">
              <a:solidFill>
                <a:schemeClr val="tx1"/>
              </a:solidFill>
            </a:endParaRPr>
          </a:p>
          <a:p>
            <a:pPr marL="0" indent="457200" algn="l" fontAlgn="auto">
              <a:lnSpc>
                <a:spcPct val="150000"/>
              </a:lnSpc>
              <a:buNone/>
            </a:pPr>
            <a:r>
              <a:rPr lang="zh-CN" altLang="en-US" sz="2800" b="1" dirty="0">
                <a:solidFill>
                  <a:schemeClr val="tx1"/>
                </a:solidFill>
              </a:rPr>
              <a:t>一级流程的不同节点多数是由不同部门实施的，每个节点的业务通常是不同班组协作完成的，这就形成了子流程，即跨班组的二级流程。</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二级流程的关键节点未必都会细化分解下去，生成三级流程，这要看该节点涉及的</a:t>
            </a:r>
            <a:r>
              <a:rPr lang="en-US" altLang="zh-CN" sz="2800" b="1" dirty="0">
                <a:solidFill>
                  <a:schemeClr val="tx1"/>
                </a:solidFill>
              </a:rPr>
              <a:t>"</a:t>
            </a:r>
            <a:r>
              <a:rPr lang="zh-CN" altLang="en-US" sz="2800" b="1" dirty="0">
                <a:solidFill>
                  <a:schemeClr val="tx1"/>
                </a:solidFill>
              </a:rPr>
              <a:t>活动</a:t>
            </a:r>
            <a:r>
              <a:rPr lang="en-US" altLang="zh-CN" sz="2800" b="1" dirty="0">
                <a:solidFill>
                  <a:schemeClr val="tx1"/>
                </a:solidFill>
              </a:rPr>
              <a:t>"</a:t>
            </a:r>
            <a:r>
              <a:rPr lang="zh-CN" altLang="en-US" sz="2800" b="1" dirty="0">
                <a:solidFill>
                  <a:schemeClr val="tx1"/>
                </a:solidFill>
              </a:rPr>
              <a:t>及</a:t>
            </a:r>
            <a:r>
              <a:rPr lang="en-US" altLang="zh-CN" sz="2800" b="1" dirty="0">
                <a:solidFill>
                  <a:schemeClr val="tx1"/>
                </a:solidFill>
              </a:rPr>
              <a:t>“</a:t>
            </a:r>
            <a:r>
              <a:rPr lang="zh-CN" altLang="en-US" sz="2800" b="1" dirty="0">
                <a:solidFill>
                  <a:schemeClr val="tx1"/>
                </a:solidFill>
              </a:rPr>
              <a:t>角色</a:t>
            </a:r>
            <a:r>
              <a:rPr lang="en-US" altLang="zh-CN" sz="2800" b="1" dirty="0">
                <a:solidFill>
                  <a:schemeClr val="tx1"/>
                </a:solidFill>
              </a:rPr>
              <a:t>”</a:t>
            </a:r>
            <a:r>
              <a:rPr lang="zh-CN" altLang="en-US" sz="2800" b="1" dirty="0">
                <a:solidFill>
                  <a:schemeClr val="tx1"/>
                </a:solidFill>
              </a:rPr>
              <a:t>是否复杂。</a:t>
            </a: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66775" y="584200"/>
            <a:ext cx="10487025" cy="5307965"/>
          </a:xfrm>
        </p:spPr>
        <p:txBody>
          <a:bodyPr>
            <a:noAutofit/>
          </a:bodyPr>
          <a:lstStyle/>
          <a:p>
            <a:pPr marL="0" indent="457200" algn="l" fontAlgn="auto">
              <a:lnSpc>
                <a:spcPct val="150000"/>
              </a:lnSpc>
              <a:buNone/>
            </a:pPr>
            <a:r>
              <a:rPr lang="zh-CN" altLang="en-US" sz="2800" b="1" dirty="0">
                <a:solidFill>
                  <a:srgbClr val="7030A0"/>
                </a:solidFill>
              </a:rPr>
              <a:t>跨职能流程的呈现形式：</a:t>
            </a:r>
            <a:endParaRPr lang="zh-CN" altLang="en-US" sz="2800" b="1" dirty="0">
              <a:solidFill>
                <a:srgbClr val="7030A0"/>
              </a:solidFill>
            </a:endParaRPr>
          </a:p>
          <a:p>
            <a:pPr marL="0" indent="457200" algn="l" fontAlgn="auto">
              <a:lnSpc>
                <a:spcPct val="150000"/>
              </a:lnSpc>
              <a:buNone/>
            </a:pPr>
            <a:endParaRPr lang="zh-CN" altLang="en-US" sz="2800" b="1" dirty="0">
              <a:solidFill>
                <a:srgbClr val="7030A0"/>
              </a:solidFill>
            </a:endParaRPr>
          </a:p>
          <a:p>
            <a:pPr marL="0" indent="457200" algn="ctr" fontAlgn="auto">
              <a:lnSpc>
                <a:spcPct val="150000"/>
              </a:lnSpc>
              <a:buNone/>
            </a:pPr>
            <a:r>
              <a:rPr lang="zh-CN" altLang="en-US" sz="2800" b="1" dirty="0">
                <a:solidFill>
                  <a:srgbClr val="00B050"/>
                </a:solidFill>
              </a:rPr>
              <a:t>流程图</a:t>
            </a:r>
            <a:r>
              <a:rPr lang="en-US" altLang="zh-CN" sz="2800" b="1" dirty="0">
                <a:solidFill>
                  <a:srgbClr val="00B050"/>
                </a:solidFill>
              </a:rPr>
              <a:t>+</a:t>
            </a:r>
            <a:r>
              <a:rPr lang="zh-CN" altLang="en-US" sz="2800" b="1" dirty="0">
                <a:solidFill>
                  <a:srgbClr val="00B050"/>
                </a:solidFill>
              </a:rPr>
              <a:t>流程说明文件</a:t>
            </a:r>
            <a:endParaRPr lang="zh-CN" altLang="en-US" sz="2800" b="1" dirty="0">
              <a:solidFill>
                <a:srgbClr val="00B050"/>
              </a:solidFill>
            </a:endParaRPr>
          </a:p>
          <a:p>
            <a:pPr marL="0" indent="457200" algn="ctr" fontAlgn="auto">
              <a:lnSpc>
                <a:spcPct val="150000"/>
              </a:lnSpc>
              <a:buNone/>
            </a:pPr>
            <a:endParaRPr lang="zh-CN" altLang="en-US" sz="2800" b="1" dirty="0">
              <a:solidFill>
                <a:srgbClr val="00B050"/>
              </a:solidFill>
            </a:endParaRPr>
          </a:p>
          <a:p>
            <a:pPr marL="0" indent="457200" algn="ctr" fontAlgn="auto">
              <a:lnSpc>
                <a:spcPct val="150000"/>
              </a:lnSpc>
              <a:buNone/>
            </a:pPr>
            <a:r>
              <a:rPr lang="zh-CN" altLang="en-US" sz="2800" b="1" dirty="0">
                <a:solidFill>
                  <a:srgbClr val="FF0000"/>
                </a:solidFill>
              </a:rPr>
              <a:t>图文并茂、层次清晰</a:t>
            </a:r>
            <a:endParaRPr lang="zh-CN" altLang="en-US" sz="2800" b="1" dirty="0">
              <a:solidFill>
                <a:srgbClr val="FF0000"/>
              </a:solidFill>
            </a:endParaRPr>
          </a:p>
          <a:p>
            <a:pPr marL="0" indent="457200" algn="l" fontAlgn="auto">
              <a:lnSpc>
                <a:spcPct val="150000"/>
              </a:lnSpc>
              <a:buNone/>
            </a:pPr>
            <a:endParaRPr lang="zh-CN" altLang="en-US"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
        <p:nvSpPr>
          <p:cNvPr id="11" name="右大括号 10"/>
          <p:cNvSpPr/>
          <p:nvPr/>
        </p:nvSpPr>
        <p:spPr>
          <a:xfrm rot="5400000" flipV="1">
            <a:off x="6191250" y="1939290"/>
            <a:ext cx="325120" cy="2978785"/>
          </a:xfrm>
          <a:prstGeom prst="rightBrace">
            <a:avLst>
              <a:gd name="adj1" fmla="val 8333"/>
              <a:gd name="adj2" fmla="val 50000"/>
            </a:avLst>
          </a:prstGeom>
          <a:ln w="31750" cap="rnd">
            <a:solidFill>
              <a:schemeClr val="tx1"/>
            </a:solidFill>
            <a:round/>
          </a:ln>
        </p:spPr>
        <p:style>
          <a:lnRef idx="0">
            <a:srgbClr val="FFFFFF"/>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32155" y="508000"/>
            <a:ext cx="10727690" cy="6028055"/>
          </a:xfrm>
        </p:spPr>
        <p:txBody>
          <a:bodyPr>
            <a:noAutofit/>
          </a:bodyPr>
          <a:lstStyle/>
          <a:p>
            <a:pPr marL="0" indent="457200" algn="l" fontAlgn="auto">
              <a:lnSpc>
                <a:spcPct val="150000"/>
              </a:lnSpc>
              <a:buNone/>
            </a:pPr>
            <a:r>
              <a:rPr lang="zh-CN" altLang="en-US" sz="3200" b="1" dirty="0">
                <a:solidFill>
                  <a:srgbClr val="7030A0"/>
                </a:solidFill>
              </a:rPr>
              <a:t>流程图的符号：</a:t>
            </a:r>
            <a:endParaRPr lang="zh-CN" altLang="en-US" sz="3200" b="1" dirty="0">
              <a:solidFill>
                <a:srgbClr val="7030A0"/>
              </a:solidFill>
            </a:endParaRPr>
          </a:p>
          <a:p>
            <a:pPr marL="0" indent="457200" algn="l" fontAlgn="auto">
              <a:lnSpc>
                <a:spcPct val="150000"/>
              </a:lnSpc>
              <a:buNone/>
            </a:pPr>
            <a:endParaRPr lang="zh-CN" altLang="en-US" b="1" dirty="0">
              <a:solidFill>
                <a:schemeClr val="tx1"/>
              </a:solidFill>
            </a:endParaRPr>
          </a:p>
          <a:p>
            <a:pPr marL="0" indent="457200" algn="l" fontAlgn="auto">
              <a:lnSpc>
                <a:spcPct val="150000"/>
              </a:lnSpc>
              <a:buNone/>
            </a:pPr>
            <a:r>
              <a:rPr lang="zh-CN" altLang="en-US" b="1" dirty="0">
                <a:solidFill>
                  <a:schemeClr val="tx1"/>
                </a:solidFill>
              </a:rPr>
              <a:t>流程的开始或结束</a:t>
            </a:r>
            <a:r>
              <a:rPr lang="en-US" altLang="zh-CN" b="1" dirty="0">
                <a:solidFill>
                  <a:schemeClr val="tx1"/>
                </a:solidFill>
              </a:rPr>
              <a:t>              </a:t>
            </a:r>
            <a:r>
              <a:rPr lang="zh-CN" altLang="en-US" b="1" dirty="0">
                <a:solidFill>
                  <a:schemeClr val="tx1"/>
                </a:solidFill>
              </a:rPr>
              <a:t>具体任务或工作</a:t>
            </a:r>
            <a:r>
              <a:rPr lang="en-US" altLang="zh-CN" b="1" dirty="0">
                <a:solidFill>
                  <a:schemeClr val="tx1"/>
                </a:solidFill>
              </a:rPr>
              <a:t>            </a:t>
            </a:r>
            <a:r>
              <a:rPr lang="zh-CN" altLang="en-US" b="1" dirty="0">
                <a:solidFill>
                  <a:schemeClr val="tx1"/>
                </a:solidFill>
              </a:rPr>
              <a:t>决策、判断、审批</a:t>
            </a:r>
            <a:endParaRPr lang="zh-CN" altLang="en-US" b="1" dirty="0">
              <a:solidFill>
                <a:schemeClr val="tx1"/>
              </a:solidFill>
            </a:endParaRPr>
          </a:p>
          <a:p>
            <a:pPr marL="0" indent="457200" algn="l" fontAlgn="auto">
              <a:lnSpc>
                <a:spcPct val="150000"/>
              </a:lnSpc>
              <a:buNone/>
            </a:pPr>
            <a:endParaRPr lang="zh-CN" altLang="en-US" b="1" dirty="0">
              <a:solidFill>
                <a:schemeClr val="tx1"/>
              </a:solidFill>
            </a:endParaRPr>
          </a:p>
          <a:p>
            <a:pPr marL="0" indent="457200" algn="l" fontAlgn="auto">
              <a:lnSpc>
                <a:spcPct val="150000"/>
              </a:lnSpc>
              <a:buNone/>
            </a:pPr>
            <a:r>
              <a:rPr lang="en-US" altLang="zh-CN" b="1" dirty="0">
                <a:sym typeface="+mn-ea"/>
              </a:rPr>
              <a:t>     </a:t>
            </a:r>
            <a:r>
              <a:rPr lang="zh-CN" altLang="en-US" b="1" dirty="0">
                <a:sym typeface="+mn-ea"/>
              </a:rPr>
              <a:t>单向流程线</a:t>
            </a:r>
            <a:r>
              <a:rPr lang="en-US" altLang="zh-CN" b="1" dirty="0">
                <a:sym typeface="+mn-ea"/>
              </a:rPr>
              <a:t>                      </a:t>
            </a:r>
            <a:r>
              <a:rPr lang="zh-CN" altLang="en-US" b="1" dirty="0">
                <a:sym typeface="+mn-ea"/>
              </a:rPr>
              <a:t>双向流程线</a:t>
            </a:r>
            <a:r>
              <a:rPr lang="en-US" altLang="zh-CN" b="1" dirty="0">
                <a:sym typeface="+mn-ea"/>
              </a:rPr>
              <a:t>              </a:t>
            </a:r>
            <a:r>
              <a:rPr lang="zh-CN" altLang="en-US" b="1" dirty="0">
                <a:sym typeface="+mn-ea"/>
              </a:rPr>
              <a:t>两项工作跨越、不相交</a:t>
            </a:r>
            <a:endParaRPr lang="zh-CN" altLang="en-US" b="1" dirty="0">
              <a:sym typeface="+mn-ea"/>
            </a:endParaRPr>
          </a:p>
          <a:p>
            <a:pPr marL="0" indent="457200" algn="l" fontAlgn="auto">
              <a:lnSpc>
                <a:spcPct val="150000"/>
              </a:lnSpc>
              <a:buNone/>
            </a:pPr>
            <a:endParaRPr lang="zh-CN" altLang="en-US" b="1" dirty="0">
              <a:sym typeface="+mn-ea"/>
            </a:endParaRPr>
          </a:p>
          <a:p>
            <a:pPr marL="0" indent="457200" algn="l" fontAlgn="auto">
              <a:lnSpc>
                <a:spcPct val="100000"/>
              </a:lnSpc>
              <a:buNone/>
            </a:pPr>
            <a:r>
              <a:rPr lang="en-US" altLang="zh-CN" b="1" dirty="0">
                <a:sym typeface="+mn-ea"/>
              </a:rPr>
              <a:t>   </a:t>
            </a:r>
            <a:endParaRPr lang="en-US" altLang="zh-CN" b="1" dirty="0">
              <a:sym typeface="+mn-ea"/>
            </a:endParaRPr>
          </a:p>
          <a:p>
            <a:pPr marL="0" indent="457200" algn="l" fontAlgn="auto">
              <a:lnSpc>
                <a:spcPct val="100000"/>
              </a:lnSpc>
              <a:buNone/>
            </a:pPr>
            <a:r>
              <a:rPr lang="en-US" altLang="zh-CN" b="1" dirty="0">
                <a:sym typeface="+mn-ea"/>
              </a:rPr>
              <a:t>    </a:t>
            </a:r>
            <a:r>
              <a:rPr lang="zh-CN" altLang="en-US" b="1" dirty="0">
                <a:sym typeface="+mn-ea"/>
              </a:rPr>
              <a:t>两项工作连接</a:t>
            </a:r>
            <a:r>
              <a:rPr lang="en-US" altLang="zh-CN" b="1" dirty="0">
                <a:sym typeface="+mn-ea"/>
              </a:rPr>
              <a:t>                     </a:t>
            </a:r>
            <a:r>
              <a:rPr lang="zh-CN" altLang="en-US" b="1" dirty="0">
                <a:sym typeface="+mn-ea"/>
              </a:rPr>
              <a:t>数据表单</a:t>
            </a:r>
            <a:r>
              <a:rPr lang="en-US" altLang="zh-CN" b="1" dirty="0">
                <a:sym typeface="+mn-ea"/>
              </a:rPr>
              <a:t>                           </a:t>
            </a:r>
            <a:r>
              <a:rPr lang="zh-CN" altLang="en-US" b="1" dirty="0">
                <a:sym typeface="+mn-ea"/>
              </a:rPr>
              <a:t>文档</a:t>
            </a:r>
            <a:r>
              <a:rPr lang="en-US" altLang="zh-CN" b="1" dirty="0">
                <a:sym typeface="+mn-ea"/>
              </a:rPr>
              <a:t>             </a:t>
            </a:r>
            <a:endParaRPr lang="zh-CN" altLang="en-US" b="1" dirty="0">
              <a:solidFill>
                <a:schemeClr val="tx1"/>
              </a:solidFill>
              <a:sym typeface="+mn-ea"/>
            </a:endParaRPr>
          </a:p>
        </p:txBody>
      </p:sp>
      <p:sp>
        <p:nvSpPr>
          <p:cNvPr id="2" name="椭圆 1"/>
          <p:cNvSpPr/>
          <p:nvPr/>
        </p:nvSpPr>
        <p:spPr>
          <a:xfrm>
            <a:off x="1737995" y="1398270"/>
            <a:ext cx="1517650" cy="691515"/>
          </a:xfrm>
          <a:prstGeom prst="ellipse">
            <a:avLst/>
          </a:prstGeom>
          <a:ln w="28575"/>
          <a:extLst>
            <a:ext uri="{909E8E84-426E-40DD-AFC4-6F175D3DCCD1}">
              <a14:hiddenFill xmlns:a14="http://schemas.microsoft.com/office/drawing/2010/main">
                <a:solidFill>
                  <a:schemeClr val="accent1"/>
                </a:solidFill>
              </a14:hiddenFill>
            </a:ext>
          </a:extLst>
        </p:spPr>
        <p:style>
          <a:lnRef idx="3">
            <a:prstClr val="black"/>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5" name="矩形 4"/>
          <p:cNvSpPr/>
          <p:nvPr/>
        </p:nvSpPr>
        <p:spPr>
          <a:xfrm>
            <a:off x="5316855" y="1412240"/>
            <a:ext cx="1302385" cy="672465"/>
          </a:xfrm>
          <a:prstGeom prst="rect">
            <a:avLst/>
          </a:prstGeom>
          <a:ln w="28575"/>
          <a:extLst>
            <a:ext uri="{909E8E84-426E-40DD-AFC4-6F175D3DCCD1}">
              <a14:hiddenFill xmlns:a14="http://schemas.microsoft.com/office/drawing/2010/main">
                <a:solidFill>
                  <a:schemeClr val="accent1"/>
                </a:solidFill>
              </a14:hiddenFill>
            </a:ext>
          </a:extLst>
        </p:spPr>
        <p:style>
          <a:lnRef idx="3">
            <a:prstClr val="black"/>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6" name="菱形 5"/>
          <p:cNvSpPr/>
          <p:nvPr/>
        </p:nvSpPr>
        <p:spPr>
          <a:xfrm>
            <a:off x="8680450" y="1398270"/>
            <a:ext cx="1383030" cy="691515"/>
          </a:xfrm>
          <a:prstGeom prst="diamond">
            <a:avLst/>
          </a:prstGeom>
          <a:ln w="28575"/>
          <a:extLst>
            <a:ext uri="{909E8E84-426E-40DD-AFC4-6F175D3DCCD1}">
              <a14:hiddenFill xmlns:a14="http://schemas.microsoft.com/office/drawing/2010/main">
                <a:solidFill>
                  <a:schemeClr val="accent1"/>
                </a:solidFill>
              </a14:hiddenFill>
            </a:ext>
          </a:extLst>
        </p:spPr>
        <p:style>
          <a:lnRef idx="3">
            <a:prstClr val="black"/>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cxnSp>
        <p:nvCxnSpPr>
          <p:cNvPr id="7" name="直接箭头连接符 6"/>
          <p:cNvCxnSpPr/>
          <p:nvPr/>
        </p:nvCxnSpPr>
        <p:spPr>
          <a:xfrm>
            <a:off x="1738630" y="3275330"/>
            <a:ext cx="1517650" cy="0"/>
          </a:xfrm>
          <a:prstGeom prst="straightConnector1">
            <a:avLst/>
          </a:prstGeom>
          <a:ln w="31750" cap="rnd">
            <a:solidFill>
              <a:prstClr val="black"/>
            </a:solidFill>
            <a:round/>
            <a:tailEnd type="arrow" w="med" len="med"/>
          </a:ln>
        </p:spPr>
        <p:style>
          <a:lnRef idx="0">
            <a:srgbClr val="FFFFFF"/>
          </a:lnRef>
          <a:fillRef idx="0">
            <a:srgbClr val="FFFFFF"/>
          </a:fillRef>
          <a:effectRef idx="0">
            <a:srgbClr val="FFFFFF"/>
          </a:effectRef>
          <a:fontRef idx="minor">
            <a:schemeClr val="tx1"/>
          </a:fontRef>
        </p:style>
      </p:cxnSp>
      <p:cxnSp>
        <p:nvCxnSpPr>
          <p:cNvPr id="8" name="直接箭头连接符 7"/>
          <p:cNvCxnSpPr/>
          <p:nvPr/>
        </p:nvCxnSpPr>
        <p:spPr>
          <a:xfrm>
            <a:off x="5215255" y="3275330"/>
            <a:ext cx="1556385" cy="0"/>
          </a:xfrm>
          <a:prstGeom prst="straightConnector1">
            <a:avLst/>
          </a:prstGeom>
          <a:ln w="31750" cap="rnd">
            <a:solidFill>
              <a:prstClr val="black"/>
            </a:solidFill>
            <a:round/>
            <a:headEnd type="arrow" w="med" len="med"/>
            <a:tailEnd type="arrow" w="med" len="med"/>
          </a:ln>
        </p:spPr>
        <p:style>
          <a:lnRef idx="0">
            <a:srgbClr val="FFFFFF"/>
          </a:lnRef>
          <a:fillRef idx="0">
            <a:srgbClr val="FFFFFF"/>
          </a:fillRef>
          <a:effectRef idx="0">
            <a:srgbClr val="FFFFFF"/>
          </a:effectRef>
          <a:fontRef idx="minor">
            <a:schemeClr val="tx1"/>
          </a:fontRef>
        </p:style>
      </p:cxnSp>
      <p:sp>
        <p:nvSpPr>
          <p:cNvPr id="16" name="任意多边形 15"/>
          <p:cNvSpPr/>
          <p:nvPr/>
        </p:nvSpPr>
        <p:spPr>
          <a:xfrm>
            <a:off x="8388985" y="3034030"/>
            <a:ext cx="1779905" cy="305435"/>
          </a:xfrm>
          <a:custGeom>
            <a:avLst/>
            <a:gdLst>
              <a:gd name="connisteX0" fmla="*/ 0 w 2244185"/>
              <a:gd name="connsiteY0" fmla="*/ 279422 h 305577"/>
              <a:gd name="connisteX1" fmla="*/ 977900 w 2244185"/>
              <a:gd name="connsiteY1" fmla="*/ 279422 h 305577"/>
              <a:gd name="connisteX2" fmla="*/ 1193800 w 2244185"/>
              <a:gd name="connsiteY2" fmla="*/ 22 h 305577"/>
              <a:gd name="connisteX3" fmla="*/ 1447800 w 2244185"/>
              <a:gd name="connsiteY3" fmla="*/ 266722 h 305577"/>
              <a:gd name="connisteX4" fmla="*/ 2159000 w 2244185"/>
              <a:gd name="connsiteY4" fmla="*/ 266722 h 305577"/>
              <a:gd name="connisteX5" fmla="*/ 2209800 w 2244185"/>
              <a:gd name="connsiteY5" fmla="*/ 266722 h 30557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2244185" h="305577">
                <a:moveTo>
                  <a:pt x="0" y="279422"/>
                </a:moveTo>
                <a:cubicBezTo>
                  <a:pt x="191135" y="285137"/>
                  <a:pt x="739140" y="335302"/>
                  <a:pt x="977900" y="279422"/>
                </a:cubicBezTo>
                <a:cubicBezTo>
                  <a:pt x="1216660" y="223542"/>
                  <a:pt x="1099820" y="2562"/>
                  <a:pt x="1193800" y="22"/>
                </a:cubicBezTo>
                <a:cubicBezTo>
                  <a:pt x="1287780" y="-2518"/>
                  <a:pt x="1254760" y="213382"/>
                  <a:pt x="1447800" y="266722"/>
                </a:cubicBezTo>
                <a:cubicBezTo>
                  <a:pt x="1640840" y="320062"/>
                  <a:pt x="2006600" y="266722"/>
                  <a:pt x="2159000" y="266722"/>
                </a:cubicBezTo>
                <a:cubicBezTo>
                  <a:pt x="2311400" y="266722"/>
                  <a:pt x="2213610" y="266722"/>
                  <a:pt x="2209800" y="266722"/>
                </a:cubicBezTo>
              </a:path>
            </a:pathLst>
          </a:custGeom>
          <a:ln w="31750" cap="rnd">
            <a:solidFill>
              <a:prstClr val="black"/>
            </a:solidFill>
            <a:round/>
          </a:ln>
        </p:spPr>
        <p:style>
          <a:lnRef idx="0">
            <a:srgbClr val="FFFFFF"/>
          </a:lnRef>
          <a:fillRef idx="0">
            <a:srgbClr val="FFFFFF"/>
          </a:fillRef>
          <a:effectRef idx="0">
            <a:srgbClr val="FFFFFF"/>
          </a:effectRef>
          <a:fontRef idx="minor">
            <a:schemeClr val="tx1"/>
          </a:fontRef>
        </p:style>
        <p:txBody>
          <a:bodyPr rtlCol="0" anchor="ctr"/>
          <a:p>
            <a:pPr algn="ctr"/>
            <a:endParaRPr lang="zh-CN" altLang="en-US"/>
          </a:p>
        </p:txBody>
      </p:sp>
      <p:cxnSp>
        <p:nvCxnSpPr>
          <p:cNvPr id="17" name="直接箭头连接符 16"/>
          <p:cNvCxnSpPr/>
          <p:nvPr/>
        </p:nvCxnSpPr>
        <p:spPr>
          <a:xfrm>
            <a:off x="1738630" y="5031740"/>
            <a:ext cx="1517650" cy="0"/>
          </a:xfrm>
          <a:prstGeom prst="straightConnector1">
            <a:avLst/>
          </a:prstGeom>
          <a:ln w="31750" cap="rnd">
            <a:solidFill>
              <a:prstClr val="black"/>
            </a:solidFill>
            <a:round/>
            <a:tailEnd type="arrow" w="med" len="med"/>
          </a:ln>
        </p:spPr>
        <p:style>
          <a:lnRef idx="0">
            <a:srgbClr val="FFFFFF"/>
          </a:lnRef>
          <a:fillRef idx="0">
            <a:srgbClr val="FFFFFF"/>
          </a:fillRef>
          <a:effectRef idx="0">
            <a:srgbClr val="FFFFFF"/>
          </a:effectRef>
          <a:fontRef idx="minor">
            <a:schemeClr val="tx1"/>
          </a:fontRef>
        </p:style>
      </p:cxnSp>
      <p:cxnSp>
        <p:nvCxnSpPr>
          <p:cNvPr id="18" name="直接连接符 17"/>
          <p:cNvCxnSpPr/>
          <p:nvPr/>
        </p:nvCxnSpPr>
        <p:spPr>
          <a:xfrm flipV="1">
            <a:off x="2496820" y="4561840"/>
            <a:ext cx="0" cy="469900"/>
          </a:xfrm>
          <a:prstGeom prst="line">
            <a:avLst/>
          </a:prstGeom>
          <a:ln w="31750" cap="rnd">
            <a:solidFill>
              <a:prstClr val="black"/>
            </a:solidFill>
            <a:round/>
          </a:ln>
        </p:spPr>
        <p:style>
          <a:lnRef idx="0">
            <a:srgbClr val="FFFFFF"/>
          </a:lnRef>
          <a:fillRef idx="0">
            <a:srgbClr val="FFFFFF"/>
          </a:fillRef>
          <a:effectRef idx="0">
            <a:srgbClr val="FFFFFF"/>
          </a:effectRef>
          <a:fontRef idx="minor">
            <a:schemeClr val="tx1"/>
          </a:fontRef>
        </p:style>
      </p:cxnSp>
      <p:sp>
        <p:nvSpPr>
          <p:cNvPr id="9" name="流程图: 磁盘 8"/>
          <p:cNvSpPr/>
          <p:nvPr/>
        </p:nvSpPr>
        <p:spPr>
          <a:xfrm>
            <a:off x="5370830" y="4499610"/>
            <a:ext cx="1193800" cy="643890"/>
          </a:xfrm>
          <a:prstGeom prst="flowChartMagneticDisk">
            <a:avLst/>
          </a:prstGeom>
          <a:ln w="28575"/>
          <a:extLst>
            <a:ext uri="{909E8E84-426E-40DD-AFC4-6F175D3DCCD1}">
              <a14:hiddenFill xmlns:a14="http://schemas.microsoft.com/office/drawing/2010/main">
                <a:solidFill>
                  <a:schemeClr val="accent1"/>
                </a:solidFill>
              </a14:hiddenFill>
            </a:ext>
          </a:extLst>
        </p:spPr>
        <p:style>
          <a:lnRef idx="3">
            <a:prstClr val="black"/>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4" name="波形 3"/>
          <p:cNvSpPr/>
          <p:nvPr/>
        </p:nvSpPr>
        <p:spPr>
          <a:xfrm>
            <a:off x="8818880" y="4443730"/>
            <a:ext cx="1106170" cy="755650"/>
          </a:xfrm>
          <a:prstGeom prst="wave">
            <a:avLst/>
          </a:prstGeom>
          <a:ln w="28575"/>
          <a:extLst>
            <a:ext uri="{909E8E84-426E-40DD-AFC4-6F175D3DCCD1}">
              <a14:hiddenFill xmlns:a14="http://schemas.microsoft.com/office/drawing/2010/main">
                <a:solidFill>
                  <a:schemeClr val="accent1"/>
                </a:solidFill>
              </a14:hiddenFill>
            </a:ext>
          </a:extLst>
        </p:spPr>
        <p:style>
          <a:lnRef idx="3">
            <a:prstClr val="black"/>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66775" y="774700"/>
            <a:ext cx="10487025" cy="5307965"/>
          </a:xfrm>
        </p:spPr>
        <p:txBody>
          <a:bodyPr>
            <a:noAutofit/>
          </a:bodyPr>
          <a:lstStyle/>
          <a:p>
            <a:pPr marL="0" indent="457200" algn="l" fontAlgn="auto">
              <a:lnSpc>
                <a:spcPct val="150000"/>
              </a:lnSpc>
              <a:buNone/>
            </a:pPr>
            <a:r>
              <a:rPr lang="zh-CN" altLang="en-US" sz="2800" b="1" dirty="0">
                <a:solidFill>
                  <a:srgbClr val="7030A0"/>
                </a:solidFill>
              </a:rPr>
              <a:t>流程图的关键：</a:t>
            </a:r>
            <a:endParaRPr lang="zh-CN" altLang="en-US" sz="2800" b="1" dirty="0">
              <a:solidFill>
                <a:srgbClr val="7030A0"/>
              </a:solidFill>
            </a:endParaRPr>
          </a:p>
          <a:p>
            <a:pPr marL="0" indent="457200" algn="l" fontAlgn="auto">
              <a:lnSpc>
                <a:spcPct val="150000"/>
              </a:lnSpc>
              <a:buNone/>
            </a:pPr>
            <a:r>
              <a:rPr lang="zh-CN" altLang="en-US" sz="2800" b="1" dirty="0">
                <a:solidFill>
                  <a:schemeClr val="tx1"/>
                </a:solidFill>
              </a:rPr>
              <a:t>整个流程的起始点是什么</a:t>
            </a:r>
            <a:r>
              <a:rPr lang="en-US" altLang="zh-CN" sz="2800" b="1" dirty="0">
                <a:solidFill>
                  <a:schemeClr val="tx1"/>
                </a:solidFill>
              </a:rPr>
              <a:t>，</a:t>
            </a:r>
            <a:r>
              <a:rPr lang="zh-CN" altLang="en-US" sz="2800" b="1" dirty="0">
                <a:solidFill>
                  <a:schemeClr val="tx1"/>
                </a:solidFill>
              </a:rPr>
              <a:t>整个流程的终结点是什么</a:t>
            </a:r>
            <a:r>
              <a:rPr lang="en-US" altLang="zh-CN" sz="2800" b="1" dirty="0">
                <a:solidFill>
                  <a:schemeClr val="tx1"/>
                </a:solidFill>
              </a:rPr>
              <a:t>？</a:t>
            </a:r>
            <a:endParaRPr lang="en-US" altLang="zh-CN" sz="2800" b="1" dirty="0">
              <a:solidFill>
                <a:schemeClr val="tx1"/>
              </a:solidFill>
            </a:endParaRPr>
          </a:p>
          <a:p>
            <a:pPr marL="0" indent="457200" algn="l" fontAlgn="auto">
              <a:lnSpc>
                <a:spcPct val="150000"/>
              </a:lnSpc>
              <a:buNone/>
            </a:pPr>
            <a:r>
              <a:rPr lang="zh-CN" altLang="en-US" sz="2800" b="1" dirty="0">
                <a:solidFill>
                  <a:schemeClr val="tx1"/>
                </a:solidFill>
              </a:rPr>
              <a:t>在整个流程中，涉及的角色都有谁</a:t>
            </a:r>
            <a:r>
              <a:rPr lang="en-US" altLang="zh-CN" sz="2800" b="1" dirty="0">
                <a:solidFill>
                  <a:schemeClr val="tx1"/>
                </a:solidFill>
              </a:rPr>
              <a:t>？</a:t>
            </a:r>
            <a:endParaRPr lang="en-US" altLang="zh-CN" sz="2800" b="1" dirty="0">
              <a:solidFill>
                <a:schemeClr val="tx1"/>
              </a:solidFill>
            </a:endParaRPr>
          </a:p>
          <a:p>
            <a:pPr marL="0" indent="457200" algn="l" fontAlgn="auto">
              <a:lnSpc>
                <a:spcPct val="150000"/>
              </a:lnSpc>
              <a:buNone/>
            </a:pPr>
            <a:r>
              <a:rPr lang="zh-CN" altLang="en-US" sz="2800" b="1" dirty="0">
                <a:solidFill>
                  <a:schemeClr val="tx1"/>
                </a:solidFill>
              </a:rPr>
              <a:t>在整个流程中，都需要做什么事</a:t>
            </a:r>
            <a:r>
              <a:rPr lang="en-US" altLang="zh-CN" sz="2800" b="1" dirty="0">
                <a:solidFill>
                  <a:schemeClr val="tx1"/>
                </a:solidFill>
              </a:rPr>
              <a:t>？</a:t>
            </a:r>
            <a:endParaRPr lang="en-US" altLang="zh-CN" sz="2800" b="1" dirty="0">
              <a:solidFill>
                <a:schemeClr val="tx1"/>
              </a:solidFill>
            </a:endParaRPr>
          </a:p>
          <a:p>
            <a:pPr marL="0" indent="457200" algn="l" fontAlgn="auto">
              <a:lnSpc>
                <a:spcPct val="150000"/>
              </a:lnSpc>
              <a:buNone/>
            </a:pPr>
            <a:r>
              <a:rPr lang="zh-CN" altLang="en-US" sz="2800" b="1" dirty="0">
                <a:solidFill>
                  <a:schemeClr val="tx1"/>
                </a:solidFill>
              </a:rPr>
              <a:t>这些会议和任务是可选的还是必选的</a:t>
            </a:r>
            <a:r>
              <a:rPr lang="en-US" altLang="zh-CN" sz="2800" b="1" dirty="0">
                <a:solidFill>
                  <a:schemeClr val="tx1"/>
                </a:solidFill>
              </a:rPr>
              <a:t>？</a:t>
            </a:r>
            <a:endParaRPr lang="en-US" altLang="zh-CN" sz="2800" b="1" dirty="0">
              <a:solidFill>
                <a:schemeClr val="tx1"/>
              </a:solidFill>
            </a:endParaRPr>
          </a:p>
          <a:p>
            <a:pPr marL="0" indent="457200" algn="l" fontAlgn="auto">
              <a:lnSpc>
                <a:spcPct val="150000"/>
              </a:lnSpc>
              <a:buNone/>
            </a:pPr>
            <a:r>
              <a:rPr lang="zh-CN" altLang="en-US" sz="2800" b="1" dirty="0">
                <a:solidFill>
                  <a:schemeClr val="tx1"/>
                </a:solidFill>
              </a:rPr>
              <a:t>整个流程需要在什么时间、地点完成</a:t>
            </a:r>
            <a:r>
              <a:rPr lang="en-US" altLang="zh-CN" sz="2800" b="1" dirty="0">
                <a:solidFill>
                  <a:schemeClr val="tx1"/>
                </a:solidFill>
              </a:rPr>
              <a:t>？</a:t>
            </a:r>
            <a:r>
              <a:rPr lang="zh-CN" altLang="en-US" sz="2800" b="1" dirty="0">
                <a:solidFill>
                  <a:schemeClr val="tx1"/>
                </a:solidFill>
              </a:rPr>
              <a:t>分别产出什么文档</a:t>
            </a:r>
            <a:r>
              <a:rPr lang="en-US" altLang="zh-CN" sz="2800" b="1" dirty="0">
                <a:solidFill>
                  <a:schemeClr val="tx1"/>
                </a:solidFill>
              </a:rPr>
              <a:t>？</a:t>
            </a:r>
            <a:endParaRPr lang="en-US" altLang="zh-CN"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62990" y="895985"/>
            <a:ext cx="10066020" cy="5307965"/>
          </a:xfrm>
        </p:spPr>
        <p:txBody>
          <a:bodyPr>
            <a:noAutofit/>
          </a:bodyPr>
          <a:lstStyle/>
          <a:p>
            <a:pPr marL="0" indent="457200" algn="l" fontAlgn="auto">
              <a:lnSpc>
                <a:spcPct val="150000"/>
              </a:lnSpc>
              <a:buNone/>
            </a:pPr>
            <a:r>
              <a:rPr lang="zh-CN" altLang="en-US" sz="2800" b="1" dirty="0">
                <a:solidFill>
                  <a:srgbClr val="7030A0"/>
                </a:solidFill>
              </a:rPr>
              <a:t>流程图的模板：</a:t>
            </a:r>
            <a:endParaRPr lang="zh-CN" altLang="en-US" sz="2800" b="1" dirty="0">
              <a:solidFill>
                <a:srgbClr val="7030A0"/>
              </a:solidFill>
            </a:endParaRPr>
          </a:p>
          <a:p>
            <a:pPr marL="0" indent="457200" algn="l" fontAlgn="auto">
              <a:lnSpc>
                <a:spcPct val="150000"/>
              </a:lnSpc>
              <a:buNone/>
            </a:pPr>
            <a:r>
              <a:rPr lang="zh-CN" altLang="en-US" sz="2800" b="1" dirty="0">
                <a:solidFill>
                  <a:schemeClr val="tx1"/>
                </a:solidFill>
              </a:rPr>
              <a:t>国际通用的</a:t>
            </a:r>
            <a:r>
              <a:rPr lang="en-US" altLang="zh-CN" sz="2800" b="1" dirty="0">
                <a:solidFill>
                  <a:srgbClr val="FF0000"/>
                </a:solidFill>
              </a:rPr>
              <a:t>“</a:t>
            </a:r>
            <a:r>
              <a:rPr lang="zh-CN" altLang="en-US" sz="2800" b="1" dirty="0">
                <a:solidFill>
                  <a:srgbClr val="FF0000"/>
                </a:solidFill>
              </a:rPr>
              <a:t>矩阵式流程图</a:t>
            </a:r>
            <a:r>
              <a:rPr lang="en-US" altLang="zh-CN" sz="2800" b="1" dirty="0">
                <a:solidFill>
                  <a:srgbClr val="FF0000"/>
                </a:solidFill>
              </a:rPr>
              <a:t>”</a:t>
            </a:r>
            <a:endParaRPr lang="en-US" altLang="zh-CN" sz="2800" b="1" dirty="0">
              <a:solidFill>
                <a:schemeClr val="tx1"/>
              </a:solidFill>
            </a:endParaRPr>
          </a:p>
          <a:p>
            <a:pPr marL="0" indent="457200" algn="l" fontAlgn="auto">
              <a:lnSpc>
                <a:spcPct val="150000"/>
              </a:lnSpc>
              <a:buNone/>
            </a:pPr>
            <a:r>
              <a:rPr lang="zh-CN" altLang="en-US" sz="2800" b="1" dirty="0">
                <a:solidFill>
                  <a:schemeClr val="tx1"/>
                </a:solidFill>
              </a:rPr>
              <a:t>纵向表示工作的先后顺序，横向表示承担该项工作的部门和职位。</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通过纵、横两个象限的坐标，可以达到我们的工作要求。</a:t>
            </a: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66775" y="558800"/>
            <a:ext cx="10487025" cy="5307965"/>
          </a:xfrm>
        </p:spPr>
        <p:txBody>
          <a:bodyPr>
            <a:noAutofit/>
          </a:bodyPr>
          <a:lstStyle/>
          <a:p>
            <a:pPr marL="0" indent="457200" algn="l" fontAlgn="auto">
              <a:lnSpc>
                <a:spcPct val="150000"/>
              </a:lnSpc>
              <a:buNone/>
            </a:pPr>
            <a:r>
              <a:rPr lang="zh-CN" altLang="en-US" b="1" dirty="0">
                <a:solidFill>
                  <a:srgbClr val="7030A0"/>
                </a:solidFill>
              </a:rPr>
              <a:t>流程说明文件模板：</a:t>
            </a:r>
            <a:endParaRPr lang="zh-CN" altLang="en-US" b="1" dirty="0">
              <a:solidFill>
                <a:srgbClr val="7030A0"/>
              </a:solidFill>
            </a:endParaRPr>
          </a:p>
          <a:p>
            <a:pPr marL="0" indent="457200" algn="l" fontAlgn="auto">
              <a:lnSpc>
                <a:spcPct val="150000"/>
              </a:lnSpc>
              <a:buNone/>
            </a:pPr>
            <a:r>
              <a:rPr lang="zh-CN" altLang="en-US" b="1" dirty="0">
                <a:solidFill>
                  <a:schemeClr val="tx1"/>
                </a:solidFill>
              </a:rPr>
              <a:t>说明文件一般为三段式结构</a:t>
            </a:r>
            <a:endParaRPr lang="zh-CN" altLang="en-US" b="1" dirty="0">
              <a:solidFill>
                <a:schemeClr val="tx1"/>
              </a:solidFill>
            </a:endParaRPr>
          </a:p>
          <a:p>
            <a:pPr marL="0" indent="457200" algn="l" fontAlgn="auto">
              <a:lnSpc>
                <a:spcPct val="150000"/>
              </a:lnSpc>
              <a:buNone/>
            </a:pPr>
            <a:r>
              <a:rPr lang="zh-CN" altLang="en-US" b="1" dirty="0">
                <a:solidFill>
                  <a:schemeClr val="tx1"/>
                </a:solidFill>
              </a:rPr>
              <a:t>第一段：说明流程发起者或监督者对流程工作或活动的要求，明确指出该流程运行的目标。</a:t>
            </a:r>
            <a:endParaRPr lang="zh-CN" altLang="en-US" b="1" dirty="0">
              <a:solidFill>
                <a:schemeClr val="tx1"/>
              </a:solidFill>
            </a:endParaRPr>
          </a:p>
          <a:p>
            <a:pPr marL="0" indent="457200" algn="l" fontAlgn="auto">
              <a:lnSpc>
                <a:spcPct val="150000"/>
              </a:lnSpc>
              <a:buNone/>
            </a:pPr>
            <a:r>
              <a:rPr lang="zh-CN" altLang="en-US" b="1" dirty="0">
                <a:solidFill>
                  <a:schemeClr val="tx1"/>
                </a:solidFill>
              </a:rPr>
              <a:t>第二段：界定该流程的事务工作或活动内容，明确介绍清楚工作或活动</a:t>
            </a:r>
            <a:r>
              <a:rPr lang="en-US" altLang="zh-CN" b="1" dirty="0">
                <a:solidFill>
                  <a:schemeClr val="tx1"/>
                </a:solidFill>
              </a:rPr>
              <a:t>"</a:t>
            </a:r>
            <a:r>
              <a:rPr lang="zh-CN" altLang="en-US" b="1" dirty="0">
                <a:solidFill>
                  <a:schemeClr val="tx1"/>
                </a:solidFill>
              </a:rPr>
              <a:t>谁做</a:t>
            </a:r>
            <a:r>
              <a:rPr lang="en-US" altLang="zh-CN" b="1" dirty="0">
                <a:solidFill>
                  <a:schemeClr val="tx1"/>
                </a:solidFill>
              </a:rPr>
              <a:t>"</a:t>
            </a:r>
            <a:r>
              <a:rPr lang="zh-CN" altLang="en-US" b="1" dirty="0">
                <a:solidFill>
                  <a:schemeClr val="tx1"/>
                </a:solidFill>
              </a:rPr>
              <a:t>、</a:t>
            </a:r>
            <a:r>
              <a:rPr lang="en-US" altLang="zh-CN" b="1" dirty="0">
                <a:solidFill>
                  <a:schemeClr val="tx1"/>
                </a:solidFill>
              </a:rPr>
              <a:t>"</a:t>
            </a:r>
            <a:r>
              <a:rPr lang="zh-CN" altLang="en-US" b="1" dirty="0">
                <a:solidFill>
                  <a:schemeClr val="tx1"/>
                </a:solidFill>
              </a:rPr>
              <a:t>怎么做</a:t>
            </a:r>
            <a:r>
              <a:rPr lang="en-US" altLang="zh-CN" b="1" dirty="0">
                <a:solidFill>
                  <a:schemeClr val="tx1"/>
                </a:solidFill>
              </a:rPr>
              <a:t>"</a:t>
            </a:r>
            <a:r>
              <a:rPr lang="zh-CN" altLang="en-US" b="1" dirty="0">
                <a:solidFill>
                  <a:schemeClr val="tx1"/>
                </a:solidFill>
              </a:rPr>
              <a:t>、</a:t>
            </a:r>
            <a:r>
              <a:rPr lang="en-US" altLang="zh-CN" b="1" dirty="0">
                <a:solidFill>
                  <a:schemeClr val="tx1"/>
                </a:solidFill>
              </a:rPr>
              <a:t>"</a:t>
            </a:r>
            <a:r>
              <a:rPr lang="zh-CN" altLang="en-US" b="1" dirty="0">
                <a:solidFill>
                  <a:schemeClr val="tx1"/>
                </a:solidFill>
              </a:rPr>
              <a:t>做好的标准</a:t>
            </a:r>
            <a:r>
              <a:rPr lang="en-US" altLang="zh-CN" b="1" dirty="0">
                <a:solidFill>
                  <a:schemeClr val="tx1"/>
                </a:solidFill>
              </a:rPr>
              <a:t>"</a:t>
            </a:r>
            <a:r>
              <a:rPr lang="zh-CN" altLang="en-US" b="1" dirty="0">
                <a:solidFill>
                  <a:schemeClr val="tx1"/>
                </a:solidFill>
              </a:rPr>
              <a:t>三点内容。</a:t>
            </a:r>
            <a:endParaRPr lang="zh-CN" altLang="en-US" b="1" dirty="0">
              <a:solidFill>
                <a:schemeClr val="tx1"/>
              </a:solidFill>
            </a:endParaRPr>
          </a:p>
          <a:p>
            <a:pPr marL="0" indent="457200" algn="l" fontAlgn="auto">
              <a:lnSpc>
                <a:spcPct val="150000"/>
              </a:lnSpc>
              <a:buNone/>
            </a:pPr>
            <a:r>
              <a:rPr lang="zh-CN" altLang="en-US" b="1" dirty="0">
                <a:solidFill>
                  <a:schemeClr val="tx1"/>
                </a:solidFill>
              </a:rPr>
              <a:t>通常按流程进程先后进行文字描述，并用数字对进程的先后标号。此段是流程说明文件的关键和重点。</a:t>
            </a:r>
            <a:endParaRPr lang="zh-CN" altLang="en-US" b="1" dirty="0">
              <a:solidFill>
                <a:schemeClr val="tx1"/>
              </a:solidFill>
            </a:endParaRPr>
          </a:p>
          <a:p>
            <a:pPr marL="0" indent="457200" algn="l" fontAlgn="auto">
              <a:lnSpc>
                <a:spcPct val="150000"/>
              </a:lnSpc>
              <a:buNone/>
            </a:pPr>
            <a:r>
              <a:rPr lang="zh-CN" altLang="en-US" b="1" dirty="0">
                <a:solidFill>
                  <a:schemeClr val="tx1"/>
                </a:solidFill>
              </a:rPr>
              <a:t>第三段：该流程工作或活动运行达到的目的。</a:t>
            </a:r>
            <a:endParaRPr lang="zh-CN" altLang="en-US"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2"/>
          </p:nvPr>
        </p:nvSpPr>
        <p:spPr/>
        <p:txBody>
          <a:bodyPr/>
          <a:p>
            <a:fld id="{2B2480BF-4544-46C3-88FF-29CB4BD8896C}" type="slidenum">
              <a:rPr lang="zh-CN" altLang="en-US" smtClean="0"/>
            </a:fld>
            <a:endParaRPr lang="zh-CN" altLang="en-US"/>
          </a:p>
        </p:txBody>
      </p:sp>
      <p:pic>
        <p:nvPicPr>
          <p:cNvPr id="5" name="图片 4" descr="业务流程图1"/>
          <p:cNvPicPr>
            <a:picLocks noChangeAspect="1"/>
          </p:cNvPicPr>
          <p:nvPr/>
        </p:nvPicPr>
        <p:blipFill>
          <a:blip r:embed="rId1"/>
          <a:stretch>
            <a:fillRect/>
          </a:stretch>
        </p:blipFill>
        <p:spPr>
          <a:xfrm>
            <a:off x="1543685" y="1021715"/>
            <a:ext cx="8574405" cy="5937885"/>
          </a:xfrm>
          <a:prstGeom prst="rect">
            <a:avLst/>
          </a:prstGeom>
        </p:spPr>
      </p:pic>
      <p:sp>
        <p:nvSpPr>
          <p:cNvPr id="6" name="标题 5"/>
          <p:cNvSpPr>
            <a:spLocks noGrp="1"/>
          </p:cNvSpPr>
          <p:nvPr>
            <p:ph type="title"/>
          </p:nvPr>
        </p:nvSpPr>
        <p:spPr>
          <a:xfrm>
            <a:off x="610077" y="152083"/>
            <a:ext cx="7707524" cy="1371600"/>
          </a:xfrm>
        </p:spPr>
        <p:txBody>
          <a:bodyPr>
            <a:normAutofit/>
          </a:bodyPr>
          <a:lstStyle/>
          <a:p>
            <a:pPr algn="l">
              <a:buClrTx/>
              <a:buSzTx/>
              <a:buFontTx/>
            </a:pPr>
            <a:r>
              <a:rPr lang="zh-CN" sz="3600" b="1" dirty="0" smtClean="0"/>
              <a:t>二级流程示例：线索管理</a:t>
            </a:r>
            <a:endParaRPr lang="en-US" altLang="zh-CN" sz="3600" b="1" dirty="0" smtClean="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827135" y="6141901"/>
            <a:ext cx="2743200" cy="365125"/>
          </a:xfrm>
        </p:spPr>
        <p:txBody>
          <a:bodyPr/>
          <a:lstStyle/>
          <a:p>
            <a:fld id="{2B2480BF-4544-46C3-88FF-29CB4BD8896C}" type="slidenum">
              <a:rPr lang="zh-CN" altLang="en-US" b="1" smtClean="0"/>
            </a:fld>
            <a:endParaRPr lang="zh-CN" altLang="en-US" b="1" smtClean="0"/>
          </a:p>
        </p:txBody>
      </p:sp>
      <p:sp>
        <p:nvSpPr>
          <p:cNvPr id="58" name="标题 57"/>
          <p:cNvSpPr>
            <a:spLocks noGrp="1"/>
          </p:cNvSpPr>
          <p:nvPr>
            <p:ph type="title"/>
          </p:nvPr>
        </p:nvSpPr>
        <p:spPr>
          <a:xfrm>
            <a:off x="610235" y="152400"/>
            <a:ext cx="7707630" cy="944880"/>
          </a:xfrm>
        </p:spPr>
        <p:txBody>
          <a:bodyPr>
            <a:normAutofit/>
          </a:bodyPr>
          <a:lstStyle/>
          <a:p>
            <a:pPr algn="l">
              <a:buClrTx/>
              <a:buSzTx/>
              <a:buFontTx/>
            </a:pPr>
            <a:r>
              <a:rPr lang="zh-CN" sz="3600" b="1" dirty="0" smtClean="0"/>
              <a:t>二级流程示例：线索管理</a:t>
            </a:r>
            <a:endParaRPr lang="en-US" altLang="zh-CN" sz="3600" b="1" dirty="0" smtClean="0"/>
          </a:p>
        </p:txBody>
      </p:sp>
      <p:graphicFrame>
        <p:nvGraphicFramePr>
          <p:cNvPr id="150" name="表格 149"/>
          <p:cNvGraphicFramePr/>
          <p:nvPr>
            <p:custDataLst>
              <p:tags r:id="rId1"/>
            </p:custDataLst>
          </p:nvPr>
        </p:nvGraphicFramePr>
        <p:xfrm>
          <a:off x="2807970" y="995680"/>
          <a:ext cx="8465185" cy="5146040"/>
        </p:xfrm>
        <a:graphic>
          <a:graphicData uri="http://schemas.openxmlformats.org/drawingml/2006/table">
            <a:tbl>
              <a:tblPr firstRow="1">
                <a:tableStyleId>{B4426546-50C7-4A87-ACC4-B299252A99B3}</a:tableStyleId>
              </a:tblPr>
              <a:tblGrid>
                <a:gridCol w="631825"/>
                <a:gridCol w="835025"/>
                <a:gridCol w="844550"/>
                <a:gridCol w="3590290"/>
                <a:gridCol w="2563495"/>
              </a:tblGrid>
              <a:tr h="285750">
                <a:tc>
                  <a:txBody>
                    <a:bodyPr/>
                    <a:p>
                      <a:pPr algn="ctr">
                        <a:buNone/>
                      </a:pPr>
                      <a:r>
                        <a:rPr lang="zh-CN" altLang="en-US" sz="1200" b="0">
                          <a:latin typeface="微软雅黑" panose="020B0503020204020204" pitchFamily="34" charset="-122"/>
                          <a:ea typeface="微软雅黑" panose="020B0503020204020204" pitchFamily="34" charset="-122"/>
                        </a:rPr>
                        <a:t>序号</a:t>
                      </a:r>
                      <a:endParaRPr lang="zh-CN" altLang="en-US" sz="12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b="0">
                          <a:latin typeface="微软雅黑" panose="020B0503020204020204" pitchFamily="34" charset="-122"/>
                          <a:ea typeface="微软雅黑" panose="020B0503020204020204" pitchFamily="34" charset="-122"/>
                        </a:rPr>
                        <a:t>子流程</a:t>
                      </a:r>
                      <a:endParaRPr lang="zh-CN" altLang="en-US" sz="12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b="0">
                          <a:latin typeface="微软雅黑" panose="020B0503020204020204" pitchFamily="34" charset="-122"/>
                          <a:ea typeface="微软雅黑" panose="020B0503020204020204" pitchFamily="34" charset="-122"/>
                        </a:rPr>
                        <a:t>负责人</a:t>
                      </a:r>
                      <a:endParaRPr lang="zh-CN" altLang="en-US" sz="12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b="0">
                          <a:latin typeface="微软雅黑" panose="020B0503020204020204" pitchFamily="34" charset="-122"/>
                          <a:ea typeface="微软雅黑" panose="020B0503020204020204" pitchFamily="34" charset="-122"/>
                        </a:rPr>
                        <a:t>执行步骤</a:t>
                      </a:r>
                      <a:endParaRPr lang="zh-CN" altLang="en-US" sz="12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b="0">
                          <a:latin typeface="微软雅黑" panose="020B0503020204020204" pitchFamily="34" charset="-122"/>
                          <a:ea typeface="微软雅黑" panose="020B0503020204020204" pitchFamily="34" charset="-122"/>
                        </a:rPr>
                        <a:t>执行标准</a:t>
                      </a:r>
                      <a:endParaRPr lang="zh-CN" altLang="en-US" sz="1200" b="0">
                        <a:latin typeface="微软雅黑" panose="020B0503020204020204" pitchFamily="34" charset="-122"/>
                        <a:ea typeface="微软雅黑" panose="020B0503020204020204" pitchFamily="34" charset="-122"/>
                      </a:endParaRPr>
                    </a:p>
                  </a:txBody>
                  <a:tcPr anchor="ctr" anchorCtr="0"/>
                </a:tc>
              </a:tr>
              <a:tr h="1810385">
                <a:tc>
                  <a:txBody>
                    <a:bodyPr/>
                    <a:p>
                      <a:pPr algn="ctr">
                        <a:buNone/>
                      </a:pPr>
                      <a:r>
                        <a:rPr lang="en-US" altLang="zh-CN" sz="1200" b="0" cap="all" spc="-60" dirty="0" smtClean="0">
                          <a:latin typeface="微软雅黑" panose="020B0503020204020204" pitchFamily="34" charset="-122"/>
                          <a:ea typeface="微软雅黑" panose="020B0503020204020204" pitchFamily="34" charset="-122"/>
                          <a:cs typeface="微软雅黑" panose="020B0503020204020204" pitchFamily="34" charset="-122"/>
                          <a:sym typeface="+mn-ea"/>
                        </a:rPr>
                        <a:t>1</a:t>
                      </a:r>
                      <a:endParaRPr lang="en-US" altLang="zh-CN" sz="1200" b="0" cap="all" spc="-6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algn="ctr">
                        <a:buClrTx/>
                        <a:buSzTx/>
                        <a:buFontTx/>
                        <a:buNone/>
                      </a:pPr>
                      <a:r>
                        <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sym typeface="+mn-ea"/>
                        </a:rPr>
                        <a:t>线索获取</a:t>
                      </a:r>
                      <a:endPar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algn="ctr">
                        <a:buClrTx/>
                        <a:buSzTx/>
                        <a:buFontTx/>
                        <a:buNone/>
                      </a:pPr>
                      <a:r>
                        <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sym typeface="+mn-ea"/>
                        </a:rPr>
                        <a:t>单元经理</a:t>
                      </a:r>
                      <a:endPar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marL="0" algn="l" eaLnBrk="1" latinLnBrk="0" hangingPunct="1">
                        <a:lnSpc>
                          <a:spcPct val="150000"/>
                        </a:lnSpc>
                        <a:buClrTx/>
                        <a:buSzTx/>
                        <a:buFontTx/>
                      </a:pPr>
                      <a:r>
                        <a:rPr lang="zh-CN" sz="1200" cap="all" spc="-60" dirty="0" smtClean="0">
                          <a:latin typeface="微软雅黑" panose="020B0503020204020204" pitchFamily="34" charset="-122"/>
                          <a:ea typeface="微软雅黑" panose="020B0503020204020204" pitchFamily="34" charset="-122"/>
                          <a:cs typeface="微软雅黑" panose="020B0503020204020204" pitchFamily="34" charset="-122"/>
                          <a:sym typeface="+mn-ea"/>
                        </a:rPr>
                        <a:t>通过市场调研获取相关线索，包括但不限于如下途径：</a:t>
                      </a:r>
                      <a:endParaRPr lang="zh-CN" sz="1200" cap="all" spc="-6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algn="l" eaLnBrk="1" latinLnBrk="0" hangingPunct="1">
                        <a:lnSpc>
                          <a:spcPct val="150000"/>
                        </a:lnSpc>
                        <a:buClrTx/>
                        <a:buSzTx/>
                        <a:buFontTx/>
                      </a:pPr>
                      <a:r>
                        <a:rPr lang="en-US" altLang="zh-CN" sz="1200" cap="all" spc="-60" dirty="0" smtClean="0">
                          <a:solidFill>
                            <a:schemeClr val="tx1"/>
                          </a:solidFill>
                          <a:latin typeface="微软雅黑" panose="020B0503020204020204" pitchFamily="34" charset="-122"/>
                          <a:ea typeface="微软雅黑" panose="020B0503020204020204" pitchFamily="34" charset="-122"/>
                          <a:cs typeface="+mj-cs"/>
                          <a:sym typeface="+mn-ea"/>
                        </a:rPr>
                        <a:t>1</a:t>
                      </a:r>
                      <a:r>
                        <a:rPr lang="zh-CN" altLang="en-US" sz="1200" cap="all" spc="-60" dirty="0" smtClean="0">
                          <a:solidFill>
                            <a:schemeClr val="tx1"/>
                          </a:solidFill>
                          <a:latin typeface="微软雅黑" panose="020B0503020204020204" pitchFamily="34" charset="-122"/>
                          <a:ea typeface="微软雅黑" panose="020B0503020204020204" pitchFamily="34" charset="-122"/>
                          <a:cs typeface="+mj-cs"/>
                          <a:sym typeface="+mn-ea"/>
                        </a:rPr>
                        <a:t>、公司资源整理（联系人、微信、名片、厂商信息、相关表格）</a:t>
                      </a:r>
                      <a:endParaRPr lang="zh-CN" altLang="en-US" sz="1200" cap="all" spc="-60" dirty="0" smtClean="0">
                        <a:solidFill>
                          <a:schemeClr val="tx1"/>
                        </a:solidFill>
                        <a:latin typeface="微软雅黑" panose="020B0503020204020204" pitchFamily="34" charset="-122"/>
                        <a:ea typeface="微软雅黑" panose="020B0503020204020204" pitchFamily="34" charset="-122"/>
                        <a:cs typeface="+mj-cs"/>
                      </a:endParaRPr>
                    </a:p>
                    <a:p>
                      <a:pPr marL="0" algn="l" eaLnBrk="1" latinLnBrk="0" hangingPunct="1">
                        <a:lnSpc>
                          <a:spcPct val="150000"/>
                        </a:lnSpc>
                        <a:buClrTx/>
                        <a:buSzTx/>
                        <a:buFontTx/>
                      </a:pPr>
                      <a:r>
                        <a:rPr lang="en-US" altLang="zh-CN" sz="1200" cap="all" spc="-60" dirty="0" smtClean="0">
                          <a:latin typeface="微软雅黑" panose="020B0503020204020204" pitchFamily="34" charset="-122"/>
                          <a:ea typeface="微软雅黑" panose="020B0503020204020204" pitchFamily="34" charset="-122"/>
                          <a:cs typeface="+mj-cs"/>
                          <a:sym typeface="+mn-ea"/>
                        </a:rPr>
                        <a:t>2</a:t>
                      </a:r>
                      <a:r>
                        <a:rPr lang="zh-CN" altLang="en-US" sz="1200" cap="all" spc="-60" dirty="0" smtClean="0">
                          <a:latin typeface="微软雅黑" panose="020B0503020204020204" pitchFamily="34" charset="-122"/>
                          <a:ea typeface="微软雅黑" panose="020B0503020204020204" pitchFamily="34" charset="-122"/>
                          <a:cs typeface="+mj-cs"/>
                          <a:sym typeface="+mn-ea"/>
                        </a:rPr>
                        <a:t>、协会信息整理（电子信息商会、计算机协会、安防协会）</a:t>
                      </a:r>
                      <a:endParaRPr lang="zh-CN" altLang="en-US" sz="1200" cap="all" spc="-60" dirty="0" smtClean="0">
                        <a:solidFill>
                          <a:schemeClr val="tx1"/>
                        </a:solidFill>
                        <a:latin typeface="微软雅黑" panose="020B0503020204020204" pitchFamily="34" charset="-122"/>
                        <a:ea typeface="微软雅黑" panose="020B0503020204020204" pitchFamily="34" charset="-122"/>
                        <a:cs typeface="+mj-cs"/>
                      </a:endParaRPr>
                    </a:p>
                    <a:p>
                      <a:pPr marL="0" algn="l" eaLnBrk="1" latinLnBrk="0" hangingPunct="1">
                        <a:lnSpc>
                          <a:spcPct val="150000"/>
                        </a:lnSpc>
                        <a:buClrTx/>
                        <a:buSzTx/>
                        <a:buFontTx/>
                      </a:pPr>
                      <a:r>
                        <a:rPr lang="en-US" altLang="zh-CN" sz="1200" cap="all" spc="-60" dirty="0" smtClean="0">
                          <a:solidFill>
                            <a:schemeClr val="tx1"/>
                          </a:solidFill>
                          <a:latin typeface="微软雅黑" panose="020B0503020204020204" pitchFamily="34" charset="-122"/>
                          <a:ea typeface="微软雅黑" panose="020B0503020204020204" pitchFamily="34" charset="-122"/>
                          <a:cs typeface="+mj-cs"/>
                          <a:sym typeface="+mn-ea"/>
                        </a:rPr>
                        <a:t>3</a:t>
                      </a:r>
                      <a:r>
                        <a:rPr lang="zh-CN" altLang="en-US" sz="1200" cap="all" spc="-60" dirty="0" smtClean="0">
                          <a:solidFill>
                            <a:schemeClr val="tx1"/>
                          </a:solidFill>
                          <a:latin typeface="微软雅黑" panose="020B0503020204020204" pitchFamily="34" charset="-122"/>
                          <a:ea typeface="微软雅黑" panose="020B0503020204020204" pitchFamily="34" charset="-122"/>
                          <a:cs typeface="+mj-cs"/>
                          <a:sym typeface="+mn-ea"/>
                        </a:rPr>
                        <a:t>、线上数据搜集（天工网、弱电帮、</a:t>
                      </a:r>
                      <a:r>
                        <a:rPr lang="en-US" altLang="zh-CN" sz="1200" cap="all" spc="-60" dirty="0" smtClean="0">
                          <a:solidFill>
                            <a:schemeClr val="tx1"/>
                          </a:solidFill>
                          <a:latin typeface="微软雅黑" panose="020B0503020204020204" pitchFamily="34" charset="-122"/>
                          <a:ea typeface="微软雅黑" panose="020B0503020204020204" pitchFamily="34" charset="-122"/>
                          <a:cs typeface="+mj-cs"/>
                          <a:sym typeface="+mn-ea"/>
                        </a:rPr>
                        <a:t>BOSS</a:t>
                      </a:r>
                      <a:r>
                        <a:rPr lang="zh-CN" altLang="en-US" sz="1200" cap="all" spc="-60" dirty="0" smtClean="0">
                          <a:solidFill>
                            <a:schemeClr val="tx1"/>
                          </a:solidFill>
                          <a:latin typeface="微软雅黑" panose="020B0503020204020204" pitchFamily="34" charset="-122"/>
                          <a:ea typeface="微软雅黑" panose="020B0503020204020204" pitchFamily="34" charset="-122"/>
                          <a:cs typeface="+mj-cs"/>
                          <a:sym typeface="+mn-ea"/>
                        </a:rPr>
                        <a:t>直聘）</a:t>
                      </a:r>
                      <a:endParaRPr lang="zh-CN" altLang="en-US" sz="1200" b="0" cap="all" spc="-60" dirty="0" smtClean="0">
                        <a:solidFill>
                          <a:schemeClr val="tx1"/>
                        </a:solidFill>
                        <a:latin typeface="微软雅黑" panose="020B0503020204020204" pitchFamily="34" charset="-122"/>
                        <a:ea typeface="微软雅黑" panose="020B0503020204020204" pitchFamily="34" charset="-122"/>
                        <a:cs typeface="+mj-cs"/>
                        <a:sym typeface="+mn-ea"/>
                      </a:endParaRPr>
                    </a:p>
                  </a:txBody>
                  <a:tcPr anchor="ctr" anchorCtr="0"/>
                </a:tc>
                <a:tc>
                  <a:txBody>
                    <a:bodyPr/>
                    <a:p>
                      <a:pPr marL="342900" indent="-342900" algn="l">
                        <a:lnSpc>
                          <a:spcPct val="150000"/>
                        </a:lnSpc>
                        <a:buClrTx/>
                        <a:buSzTx/>
                        <a:buFont typeface="+mj-ea"/>
                        <a:buAutoNum type="circleNumDbPlain"/>
                      </a:pPr>
                      <a:r>
                        <a:rPr lang="zh-CN" altLang="en-US" sz="1200" b="0" cap="all" spc="-60" dirty="0" smtClean="0">
                          <a:solidFill>
                            <a:srgbClr val="000000"/>
                          </a:solidFill>
                          <a:latin typeface="微软雅黑" panose="020B0503020204020204" pitchFamily="34" charset="-122"/>
                          <a:ea typeface="微软雅黑" panose="020B0503020204020204" pitchFamily="34" charset="-122"/>
                          <a:sym typeface="+mn-ea"/>
                        </a:rPr>
                        <a:t>线索需要清晰有效，至少包括如下三个字段：姓名、公司、电话。</a:t>
                      </a:r>
                      <a:endParaRPr lang="zh-CN" altLang="en-US" sz="1200" b="0" cap="all" spc="-60" dirty="0" smtClean="0">
                        <a:solidFill>
                          <a:srgbClr val="000000"/>
                        </a:solidFill>
                        <a:latin typeface="微软雅黑" panose="020B0503020204020204" pitchFamily="34" charset="-122"/>
                        <a:ea typeface="微软雅黑" panose="020B0503020204020204" pitchFamily="34" charset="-122"/>
                        <a:sym typeface="+mn-ea"/>
                      </a:endParaRPr>
                    </a:p>
                  </a:txBody>
                  <a:tcPr anchor="ctr" anchorCtr="0"/>
                </a:tc>
              </a:tr>
              <a:tr h="1239520">
                <a:tc>
                  <a:txBody>
                    <a:bodyPr/>
                    <a:p>
                      <a:pPr algn="ctr">
                        <a:buNone/>
                      </a:pPr>
                      <a:r>
                        <a:rPr lang="en-US" altLang="zh-CN" sz="1200" b="0" cap="all" spc="-60" dirty="0" smtClean="0">
                          <a:latin typeface="微软雅黑" panose="020B0503020204020204" pitchFamily="34" charset="-122"/>
                          <a:ea typeface="微软雅黑" panose="020B0503020204020204" pitchFamily="34" charset="-122"/>
                          <a:cs typeface="微软雅黑" panose="020B0503020204020204" pitchFamily="34" charset="-122"/>
                          <a:sym typeface="+mn-ea"/>
                        </a:rPr>
                        <a:t>2</a:t>
                      </a:r>
                      <a:endParaRPr lang="en-US" altLang="zh-CN" sz="1200" b="0" cap="all" spc="-6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algn="ctr">
                        <a:buNone/>
                      </a:pPr>
                      <a:r>
                        <a:rPr lang="zh-CN" altLang="en-US" sz="1200" cap="all" spc="-60" dirty="0" smtClean="0">
                          <a:latin typeface="微软雅黑" panose="020B0503020204020204" pitchFamily="34" charset="-122"/>
                          <a:ea typeface="微软雅黑" panose="020B0503020204020204" pitchFamily="34" charset="-122"/>
                          <a:cs typeface="微软雅黑" panose="020B0503020204020204" pitchFamily="34" charset="-122"/>
                          <a:sym typeface="+mn-ea"/>
                        </a:rPr>
                        <a:t>线索分配</a:t>
                      </a:r>
                      <a:endPar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algn="ctr">
                        <a:buClrTx/>
                        <a:buSzTx/>
                        <a:buFontTx/>
                        <a:buNone/>
                      </a:pPr>
                      <a:r>
                        <a:rPr lang="zh-CN" altLang="en-US" sz="1200" cap="all" spc="-60" dirty="0" smtClean="0">
                          <a:latin typeface="微软雅黑" panose="020B0503020204020204" pitchFamily="34" charset="-122"/>
                          <a:ea typeface="微软雅黑" panose="020B0503020204020204" pitchFamily="34" charset="-122"/>
                          <a:cs typeface="微软雅黑" panose="020B0503020204020204" pitchFamily="34" charset="-122"/>
                          <a:sym typeface="+mn-ea"/>
                        </a:rPr>
                        <a:t>单元经理</a:t>
                      </a:r>
                      <a:endParaRPr lang="zh-CN" altLang="en-US" sz="1200" b="0" cap="all" spc="-60" dirty="0" smtClean="0">
                        <a:ln>
                          <a:solidFill>
                            <a:srgbClr val="0070C0"/>
                          </a:solidFill>
                        </a:ln>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marL="342900" indent="-342900" algn="l" eaLnBrk="1" latinLnBrk="0" hangingPunct="1">
                        <a:lnSpc>
                          <a:spcPct val="150000"/>
                        </a:lnSpc>
                        <a:buClrTx/>
                        <a:buSzTx/>
                        <a:buFont typeface="+mj-ea"/>
                        <a:buAutoNum type="circleNumDbPlain"/>
                      </a:pPr>
                      <a:r>
                        <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在《线索池》中选择</a:t>
                      </a:r>
                      <a:r>
                        <a:rPr lang="en-US" altLang="zh-CN"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未分配的</a:t>
                      </a:r>
                      <a:r>
                        <a:rPr lang="en-US" altLang="zh-CN"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具体线索；</a:t>
                      </a:r>
                      <a:endPar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l" eaLnBrk="1" latinLnBrk="0" hangingPunct="1">
                        <a:lnSpc>
                          <a:spcPct val="150000"/>
                        </a:lnSpc>
                        <a:buClrTx/>
                        <a:buSzTx/>
                        <a:buFont typeface="+mj-ea"/>
                        <a:buAutoNum type="circleNumDbPlain"/>
                      </a:pPr>
                      <a:r>
                        <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点击</a:t>
                      </a:r>
                      <a:r>
                        <a:rPr lang="en-US" altLang="zh-CN"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分配</a:t>
                      </a:r>
                      <a:r>
                        <a:rPr lang="en-US" altLang="zh-CN"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，将线索分配给具体的销售顾问。</a:t>
                      </a:r>
                      <a:endPar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marL="342900" indent="-342900" algn="l">
                        <a:lnSpc>
                          <a:spcPct val="150000"/>
                        </a:lnSpc>
                        <a:buClrTx/>
                        <a:buSzTx/>
                        <a:buFont typeface="+mj-ea"/>
                        <a:buAutoNum type="circleNumDbPlain"/>
                      </a:pPr>
                      <a:r>
                        <a:rPr lang="zh-CN" altLang="en-US" sz="1200" cap="all" spc="-60" dirty="0" smtClean="0">
                          <a:solidFill>
                            <a:srgbClr val="000000"/>
                          </a:solidFill>
                          <a:latin typeface="微软雅黑" panose="020B0503020204020204" pitchFamily="34" charset="-122"/>
                          <a:ea typeface="微软雅黑" panose="020B0503020204020204" pitchFamily="34" charset="-122"/>
                          <a:sym typeface="+mn-ea"/>
                        </a:rPr>
                        <a:t>按照销售顾问的具体情况进行分配。</a:t>
                      </a:r>
                      <a:endParaRPr lang="zh-CN" altLang="en-US" sz="1200" cap="all" spc="-60" dirty="0" smtClean="0">
                        <a:solidFill>
                          <a:srgbClr val="000000"/>
                        </a:solidFill>
                        <a:latin typeface="微软雅黑" panose="020B0503020204020204" pitchFamily="34" charset="-122"/>
                        <a:ea typeface="微软雅黑" panose="020B0503020204020204" pitchFamily="34" charset="-122"/>
                        <a:sym typeface="+mn-ea"/>
                      </a:endParaRPr>
                    </a:p>
                    <a:p>
                      <a:pPr marL="342900" indent="-342900" algn="l">
                        <a:lnSpc>
                          <a:spcPct val="150000"/>
                        </a:lnSpc>
                        <a:buClrTx/>
                        <a:buSzTx/>
                        <a:buFont typeface="+mj-ea"/>
                        <a:buAutoNum type="circleNumDbPlain"/>
                      </a:pPr>
                      <a:r>
                        <a:rPr lang="zh-CN" altLang="en-US" sz="1200" b="0" cap="all" spc="-60" dirty="0" smtClean="0">
                          <a:solidFill>
                            <a:srgbClr val="000000"/>
                          </a:solidFill>
                          <a:latin typeface="微软雅黑" panose="020B0503020204020204" pitchFamily="34" charset="-122"/>
                          <a:ea typeface="微软雅黑" panose="020B0503020204020204" pitchFamily="34" charset="-122"/>
                          <a:sym typeface="+mn-ea"/>
                        </a:rPr>
                        <a:t>每位销售顾问同时负责的线索不超过</a:t>
                      </a:r>
                      <a:r>
                        <a:rPr lang="en-US" altLang="zh-CN" sz="1200" b="0" cap="all" spc="-60" dirty="0" smtClean="0">
                          <a:solidFill>
                            <a:srgbClr val="000000"/>
                          </a:solidFill>
                          <a:latin typeface="微软雅黑" panose="020B0503020204020204" pitchFamily="34" charset="-122"/>
                          <a:ea typeface="微软雅黑" panose="020B0503020204020204" pitchFamily="34" charset="-122"/>
                          <a:sym typeface="+mn-ea"/>
                        </a:rPr>
                        <a:t>50</a:t>
                      </a:r>
                      <a:r>
                        <a:rPr lang="zh-CN" altLang="en-US" sz="1200" b="0" cap="all" spc="-60" dirty="0" smtClean="0">
                          <a:solidFill>
                            <a:srgbClr val="000000"/>
                          </a:solidFill>
                          <a:latin typeface="微软雅黑" panose="020B0503020204020204" pitchFamily="34" charset="-122"/>
                          <a:ea typeface="微软雅黑" panose="020B0503020204020204" pitchFamily="34" charset="-122"/>
                          <a:sym typeface="+mn-ea"/>
                        </a:rPr>
                        <a:t>条。</a:t>
                      </a:r>
                      <a:endParaRPr lang="zh-CN" altLang="en-US" sz="1200" b="0" cap="all" spc="-60" dirty="0" smtClean="0">
                        <a:solidFill>
                          <a:srgbClr val="000000"/>
                        </a:solidFill>
                        <a:latin typeface="微软雅黑" panose="020B0503020204020204" pitchFamily="34" charset="-122"/>
                        <a:ea typeface="微软雅黑" panose="020B0503020204020204" pitchFamily="34" charset="-122"/>
                        <a:sym typeface="+mn-ea"/>
                      </a:endParaRPr>
                    </a:p>
                  </a:txBody>
                  <a:tcPr anchor="ctr" anchorCtr="0"/>
                </a:tc>
              </a:tr>
              <a:tr h="1810385">
                <a:tc>
                  <a:txBody>
                    <a:bodyPr/>
                    <a:p>
                      <a:pPr algn="ctr">
                        <a:buNone/>
                      </a:pPr>
                      <a:r>
                        <a:rPr lang="en-US" altLang="zh-CN" sz="1200" b="0" cap="all" spc="-60" dirty="0" smtClean="0">
                          <a:latin typeface="微软雅黑" panose="020B0503020204020204" pitchFamily="34" charset="-122"/>
                          <a:ea typeface="微软雅黑" panose="020B0503020204020204" pitchFamily="34" charset="-122"/>
                          <a:cs typeface="微软雅黑" panose="020B0503020204020204" pitchFamily="34" charset="-122"/>
                          <a:sym typeface="+mn-ea"/>
                        </a:rPr>
                        <a:t>3</a:t>
                      </a:r>
                      <a:endParaRPr lang="en-US" altLang="zh-CN" sz="1200" b="0" cap="all" spc="-6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algn="ctr">
                        <a:buNone/>
                      </a:pPr>
                      <a:r>
                        <a:rPr lang="zh-CN" altLang="en-US" sz="1200" cap="all" spc="-60" dirty="0" smtClean="0">
                          <a:latin typeface="微软雅黑" panose="020B0503020204020204" pitchFamily="34" charset="-122"/>
                          <a:ea typeface="微软雅黑" panose="020B0503020204020204" pitchFamily="34" charset="-122"/>
                          <a:cs typeface="微软雅黑" panose="020B0503020204020204" pitchFamily="34" charset="-122"/>
                          <a:sym typeface="+mn-ea"/>
                        </a:rPr>
                        <a:t>线索跟进</a:t>
                      </a:r>
                      <a:endPar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algn="ctr">
                        <a:buNone/>
                      </a:pPr>
                      <a:r>
                        <a:rPr lang="zh-CN" altLang="en-US" sz="1200" cap="all" spc="-60" dirty="0" smtClean="0">
                          <a:latin typeface="微软雅黑" panose="020B0503020204020204" pitchFamily="34" charset="-122"/>
                          <a:ea typeface="微软雅黑" panose="020B0503020204020204" pitchFamily="34" charset="-122"/>
                          <a:cs typeface="微软雅黑" panose="020B0503020204020204" pitchFamily="34" charset="-122"/>
                          <a:sym typeface="+mn-ea"/>
                        </a:rPr>
                        <a:t>销售顾问</a:t>
                      </a:r>
                      <a:endPar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marL="342900" indent="-342900" algn="l" eaLnBrk="1" latinLnBrk="0" hangingPunct="1">
                        <a:lnSpc>
                          <a:spcPct val="150000"/>
                        </a:lnSpc>
                        <a:buFont typeface="+mj-ea"/>
                        <a:buAutoNum type="circleNumDbPlain"/>
                      </a:pPr>
                      <a:r>
                        <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销售顾问在《销售线索》</a:t>
                      </a:r>
                      <a:r>
                        <a:rPr lang="en-US" altLang="zh-CN"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待我跟进的</a:t>
                      </a:r>
                      <a:r>
                        <a:rPr lang="en-US" altLang="zh-CN"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列表中查看需要跟进的线索；</a:t>
                      </a:r>
                      <a:endPar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l" eaLnBrk="1" latinLnBrk="0" hangingPunct="1">
                        <a:lnSpc>
                          <a:spcPct val="150000"/>
                        </a:lnSpc>
                        <a:buFont typeface="+mj-ea"/>
                        <a:buAutoNum type="circleNumDbPlain"/>
                      </a:pPr>
                      <a:r>
                        <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使用标准话术进行电话联系，预约客户拜访；</a:t>
                      </a:r>
                      <a:endPar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l" eaLnBrk="1" latinLnBrk="0" hangingPunct="1">
                        <a:lnSpc>
                          <a:spcPct val="150000"/>
                        </a:lnSpc>
                        <a:buFont typeface="+mj-ea"/>
                        <a:buAutoNum type="circleNumDbPlain"/>
                      </a:pPr>
                      <a:r>
                        <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点击</a:t>
                      </a:r>
                      <a:r>
                        <a:rPr lang="en-US" altLang="zh-CN"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跟进中</a:t>
                      </a:r>
                      <a:r>
                        <a:rPr lang="en-US" altLang="zh-CN"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记录线索跟进结果，并确定下一次跟进时间；</a:t>
                      </a:r>
                      <a:endPar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l" eaLnBrk="1" latinLnBrk="0" hangingPunct="1">
                        <a:lnSpc>
                          <a:spcPct val="150000"/>
                        </a:lnSpc>
                        <a:buFont typeface="+mj-ea"/>
                        <a:buAutoNum type="circleNumDbPlain"/>
                      </a:pPr>
                      <a:r>
                        <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若</a:t>
                      </a:r>
                      <a:r>
                        <a:rPr lang="zh-CN"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无法拜访</a:t>
                      </a:r>
                      <a:r>
                        <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则点击</a:t>
                      </a:r>
                      <a:r>
                        <a:rPr lang="en-US" altLang="zh-CN"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退回</a:t>
                      </a:r>
                      <a:r>
                        <a:rPr lang="en-US" altLang="zh-CN"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rPr>
                        <a:t>并反馈线索退回原因。</a:t>
                      </a:r>
                      <a:endParaRPr lang="zh-CN" altLang="en-US" sz="1200" b="0" cap="all" spc="-60" dirty="0" smtClean="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c>
                  <a:txBody>
                    <a:bodyPr/>
                    <a:p>
                      <a:pPr marL="342900" indent="-342900" algn="l">
                        <a:lnSpc>
                          <a:spcPct val="150000"/>
                        </a:lnSpc>
                        <a:buClrTx/>
                        <a:buSzTx/>
                        <a:buFont typeface="+mj-ea"/>
                        <a:buAutoNum type="circleNumDbPlain"/>
                      </a:pPr>
                      <a:r>
                        <a:rPr lang="zh-CN" altLang="en-US" sz="1200" cap="all" spc="-60" dirty="0" smtClean="0">
                          <a:solidFill>
                            <a:srgbClr val="000000"/>
                          </a:solidFill>
                          <a:latin typeface="微软雅黑" panose="020B0503020204020204" pitchFamily="34" charset="-122"/>
                          <a:ea typeface="微软雅黑" panose="020B0503020204020204" pitchFamily="34" charset="-122"/>
                          <a:sym typeface="+mn-ea"/>
                        </a:rPr>
                        <a:t>销售顾问须在获得销售线索</a:t>
                      </a:r>
                      <a:r>
                        <a:rPr lang="en-US" altLang="zh-CN" sz="1200" cap="all" spc="-60" dirty="0" smtClean="0">
                          <a:latin typeface="微软雅黑" panose="020B0503020204020204" pitchFamily="34" charset="-122"/>
                          <a:ea typeface="微软雅黑" panose="020B0503020204020204" pitchFamily="34" charset="-122"/>
                          <a:sym typeface="+mn-ea"/>
                        </a:rPr>
                        <a:t>72</a:t>
                      </a:r>
                      <a:r>
                        <a:rPr lang="zh-CN" altLang="en-US" sz="1200" cap="all" spc="-60" dirty="0" smtClean="0">
                          <a:latin typeface="微软雅黑" panose="020B0503020204020204" pitchFamily="34" charset="-122"/>
                          <a:ea typeface="微软雅黑" panose="020B0503020204020204" pitchFamily="34" charset="-122"/>
                          <a:sym typeface="+mn-ea"/>
                        </a:rPr>
                        <a:t>小时</a:t>
                      </a:r>
                      <a:r>
                        <a:rPr lang="zh-CN" altLang="en-US" sz="1200" cap="all" spc="-60" dirty="0" smtClean="0">
                          <a:solidFill>
                            <a:srgbClr val="000000"/>
                          </a:solidFill>
                          <a:latin typeface="微软雅黑" panose="020B0503020204020204" pitchFamily="34" charset="-122"/>
                          <a:ea typeface="微软雅黑" panose="020B0503020204020204" pitchFamily="34" charset="-122"/>
                          <a:sym typeface="+mn-ea"/>
                        </a:rPr>
                        <a:t>内联系客户并记录跟进结果。</a:t>
                      </a:r>
                      <a:endParaRPr lang="zh-CN" altLang="en-US" sz="1200" cap="all" spc="-60" dirty="0" smtClean="0">
                        <a:solidFill>
                          <a:srgbClr val="000000"/>
                        </a:solidFill>
                        <a:latin typeface="微软雅黑" panose="020B0503020204020204" pitchFamily="34" charset="-122"/>
                        <a:ea typeface="微软雅黑" panose="020B0503020204020204" pitchFamily="34" charset="-122"/>
                        <a:sym typeface="+mn-ea"/>
                      </a:endParaRPr>
                    </a:p>
                    <a:p>
                      <a:pPr marL="342900" indent="-342900" algn="l">
                        <a:lnSpc>
                          <a:spcPct val="150000"/>
                        </a:lnSpc>
                        <a:buClrTx/>
                        <a:buSzTx/>
                        <a:buFont typeface="+mj-ea"/>
                        <a:buAutoNum type="circleNumDbPlain"/>
                      </a:pPr>
                      <a:r>
                        <a:rPr lang="zh-CN" altLang="en-US" sz="1200" cap="all" spc="-60" dirty="0" smtClean="0">
                          <a:solidFill>
                            <a:srgbClr val="000000"/>
                          </a:solidFill>
                          <a:latin typeface="微软雅黑" panose="020B0503020204020204" pitchFamily="34" charset="-122"/>
                          <a:ea typeface="微软雅黑" panose="020B0503020204020204" pitchFamily="34" charset="-122"/>
                          <a:sym typeface="+mn-ea"/>
                        </a:rPr>
                        <a:t>若无法有效联系则需要在</a:t>
                      </a:r>
                      <a:r>
                        <a:rPr lang="en-US" altLang="zh-CN" sz="1200" cap="all" spc="-60" dirty="0" smtClean="0">
                          <a:solidFill>
                            <a:srgbClr val="000000"/>
                          </a:solidFill>
                          <a:latin typeface="微软雅黑" panose="020B0503020204020204" pitchFamily="34" charset="-122"/>
                          <a:ea typeface="微软雅黑" panose="020B0503020204020204" pitchFamily="34" charset="-122"/>
                          <a:sym typeface="+mn-ea"/>
                        </a:rPr>
                        <a:t>72</a:t>
                      </a:r>
                      <a:r>
                        <a:rPr lang="zh-CN" altLang="en-US" sz="1200" cap="all" spc="-60" dirty="0" smtClean="0">
                          <a:solidFill>
                            <a:srgbClr val="000000"/>
                          </a:solidFill>
                          <a:latin typeface="微软雅黑" panose="020B0503020204020204" pitchFamily="34" charset="-122"/>
                          <a:ea typeface="微软雅黑" panose="020B0503020204020204" pitchFamily="34" charset="-122"/>
                          <a:sym typeface="+mn-ea"/>
                        </a:rPr>
                        <a:t>小时内再次联系；</a:t>
                      </a:r>
                      <a:endParaRPr lang="zh-CN" altLang="en-US" sz="1200" b="0" cap="all" spc="-60" dirty="0" smtClean="0">
                        <a:solidFill>
                          <a:srgbClr val="000000"/>
                        </a:solidFill>
                        <a:latin typeface="微软雅黑" panose="020B0503020204020204" pitchFamily="34" charset="-122"/>
                        <a:ea typeface="微软雅黑" panose="020B0503020204020204" pitchFamily="34" charset="-122"/>
                      </a:endParaRPr>
                    </a:p>
                    <a:p>
                      <a:pPr marL="342900" indent="-342900" algn="l">
                        <a:lnSpc>
                          <a:spcPct val="150000"/>
                        </a:lnSpc>
                        <a:buClrTx/>
                        <a:buSzTx/>
                        <a:buFont typeface="+mj-ea"/>
                        <a:buAutoNum type="circleNumDbPlain"/>
                      </a:pPr>
                      <a:r>
                        <a:rPr lang="en-US" altLang="zh-CN" sz="1200" cap="all" spc="-60" dirty="0" smtClean="0">
                          <a:solidFill>
                            <a:srgbClr val="000000"/>
                          </a:solidFill>
                          <a:latin typeface="微软雅黑" panose="020B0503020204020204" pitchFamily="34" charset="-122"/>
                          <a:ea typeface="微软雅黑" panose="020B0503020204020204" pitchFamily="34" charset="-122"/>
                          <a:sym typeface="+mn-ea"/>
                        </a:rPr>
                        <a:t>3</a:t>
                      </a:r>
                      <a:r>
                        <a:rPr lang="zh-CN" altLang="en-US" sz="1200" cap="all" spc="-60" dirty="0" smtClean="0">
                          <a:solidFill>
                            <a:srgbClr val="000000"/>
                          </a:solidFill>
                          <a:latin typeface="微软雅黑" panose="020B0503020204020204" pitchFamily="34" charset="-122"/>
                          <a:ea typeface="微软雅黑" panose="020B0503020204020204" pitchFamily="34" charset="-122"/>
                          <a:sym typeface="+mn-ea"/>
                        </a:rPr>
                        <a:t>次以上无法联系或</a:t>
                      </a:r>
                      <a:r>
                        <a:rPr lang="en-US" sz="1200" cap="all" spc="-60" dirty="0" smtClean="0">
                          <a:solidFill>
                            <a:srgbClr val="000000"/>
                          </a:solidFill>
                          <a:latin typeface="微软雅黑" panose="020B0503020204020204" pitchFamily="34" charset="-122"/>
                          <a:ea typeface="微软雅黑" panose="020B0503020204020204" pitchFamily="34" charset="-122"/>
                          <a:sym typeface="+mn-ea"/>
                        </a:rPr>
                        <a:t>1</a:t>
                      </a:r>
                      <a:r>
                        <a:rPr lang="zh-CN" altLang="en-US" sz="1200" cap="all" spc="-60" dirty="0" smtClean="0">
                          <a:solidFill>
                            <a:srgbClr val="000000"/>
                          </a:solidFill>
                          <a:latin typeface="微软雅黑" panose="020B0503020204020204" pitchFamily="34" charset="-122"/>
                          <a:ea typeface="微软雅黑" panose="020B0503020204020204" pitchFamily="34" charset="-122"/>
                          <a:sym typeface="+mn-ea"/>
                        </a:rPr>
                        <a:t>月内无法拜访需要将线索及时退回。</a:t>
                      </a:r>
                      <a:endParaRPr lang="zh-CN" altLang="en-US" sz="1200" b="0" cap="all" spc="-60" dirty="0" smtClean="0">
                        <a:solidFill>
                          <a:srgbClr val="000000"/>
                        </a:solidFill>
                        <a:latin typeface="微软雅黑" panose="020B0503020204020204" pitchFamily="34" charset="-122"/>
                        <a:ea typeface="微软雅黑" panose="020B0503020204020204" pitchFamily="34" charset="-122"/>
                        <a:sym typeface="+mn-ea"/>
                      </a:endParaRPr>
                    </a:p>
                  </a:txBody>
                  <a:tcPr anchor="ctr" anchorCtr="0"/>
                </a:tc>
              </a:tr>
            </a:tbl>
          </a:graphicData>
        </a:graphic>
      </p:graphicFrame>
      <p:graphicFrame>
        <p:nvGraphicFramePr>
          <p:cNvPr id="151" name="对象 150"/>
          <p:cNvGraphicFramePr/>
          <p:nvPr/>
        </p:nvGraphicFramePr>
        <p:xfrm>
          <a:off x="653415" y="995680"/>
          <a:ext cx="1955165" cy="5146040"/>
        </p:xfrm>
        <a:graphic>
          <a:graphicData uri="http://schemas.openxmlformats.org/presentationml/2006/ole">
            <mc:AlternateContent xmlns:mc="http://schemas.openxmlformats.org/markup-compatibility/2006">
              <mc:Choice xmlns:v="urn:schemas-microsoft-com:vml" Requires="v">
                <p:oleObj spid="_x0000_s152" name="" r:id="rId2" imgW="2847975" imgH="7581900" progId="EdrawMax.EdrawDocument.1">
                  <p:embed/>
                </p:oleObj>
              </mc:Choice>
              <mc:Fallback>
                <p:oleObj name="" r:id="rId2" imgW="2847975" imgH="7581900" progId="EdrawMax.EdrawDocument.1">
                  <p:embed/>
                  <p:pic>
                    <p:nvPicPr>
                      <p:cNvPr id="0" name="图片 5"/>
                      <p:cNvPicPr/>
                      <p:nvPr/>
                    </p:nvPicPr>
                    <p:blipFill>
                      <a:blip r:embed="rId3"/>
                      <a:stretch>
                        <a:fillRect/>
                      </a:stretch>
                    </p:blipFill>
                    <p:spPr>
                      <a:xfrm>
                        <a:off x="653415" y="995680"/>
                        <a:ext cx="1955165" cy="5146040"/>
                      </a:xfrm>
                      <a:prstGeom prst="rect">
                        <a:avLst/>
                      </a:prstGeom>
                    </p:spPr>
                  </p:pic>
                </p:oleObj>
              </mc:Fallback>
            </mc:AlternateContent>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827135" y="6141901"/>
            <a:ext cx="2743200" cy="365125"/>
          </a:xfrm>
        </p:spPr>
        <p:txBody>
          <a:bodyPr/>
          <a:lstStyle/>
          <a:p>
            <a:fld id="{2B2480BF-4544-46C3-88FF-29CB4BD8896C}" type="slidenum">
              <a:rPr lang="zh-CN" altLang="en-US" b="1" smtClean="0"/>
            </a:fld>
            <a:endParaRPr lang="zh-CN" altLang="en-US" b="1" smtClean="0"/>
          </a:p>
        </p:txBody>
      </p:sp>
      <p:sp>
        <p:nvSpPr>
          <p:cNvPr id="58" name="标题 57"/>
          <p:cNvSpPr>
            <a:spLocks noGrp="1"/>
          </p:cNvSpPr>
          <p:nvPr>
            <p:ph type="title"/>
          </p:nvPr>
        </p:nvSpPr>
        <p:spPr>
          <a:xfrm>
            <a:off x="610235" y="152400"/>
            <a:ext cx="7707630" cy="944880"/>
          </a:xfrm>
        </p:spPr>
        <p:txBody>
          <a:bodyPr>
            <a:normAutofit/>
          </a:bodyPr>
          <a:lstStyle/>
          <a:p>
            <a:pPr algn="l">
              <a:buClrTx/>
              <a:buSzTx/>
              <a:buFontTx/>
            </a:pPr>
            <a:r>
              <a:rPr lang="zh-CN" sz="3600" b="1" dirty="0" smtClean="0"/>
              <a:t>二级流程示例：线索管理</a:t>
            </a:r>
            <a:endParaRPr lang="en-US" altLang="zh-CN" sz="3600" b="1" dirty="0" smtClean="0"/>
          </a:p>
        </p:txBody>
      </p:sp>
      <p:graphicFrame>
        <p:nvGraphicFramePr>
          <p:cNvPr id="150" name="表格 149"/>
          <p:cNvGraphicFramePr/>
          <p:nvPr>
            <p:custDataLst>
              <p:tags r:id="rId1"/>
            </p:custDataLst>
          </p:nvPr>
        </p:nvGraphicFramePr>
        <p:xfrm>
          <a:off x="2790825" y="1012825"/>
          <a:ext cx="8507095" cy="4773295"/>
        </p:xfrm>
        <a:graphic>
          <a:graphicData uri="http://schemas.openxmlformats.org/drawingml/2006/table">
            <a:tbl>
              <a:tblPr firstRow="1">
                <a:tableStyleId>{B4426546-50C7-4A87-ACC4-B299252A99B3}</a:tableStyleId>
              </a:tblPr>
              <a:tblGrid>
                <a:gridCol w="558165"/>
                <a:gridCol w="839470"/>
                <a:gridCol w="1018540"/>
                <a:gridCol w="3192780"/>
                <a:gridCol w="2898140"/>
              </a:tblGrid>
              <a:tr h="292100">
                <a:tc>
                  <a:txBody>
                    <a:bodyPr/>
                    <a:p>
                      <a:pPr algn="ctr">
                        <a:buNone/>
                      </a:pPr>
                      <a:r>
                        <a:rPr lang="zh-CN" altLang="en-US" sz="1200" b="0">
                          <a:latin typeface="微软雅黑" panose="020B0503020204020204" pitchFamily="34" charset="-122"/>
                          <a:ea typeface="微软雅黑" panose="020B0503020204020204" pitchFamily="34" charset="-122"/>
                        </a:rPr>
                        <a:t>序号</a:t>
                      </a:r>
                      <a:endParaRPr lang="zh-CN" altLang="en-US" sz="12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b="0">
                          <a:latin typeface="微软雅黑" panose="020B0503020204020204" pitchFamily="34" charset="-122"/>
                          <a:ea typeface="微软雅黑" panose="020B0503020204020204" pitchFamily="34" charset="-122"/>
                        </a:rPr>
                        <a:t>子流程</a:t>
                      </a:r>
                      <a:endParaRPr lang="zh-CN" altLang="en-US" sz="12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b="0">
                          <a:latin typeface="微软雅黑" panose="020B0503020204020204" pitchFamily="34" charset="-122"/>
                          <a:ea typeface="微软雅黑" panose="020B0503020204020204" pitchFamily="34" charset="-122"/>
                          <a:sym typeface="+mn-ea"/>
                        </a:rPr>
                        <a:t>负责人</a:t>
                      </a:r>
                      <a:endParaRPr lang="zh-CN" altLang="en-US" sz="12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b="0">
                          <a:latin typeface="微软雅黑" panose="020B0503020204020204" pitchFamily="34" charset="-122"/>
                          <a:ea typeface="微软雅黑" panose="020B0503020204020204" pitchFamily="34" charset="-122"/>
                        </a:rPr>
                        <a:t>执行步骤</a:t>
                      </a:r>
                      <a:endParaRPr lang="zh-CN" altLang="en-US" sz="1200" b="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b="0">
                          <a:latin typeface="微软雅黑" panose="020B0503020204020204" pitchFamily="34" charset="-122"/>
                          <a:ea typeface="微软雅黑" panose="020B0503020204020204" pitchFamily="34" charset="-122"/>
                        </a:rPr>
                        <a:t>执行标准</a:t>
                      </a:r>
                      <a:endParaRPr lang="zh-CN" altLang="en-US" sz="1200" b="0">
                        <a:latin typeface="微软雅黑" panose="020B0503020204020204" pitchFamily="34" charset="-122"/>
                        <a:ea typeface="微软雅黑" panose="020B0503020204020204" pitchFamily="34" charset="-122"/>
                      </a:endParaRPr>
                    </a:p>
                  </a:txBody>
                  <a:tcPr anchor="ctr" anchorCtr="0"/>
                </a:tc>
              </a:tr>
              <a:tr h="974090">
                <a:tc>
                  <a:txBody>
                    <a:bodyPr/>
                    <a:p>
                      <a:pPr algn="ctr">
                        <a:buNone/>
                      </a:pPr>
                      <a:r>
                        <a:rPr lang="en-US" altLang="zh-CN" sz="1200" b="0" cap="all" spc="-60" dirty="0" smtClean="0">
                          <a:latin typeface="微软雅黑" panose="020B0503020204020204" pitchFamily="34" charset="-122"/>
                          <a:ea typeface="微软雅黑" panose="020B0503020204020204" pitchFamily="34" charset="-122"/>
                          <a:sym typeface="+mn-ea"/>
                        </a:rPr>
                        <a:t>4</a:t>
                      </a:r>
                      <a:endParaRPr lang="en-US" altLang="zh-CN" sz="1200" b="0" cap="all" spc="-60" dirty="0" smtClean="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zh-CN" altLang="en-US" sz="1200" cap="all" spc="-60" dirty="0" smtClean="0">
                          <a:latin typeface="微软雅黑" panose="020B0503020204020204" pitchFamily="34" charset="-122"/>
                          <a:ea typeface="微软雅黑" panose="020B0503020204020204" pitchFamily="34" charset="-122"/>
                          <a:sym typeface="+mn-ea"/>
                        </a:rPr>
                        <a:t>客户拜访</a:t>
                      </a:r>
                      <a:endParaRPr lang="zh-CN" altLang="en-US" sz="1200" b="0" cap="all" spc="-60" dirty="0" smtClean="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zh-CN" altLang="en-US" sz="1200" cap="all" spc="-60" dirty="0" smtClean="0">
                          <a:latin typeface="微软雅黑" panose="020B0503020204020204" pitchFamily="34" charset="-122"/>
                          <a:ea typeface="微软雅黑" panose="020B0503020204020204" pitchFamily="34" charset="-122"/>
                          <a:sym typeface="+mn-ea"/>
                        </a:rPr>
                        <a:t>销售顾问</a:t>
                      </a:r>
                      <a:endParaRPr lang="zh-CN" altLang="en-US" sz="1200" b="0" cap="all" spc="-60" dirty="0" smtClean="0">
                        <a:latin typeface="微软雅黑" panose="020B0503020204020204" pitchFamily="34" charset="-122"/>
                        <a:ea typeface="微软雅黑" panose="020B0503020204020204" pitchFamily="34" charset="-122"/>
                        <a:sym typeface="+mn-ea"/>
                      </a:endParaRPr>
                    </a:p>
                  </a:txBody>
                  <a:tcPr anchor="ctr" anchorCtr="0"/>
                </a:tc>
                <a:tc>
                  <a:txBody>
                    <a:bodyPr/>
                    <a:p>
                      <a:pPr marL="342900" indent="-342900" algn="l" eaLnBrk="1" latinLnBrk="0" hangingPunct="1">
                        <a:lnSpc>
                          <a:spcPct val="150000"/>
                        </a:lnSpc>
                        <a:buClrTx/>
                        <a:buSzTx/>
                        <a:buFont typeface="+mj-ea"/>
                        <a:buAutoNum type="circleNumDbPlain"/>
                      </a:pPr>
                      <a:r>
                        <a:rPr lang="zh-CN" altLang="en-US" sz="1200" b="0" cap="all" spc="-60" dirty="0" smtClean="0">
                          <a:latin typeface="微软雅黑" panose="020B0503020204020204" pitchFamily="34" charset="-122"/>
                          <a:ea typeface="微软雅黑" panose="020B0503020204020204" pitchFamily="34" charset="-122"/>
                        </a:rPr>
                        <a:t>开场白，进行公司及产品介绍；</a:t>
                      </a:r>
                      <a:endParaRPr lang="zh-CN" altLang="en-US" sz="1200" b="0" cap="all" spc="-60" dirty="0" smtClean="0">
                        <a:latin typeface="微软雅黑" panose="020B0503020204020204" pitchFamily="34" charset="-122"/>
                        <a:ea typeface="微软雅黑" panose="020B0503020204020204" pitchFamily="34" charset="-122"/>
                      </a:endParaRPr>
                    </a:p>
                    <a:p>
                      <a:pPr marL="342900" indent="-342900" algn="l" eaLnBrk="1" latinLnBrk="0" hangingPunct="1">
                        <a:lnSpc>
                          <a:spcPct val="150000"/>
                        </a:lnSpc>
                        <a:buClrTx/>
                        <a:buSzTx/>
                        <a:buFont typeface="+mj-ea"/>
                        <a:buAutoNum type="circleNumDbPlain"/>
                      </a:pPr>
                      <a:r>
                        <a:rPr lang="zh-CN" altLang="en-US" sz="1200" b="0" cap="all" spc="-60" dirty="0" smtClean="0">
                          <a:latin typeface="微软雅黑" panose="020B0503020204020204" pitchFamily="34" charset="-122"/>
                          <a:ea typeface="微软雅黑" panose="020B0503020204020204" pitchFamily="34" charset="-122"/>
                        </a:rPr>
                        <a:t>通过有技巧的提问，掌握客户的相关信息；</a:t>
                      </a:r>
                      <a:endParaRPr lang="zh-CN" altLang="en-US" sz="1200" b="0" cap="all" spc="-60" dirty="0" smtClean="0">
                        <a:latin typeface="微软雅黑" panose="020B0503020204020204" pitchFamily="34" charset="-122"/>
                        <a:ea typeface="微软雅黑" panose="020B0503020204020204" pitchFamily="34" charset="-122"/>
                      </a:endParaRPr>
                    </a:p>
                    <a:p>
                      <a:pPr marL="342900" indent="-342900" algn="l" eaLnBrk="1" latinLnBrk="0" hangingPunct="1">
                        <a:lnSpc>
                          <a:spcPct val="150000"/>
                        </a:lnSpc>
                        <a:buClrTx/>
                        <a:buSzTx/>
                        <a:buFont typeface="+mj-ea"/>
                        <a:buAutoNum type="circleNumDbPlain"/>
                      </a:pPr>
                      <a:r>
                        <a:rPr lang="zh-CN" altLang="en-US" sz="1200" b="0" cap="all" spc="-60" dirty="0" smtClean="0">
                          <a:latin typeface="微软雅黑" panose="020B0503020204020204" pitchFamily="34" charset="-122"/>
                          <a:ea typeface="微软雅黑" panose="020B0503020204020204" pitchFamily="34" charset="-122"/>
                        </a:rPr>
                        <a:t>添加客户微信，离开后发送信息</a:t>
                      </a:r>
                      <a:endParaRPr lang="zh-CN" altLang="en-US" sz="1200" b="0" cap="all" spc="-60" dirty="0" smtClean="0">
                        <a:latin typeface="微软雅黑" panose="020B0503020204020204" pitchFamily="34" charset="-122"/>
                        <a:ea typeface="微软雅黑" panose="020B0503020204020204" pitchFamily="34" charset="-122"/>
                      </a:endParaRPr>
                    </a:p>
                  </a:txBody>
                  <a:tcPr anchor="ctr" anchorCtr="0"/>
                </a:tc>
                <a:tc>
                  <a:txBody>
                    <a:bodyPr/>
                    <a:p>
                      <a:pPr marL="342900" indent="-342900" algn="l">
                        <a:lnSpc>
                          <a:spcPct val="150000"/>
                        </a:lnSpc>
                        <a:buClrTx/>
                        <a:buSzTx/>
                        <a:buFont typeface="+mj-ea"/>
                        <a:buAutoNum type="circleNumDbPlain"/>
                      </a:pPr>
                      <a:endParaRPr lang="zh-CN" altLang="en-US" sz="1200" b="0">
                        <a:latin typeface="微软雅黑" panose="020B0503020204020204" pitchFamily="34" charset="-122"/>
                        <a:ea typeface="微软雅黑" panose="020B0503020204020204" pitchFamily="34" charset="-122"/>
                      </a:endParaRPr>
                    </a:p>
                  </a:txBody>
                  <a:tcPr anchor="ctr" anchorCtr="0"/>
                </a:tc>
              </a:tr>
              <a:tr h="2143125">
                <a:tc>
                  <a:txBody>
                    <a:bodyPr/>
                    <a:p>
                      <a:pPr algn="ctr">
                        <a:buNone/>
                      </a:pPr>
                      <a:r>
                        <a:rPr lang="en-US" altLang="zh-CN" sz="1200" b="0" cap="all" spc="-60" dirty="0" smtClean="0">
                          <a:latin typeface="微软雅黑" panose="020B0503020204020204" pitchFamily="34" charset="-122"/>
                          <a:ea typeface="微软雅黑" panose="020B0503020204020204" pitchFamily="34" charset="-122"/>
                          <a:sym typeface="+mn-ea"/>
                        </a:rPr>
                        <a:t>5</a:t>
                      </a:r>
                      <a:endParaRPr lang="en-US" altLang="zh-CN" sz="1200" b="0" cap="all" spc="-60" dirty="0" smtClean="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zh-CN" altLang="en-US" sz="1200" b="0" cap="all" spc="-60" dirty="0" smtClean="0">
                          <a:latin typeface="微软雅黑" panose="020B0503020204020204" pitchFamily="34" charset="-122"/>
                          <a:ea typeface="微软雅黑" panose="020B0503020204020204" pitchFamily="34" charset="-122"/>
                          <a:sym typeface="+mn-ea"/>
                        </a:rPr>
                        <a:t>客户转换</a:t>
                      </a:r>
                      <a:endParaRPr lang="zh-CN" altLang="en-US" sz="1200" b="0" cap="all" spc="-60" dirty="0" smtClean="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zh-CN" altLang="en-US" sz="1200" cap="all" spc="-60" dirty="0" smtClean="0">
                          <a:latin typeface="微软雅黑" panose="020B0503020204020204" pitchFamily="34" charset="-122"/>
                          <a:ea typeface="微软雅黑" panose="020B0503020204020204" pitchFamily="34" charset="-122"/>
                          <a:sym typeface="+mn-ea"/>
                        </a:rPr>
                        <a:t>销售顾问</a:t>
                      </a:r>
                      <a:endParaRPr lang="zh-CN" altLang="en-US" sz="1200" b="0" cap="all" spc="-60" dirty="0" smtClean="0">
                        <a:latin typeface="微软雅黑" panose="020B0503020204020204" pitchFamily="34" charset="-122"/>
                        <a:ea typeface="微软雅黑" panose="020B0503020204020204" pitchFamily="34" charset="-122"/>
                        <a:sym typeface="+mn-ea"/>
                      </a:endParaRPr>
                    </a:p>
                  </a:txBody>
                  <a:tcPr anchor="ctr" anchorCtr="0"/>
                </a:tc>
                <a:tc>
                  <a:txBody>
                    <a:bodyPr/>
                    <a:p>
                      <a:pPr marL="342900" indent="-342900" algn="l" eaLnBrk="1" latinLnBrk="0" hangingPunct="1">
                        <a:lnSpc>
                          <a:spcPct val="150000"/>
                        </a:lnSpc>
                        <a:buClrTx/>
                        <a:buSzTx/>
                        <a:buFont typeface="+mj-ea"/>
                        <a:buAutoNum type="circleNumDbPlain"/>
                      </a:pPr>
                      <a:r>
                        <a:rPr lang="zh-CN" altLang="en-US" sz="1200" cap="all" spc="-60" dirty="0" smtClean="0">
                          <a:latin typeface="微软雅黑" panose="020B0503020204020204" pitchFamily="34" charset="-122"/>
                          <a:ea typeface="微软雅黑" panose="020B0503020204020204" pitchFamily="34" charset="-122"/>
                          <a:sym typeface="+mn-ea"/>
                        </a:rPr>
                        <a:t>选择该销售线索，点击</a:t>
                      </a:r>
                      <a:r>
                        <a:rPr lang="en-US" altLang="zh-CN" sz="1200" cap="all" spc="-60" dirty="0" smtClean="0">
                          <a:latin typeface="微软雅黑" panose="020B0503020204020204" pitchFamily="34" charset="-122"/>
                          <a:ea typeface="微软雅黑" panose="020B0503020204020204" pitchFamily="34" charset="-122"/>
                          <a:sym typeface="+mn-ea"/>
                        </a:rPr>
                        <a:t>“</a:t>
                      </a:r>
                      <a:r>
                        <a:rPr lang="zh-CN" altLang="en-US" sz="1200" cap="all" spc="-60" dirty="0" smtClean="0">
                          <a:latin typeface="微软雅黑" panose="020B0503020204020204" pitchFamily="34" charset="-122"/>
                          <a:ea typeface="微软雅黑" panose="020B0503020204020204" pitchFamily="34" charset="-122"/>
                          <a:sym typeface="+mn-ea"/>
                        </a:rPr>
                        <a:t>转换</a:t>
                      </a:r>
                      <a:r>
                        <a:rPr lang="en-US" altLang="zh-CN" sz="1200" cap="all" spc="-60" dirty="0" smtClean="0">
                          <a:latin typeface="微软雅黑" panose="020B0503020204020204" pitchFamily="34" charset="-122"/>
                          <a:ea typeface="微软雅黑" panose="020B0503020204020204" pitchFamily="34" charset="-122"/>
                          <a:sym typeface="+mn-ea"/>
                        </a:rPr>
                        <a:t>”</a:t>
                      </a:r>
                      <a:r>
                        <a:rPr lang="zh-CN" altLang="en-US" sz="1200" cap="all" spc="-60" dirty="0" smtClean="0">
                          <a:latin typeface="微软雅黑" panose="020B0503020204020204" pitchFamily="34" charset="-122"/>
                          <a:ea typeface="微软雅黑" panose="020B0503020204020204" pitchFamily="34" charset="-122"/>
                          <a:sym typeface="+mn-ea"/>
                        </a:rPr>
                        <a:t>，将其转换为</a:t>
                      </a:r>
                      <a:r>
                        <a:rPr lang="en-US" altLang="zh-CN" sz="1200" cap="all" spc="-60" dirty="0" smtClean="0">
                          <a:latin typeface="微软雅黑" panose="020B0503020204020204" pitchFamily="34" charset="-122"/>
                          <a:ea typeface="微软雅黑" panose="020B0503020204020204" pitchFamily="34" charset="-122"/>
                          <a:sym typeface="+mn-ea"/>
                        </a:rPr>
                        <a:t>“</a:t>
                      </a:r>
                      <a:r>
                        <a:rPr lang="zh-CN" altLang="en-US" sz="1200" cap="all" spc="-60" dirty="0" smtClean="0">
                          <a:latin typeface="微软雅黑" panose="020B0503020204020204" pitchFamily="34" charset="-122"/>
                          <a:ea typeface="微软雅黑" panose="020B0503020204020204" pitchFamily="34" charset="-122"/>
                          <a:sym typeface="+mn-ea"/>
                        </a:rPr>
                        <a:t>客户</a:t>
                      </a:r>
                      <a:r>
                        <a:rPr lang="en-US" altLang="zh-CN" sz="1200" cap="all" spc="-60" dirty="0" smtClean="0">
                          <a:latin typeface="微软雅黑" panose="020B0503020204020204" pitchFamily="34" charset="-122"/>
                          <a:ea typeface="微软雅黑" panose="020B0503020204020204" pitchFamily="34" charset="-122"/>
                          <a:sym typeface="+mn-ea"/>
                        </a:rPr>
                        <a:t>”</a:t>
                      </a:r>
                      <a:r>
                        <a:rPr lang="zh-CN" altLang="en-US" sz="1200" cap="all" spc="-60" dirty="0" smtClean="0">
                          <a:latin typeface="微软雅黑" panose="020B0503020204020204" pitchFamily="34" charset="-122"/>
                          <a:ea typeface="微软雅黑" panose="020B0503020204020204" pitchFamily="34" charset="-122"/>
                          <a:sym typeface="+mn-ea"/>
                        </a:rPr>
                        <a:t>及</a:t>
                      </a:r>
                      <a:r>
                        <a:rPr lang="en-US" altLang="zh-CN" sz="1200" cap="all" spc="-60" dirty="0" smtClean="0">
                          <a:latin typeface="微软雅黑" panose="020B0503020204020204" pitchFamily="34" charset="-122"/>
                          <a:ea typeface="微软雅黑" panose="020B0503020204020204" pitchFamily="34" charset="-122"/>
                          <a:sym typeface="+mn-ea"/>
                        </a:rPr>
                        <a:t>“</a:t>
                      </a:r>
                      <a:r>
                        <a:rPr lang="zh-CN" altLang="en-US" sz="1200" cap="all" spc="-60" dirty="0" smtClean="0">
                          <a:latin typeface="微软雅黑" panose="020B0503020204020204" pitchFamily="34" charset="-122"/>
                          <a:ea typeface="微软雅黑" panose="020B0503020204020204" pitchFamily="34" charset="-122"/>
                          <a:sym typeface="+mn-ea"/>
                        </a:rPr>
                        <a:t>客户联系人</a:t>
                      </a:r>
                      <a:r>
                        <a:rPr lang="en-US" altLang="zh-CN" sz="1200" cap="all" spc="-60" dirty="0" smtClean="0">
                          <a:latin typeface="微软雅黑" panose="020B0503020204020204" pitchFamily="34" charset="-122"/>
                          <a:ea typeface="微软雅黑" panose="020B0503020204020204" pitchFamily="34" charset="-122"/>
                          <a:sym typeface="+mn-ea"/>
                        </a:rPr>
                        <a:t>”</a:t>
                      </a:r>
                      <a:r>
                        <a:rPr lang="zh-CN" altLang="en-US" sz="1200" cap="all" spc="-60" dirty="0" smtClean="0">
                          <a:latin typeface="微软雅黑" panose="020B0503020204020204" pitchFamily="34" charset="-122"/>
                          <a:ea typeface="微软雅黑" panose="020B0503020204020204" pitchFamily="34" charset="-122"/>
                          <a:sym typeface="+mn-ea"/>
                        </a:rPr>
                        <a:t>。</a:t>
                      </a:r>
                      <a:endParaRPr lang="zh-CN" altLang="en-US" sz="1200" b="0" cap="all" spc="-60" dirty="0" smtClean="0">
                        <a:latin typeface="微软雅黑" panose="020B0503020204020204" pitchFamily="34" charset="-122"/>
                        <a:ea typeface="微软雅黑" panose="020B0503020204020204" pitchFamily="34" charset="-122"/>
                      </a:endParaRPr>
                    </a:p>
                    <a:p>
                      <a:pPr marL="342900" indent="-342900" algn="l" eaLnBrk="1" latinLnBrk="0" hangingPunct="1">
                        <a:lnSpc>
                          <a:spcPct val="150000"/>
                        </a:lnSpc>
                        <a:buClrTx/>
                        <a:buSzTx/>
                        <a:buFont typeface="+mj-ea"/>
                        <a:buAutoNum type="circleNumDbPlain"/>
                      </a:pPr>
                      <a:r>
                        <a:rPr lang="zh-CN" altLang="en-US" sz="1200" cap="all" spc="-60" dirty="0" smtClean="0">
                          <a:latin typeface="微软雅黑" panose="020B0503020204020204" pitchFamily="34" charset="-122"/>
                          <a:ea typeface="微软雅黑" panose="020B0503020204020204" pitchFamily="34" charset="-122"/>
                          <a:sym typeface="+mn-ea"/>
                        </a:rPr>
                        <a:t>在外勤中新建当天外勤，并记录拜访情况。</a:t>
                      </a:r>
                      <a:endParaRPr lang="zh-CN" altLang="en-US" sz="1200" b="0" cap="all" spc="-60" dirty="0" smtClean="0">
                        <a:solidFill>
                          <a:srgbClr val="000000"/>
                        </a:solidFill>
                        <a:latin typeface="微软雅黑" panose="020B0503020204020204" pitchFamily="34" charset="-122"/>
                        <a:ea typeface="微软雅黑" panose="020B0503020204020204" pitchFamily="34" charset="-122"/>
                      </a:endParaRPr>
                    </a:p>
                  </a:txBody>
                  <a:tcPr anchor="ctr" anchorCtr="0"/>
                </a:tc>
                <a:tc>
                  <a:txBody>
                    <a:bodyPr/>
                    <a:p>
                      <a:pPr marL="342900" indent="-342900" algn="l">
                        <a:lnSpc>
                          <a:spcPct val="150000"/>
                        </a:lnSpc>
                        <a:buClrTx/>
                        <a:buSzTx/>
                        <a:buFont typeface="+mj-ea"/>
                        <a:buAutoNum type="circleNumDbPlain"/>
                      </a:pPr>
                      <a:r>
                        <a:rPr lang="zh-CN" altLang="en-US" sz="1200" cap="all" spc="-60" dirty="0" smtClean="0">
                          <a:latin typeface="微软雅黑" panose="020B0503020204020204" pitchFamily="34" charset="-122"/>
                          <a:ea typeface="微软雅黑" panose="020B0503020204020204" pitchFamily="34" charset="-122"/>
                          <a:sym typeface="+mn-ea"/>
                        </a:rPr>
                        <a:t>只有实际见到客户才能将线索转换为实际的客户名称；</a:t>
                      </a:r>
                      <a:endParaRPr lang="zh-CN" altLang="en-US" sz="1200" cap="all" spc="-60" dirty="0" smtClean="0">
                        <a:solidFill>
                          <a:srgbClr val="000000"/>
                        </a:solidFill>
                        <a:latin typeface="微软雅黑" panose="020B0503020204020204" pitchFamily="34" charset="-122"/>
                        <a:ea typeface="微软雅黑" panose="020B0503020204020204" pitchFamily="34" charset="-122"/>
                        <a:sym typeface="+mn-ea"/>
                      </a:endParaRPr>
                    </a:p>
                    <a:p>
                      <a:pPr marL="342900" indent="-342900" algn="l">
                        <a:lnSpc>
                          <a:spcPct val="150000"/>
                        </a:lnSpc>
                        <a:buClrTx/>
                        <a:buSzTx/>
                        <a:buFont typeface="+mj-ea"/>
                        <a:buAutoNum type="circleNumDbPlain"/>
                      </a:pPr>
                      <a:r>
                        <a:rPr lang="zh-CN" altLang="en-US" sz="1200" cap="all" spc="-60" dirty="0" smtClean="0">
                          <a:latin typeface="微软雅黑" panose="020B0503020204020204" pitchFamily="34" charset="-122"/>
                          <a:ea typeface="微软雅黑" panose="020B0503020204020204" pitchFamily="34" charset="-122"/>
                          <a:sym typeface="+mn-ea"/>
                        </a:rPr>
                        <a:t>客户名称下必须有具体的客户联系人；</a:t>
                      </a:r>
                      <a:endParaRPr lang="zh-CN" altLang="en-US" sz="1200" b="0" cap="all" spc="-60" dirty="0" smtClean="0">
                        <a:solidFill>
                          <a:srgbClr val="000000"/>
                        </a:solidFill>
                        <a:latin typeface="微软雅黑" panose="020B0503020204020204" pitchFamily="34" charset="-122"/>
                        <a:ea typeface="微软雅黑" panose="020B0503020204020204" pitchFamily="34" charset="-122"/>
                      </a:endParaRPr>
                    </a:p>
                    <a:p>
                      <a:pPr marL="342900" indent="-342900" algn="l">
                        <a:lnSpc>
                          <a:spcPct val="150000"/>
                        </a:lnSpc>
                        <a:buClrTx/>
                        <a:buSzTx/>
                        <a:buFont typeface="+mj-ea"/>
                        <a:buAutoNum type="circleNumDbPlain"/>
                      </a:pPr>
                      <a:r>
                        <a:rPr lang="zh-CN" altLang="en-US" sz="1200">
                          <a:latin typeface="微软雅黑" panose="020B0503020204020204" pitchFamily="34" charset="-122"/>
                          <a:ea typeface="微软雅黑" panose="020B0503020204020204" pitchFamily="34" charset="-122"/>
                          <a:sym typeface="+mn-ea"/>
                        </a:rPr>
                        <a:t>需要在外勤完成后的立即进行外勤详细的记录，不能后补。</a:t>
                      </a:r>
                      <a:endParaRPr lang="zh-CN" altLang="en-US" sz="1200" b="0">
                        <a:latin typeface="微软雅黑" panose="020B0503020204020204" pitchFamily="34" charset="-122"/>
                        <a:ea typeface="微软雅黑" panose="020B0503020204020204" pitchFamily="34" charset="-122"/>
                      </a:endParaRPr>
                    </a:p>
                    <a:p>
                      <a:pPr marL="342900" indent="-342900" algn="l">
                        <a:lnSpc>
                          <a:spcPct val="150000"/>
                        </a:lnSpc>
                        <a:buClrTx/>
                        <a:buSzTx/>
                        <a:buFont typeface="+mj-ea"/>
                        <a:buAutoNum type="circleNumDbPlain"/>
                      </a:pPr>
                      <a:r>
                        <a:rPr lang="zh-CN" altLang="en-US" sz="1200">
                          <a:latin typeface="微软雅黑" panose="020B0503020204020204" pitchFamily="34" charset="-122"/>
                          <a:ea typeface="微软雅黑" panose="020B0503020204020204" pitchFamily="34" charset="-122"/>
                          <a:sym typeface="+mn-ea"/>
                        </a:rPr>
                        <a:t>外勤记录需要详细记录会面对象、沟通内容以及达成的成果。</a:t>
                      </a:r>
                      <a:endParaRPr lang="zh-CN" altLang="en-US" sz="1200" b="0" cap="all" spc="-60" dirty="0" smtClean="0">
                        <a:solidFill>
                          <a:srgbClr val="000000"/>
                        </a:solidFill>
                        <a:latin typeface="微软雅黑" panose="020B0503020204020204" pitchFamily="34" charset="-122"/>
                        <a:ea typeface="微软雅黑" panose="020B0503020204020204" pitchFamily="34" charset="-122"/>
                      </a:endParaRPr>
                    </a:p>
                  </a:txBody>
                  <a:tcPr anchor="ctr" anchorCtr="0"/>
                </a:tc>
              </a:tr>
              <a:tr h="681990">
                <a:tc>
                  <a:txBody>
                    <a:bodyPr/>
                    <a:p>
                      <a:pPr algn="ctr">
                        <a:buNone/>
                      </a:pPr>
                      <a:r>
                        <a:rPr lang="en-US" altLang="zh-CN" sz="1200" b="0" cap="all" spc="-60" dirty="0" smtClean="0">
                          <a:latin typeface="微软雅黑" panose="020B0503020204020204" pitchFamily="34" charset="-122"/>
                          <a:ea typeface="微软雅黑" panose="020B0503020204020204" pitchFamily="34" charset="-122"/>
                          <a:sym typeface="+mn-ea"/>
                        </a:rPr>
                        <a:t>6</a:t>
                      </a:r>
                      <a:endParaRPr lang="en-US" altLang="zh-CN" sz="1200" b="0" cap="all" spc="-60" dirty="0" smtClean="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zh-CN" altLang="en-US" sz="1200" cap="all" spc="-60" dirty="0" smtClean="0">
                          <a:latin typeface="微软雅黑" panose="020B0503020204020204" pitchFamily="34" charset="-122"/>
                          <a:ea typeface="微软雅黑" panose="020B0503020204020204" pitchFamily="34" charset="-122"/>
                          <a:sym typeface="+mn-ea"/>
                        </a:rPr>
                        <a:t>线索盘点</a:t>
                      </a:r>
                      <a:endParaRPr lang="zh-CN" altLang="en-US" sz="1200" b="0" cap="all" spc="-60" dirty="0" smtClean="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zh-CN" altLang="en-US" sz="1200" cap="all" spc="-60" dirty="0" smtClean="0">
                          <a:latin typeface="微软雅黑" panose="020B0503020204020204" pitchFamily="34" charset="-122"/>
                          <a:ea typeface="微软雅黑" panose="020B0503020204020204" pitchFamily="34" charset="-122"/>
                          <a:sym typeface="+mn-ea"/>
                        </a:rPr>
                        <a:t>单元经理</a:t>
                      </a:r>
                      <a:endParaRPr lang="zh-CN" altLang="en-US" sz="1200" b="0" cap="all" spc="-60" dirty="0" smtClean="0">
                        <a:latin typeface="微软雅黑" panose="020B0503020204020204" pitchFamily="34" charset="-122"/>
                        <a:ea typeface="微软雅黑" panose="020B0503020204020204" pitchFamily="34" charset="-122"/>
                        <a:sym typeface="+mn-ea"/>
                      </a:endParaRPr>
                    </a:p>
                  </a:txBody>
                  <a:tcPr anchor="ctr" anchorCtr="0"/>
                </a:tc>
                <a:tc>
                  <a:txBody>
                    <a:bodyPr/>
                    <a:p>
                      <a:pPr marL="342900" indent="-342900" algn="l" eaLnBrk="1" latinLnBrk="0" hangingPunct="1">
                        <a:lnSpc>
                          <a:spcPct val="150000"/>
                        </a:lnSpc>
                        <a:buClrTx/>
                        <a:buSzTx/>
                        <a:buFont typeface="+mj-ea"/>
                        <a:buAutoNum type="circleNumDbPlain"/>
                      </a:pPr>
                      <a:r>
                        <a:rPr lang="zh-CN" altLang="en-US" sz="1200" b="0" cap="all" spc="-60" dirty="0" smtClean="0">
                          <a:solidFill>
                            <a:srgbClr val="000000"/>
                          </a:solidFill>
                          <a:latin typeface="微软雅黑" panose="020B0503020204020204" pitchFamily="34" charset="-122"/>
                          <a:ea typeface="微软雅黑" panose="020B0503020204020204" pitchFamily="34" charset="-122"/>
                        </a:rPr>
                        <a:t>每日夕会，单元经理对当日的线索跟进情况进行线索盘点。</a:t>
                      </a:r>
                      <a:endParaRPr lang="zh-CN" altLang="en-US" sz="1200" b="0" cap="all" spc="-60" dirty="0" smtClean="0">
                        <a:solidFill>
                          <a:srgbClr val="000000"/>
                        </a:solidFill>
                        <a:latin typeface="微软雅黑" panose="020B0503020204020204" pitchFamily="34" charset="-122"/>
                        <a:ea typeface="微软雅黑" panose="020B0503020204020204" pitchFamily="34" charset="-122"/>
                      </a:endParaRPr>
                    </a:p>
                  </a:txBody>
                  <a:tcPr anchor="ctr" anchorCtr="0"/>
                </a:tc>
                <a:tc>
                  <a:txBody>
                    <a:bodyPr/>
                    <a:p>
                      <a:pPr marL="342900" indent="-342900" algn="l">
                        <a:lnSpc>
                          <a:spcPct val="150000"/>
                        </a:lnSpc>
                        <a:buClrTx/>
                        <a:buSzTx/>
                        <a:buFont typeface="+mj-ea"/>
                        <a:buAutoNum type="circleNumDbPlain"/>
                      </a:pPr>
                      <a:r>
                        <a:rPr lang="zh-CN" altLang="en-US" sz="1200" b="0" cap="all" spc="-60" dirty="0" smtClean="0">
                          <a:solidFill>
                            <a:srgbClr val="000000"/>
                          </a:solidFill>
                          <a:latin typeface="微软雅黑" panose="020B0503020204020204" pitchFamily="34" charset="-122"/>
                          <a:ea typeface="微软雅黑" panose="020B0503020204020204" pitchFamily="34" charset="-122"/>
                        </a:rPr>
                        <a:t>时间为每日17:</a:t>
                      </a:r>
                      <a:r>
                        <a:rPr lang="en-US" altLang="zh-CN" sz="1200" b="0" cap="all" spc="-60" dirty="0" smtClean="0">
                          <a:solidFill>
                            <a:srgbClr val="000000"/>
                          </a:solidFill>
                          <a:latin typeface="微软雅黑" panose="020B0503020204020204" pitchFamily="34" charset="-122"/>
                          <a:ea typeface="微软雅黑" panose="020B0503020204020204" pitchFamily="34" charset="-122"/>
                        </a:rPr>
                        <a:t>3</a:t>
                      </a:r>
                      <a:r>
                        <a:rPr lang="zh-CN" altLang="en-US" sz="1200" b="0" cap="all" spc="-60" dirty="0" smtClean="0">
                          <a:solidFill>
                            <a:srgbClr val="000000"/>
                          </a:solidFill>
                          <a:latin typeface="微软雅黑" panose="020B0503020204020204" pitchFamily="34" charset="-122"/>
                          <a:ea typeface="微软雅黑" panose="020B0503020204020204" pitchFamily="34" charset="-122"/>
                        </a:rPr>
                        <a:t>0-18:00；</a:t>
                      </a:r>
                      <a:endParaRPr lang="zh-CN" altLang="en-US" sz="1200" b="0" cap="all" spc="-60" dirty="0" smtClean="0">
                        <a:solidFill>
                          <a:srgbClr val="000000"/>
                        </a:solidFill>
                        <a:latin typeface="微软雅黑" panose="020B0503020204020204" pitchFamily="34" charset="-122"/>
                        <a:ea typeface="微软雅黑" panose="020B0503020204020204" pitchFamily="34" charset="-122"/>
                      </a:endParaRPr>
                    </a:p>
                    <a:p>
                      <a:pPr marL="342900" indent="-342900" algn="l">
                        <a:lnSpc>
                          <a:spcPct val="150000"/>
                        </a:lnSpc>
                        <a:buClrTx/>
                        <a:buSzTx/>
                        <a:buFont typeface="+mj-ea"/>
                        <a:buAutoNum type="circleNumDbPlain"/>
                      </a:pPr>
                      <a:r>
                        <a:rPr lang="zh-CN" altLang="en-US" sz="1200" b="0" cap="all" spc="-60" dirty="0" smtClean="0">
                          <a:solidFill>
                            <a:srgbClr val="000000"/>
                          </a:solidFill>
                          <a:latin typeface="微软雅黑" panose="020B0503020204020204" pitchFamily="34" charset="-122"/>
                          <a:ea typeface="微软雅黑" panose="020B0503020204020204" pitchFamily="34" charset="-122"/>
                        </a:rPr>
                        <a:t>无法参加需要提前请假。</a:t>
                      </a:r>
                      <a:endParaRPr lang="zh-CN" altLang="en-US" sz="1200" b="0" cap="all" spc="-60" dirty="0" smtClean="0">
                        <a:solidFill>
                          <a:srgbClr val="000000"/>
                        </a:solidFill>
                        <a:latin typeface="微软雅黑" panose="020B0503020204020204" pitchFamily="34" charset="-122"/>
                        <a:ea typeface="微软雅黑" panose="020B0503020204020204" pitchFamily="34" charset="-122"/>
                      </a:endParaRPr>
                    </a:p>
                  </a:txBody>
                  <a:tcPr anchor="ctr" anchorCtr="0"/>
                </a:tc>
              </a:tr>
              <a:tr h="681990">
                <a:tc>
                  <a:txBody>
                    <a:bodyPr/>
                    <a:p>
                      <a:pPr algn="ctr">
                        <a:buNone/>
                      </a:pPr>
                      <a:r>
                        <a:rPr lang="en-US" altLang="zh-CN" sz="1200" b="0" cap="all" spc="-60" dirty="0" smtClean="0">
                          <a:latin typeface="微软雅黑" panose="020B0503020204020204" pitchFamily="34" charset="-122"/>
                          <a:ea typeface="微软雅黑" panose="020B0503020204020204" pitchFamily="34" charset="-122"/>
                          <a:sym typeface="+mn-ea"/>
                        </a:rPr>
                        <a:t>7</a:t>
                      </a:r>
                      <a:endParaRPr lang="en-US" altLang="zh-CN" sz="1200" b="0" cap="all" spc="-60" dirty="0" smtClean="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zh-CN" altLang="en-US" sz="1200" cap="all" spc="-60" dirty="0" smtClean="0">
                          <a:latin typeface="微软雅黑" panose="020B0503020204020204" pitchFamily="34" charset="-122"/>
                          <a:ea typeface="微软雅黑" panose="020B0503020204020204" pitchFamily="34" charset="-122"/>
                          <a:sym typeface="+mn-ea"/>
                        </a:rPr>
                        <a:t>客户盘点</a:t>
                      </a:r>
                      <a:endParaRPr lang="zh-CN" altLang="en-US" sz="1200" b="0" cap="all" spc="-60" dirty="0" smtClean="0">
                        <a:latin typeface="微软雅黑" panose="020B0503020204020204" pitchFamily="34" charset="-122"/>
                        <a:ea typeface="微软雅黑" panose="020B0503020204020204" pitchFamily="34" charset="-122"/>
                        <a:sym typeface="+mn-ea"/>
                      </a:endParaRPr>
                    </a:p>
                  </a:txBody>
                  <a:tcPr anchor="ctr" anchorCtr="0"/>
                </a:tc>
                <a:tc>
                  <a:txBody>
                    <a:bodyPr/>
                    <a:p>
                      <a:pPr algn="ctr">
                        <a:buNone/>
                      </a:pPr>
                      <a:r>
                        <a:rPr lang="zh-CN" altLang="en-US" sz="1200" cap="all" spc="-60" dirty="0" smtClean="0">
                          <a:latin typeface="微软雅黑" panose="020B0503020204020204" pitchFamily="34" charset="-122"/>
                          <a:ea typeface="微软雅黑" panose="020B0503020204020204" pitchFamily="34" charset="-122"/>
                          <a:sym typeface="+mn-ea"/>
                        </a:rPr>
                        <a:t>单元经理</a:t>
                      </a:r>
                      <a:endParaRPr lang="zh-CN" altLang="en-US" sz="1200" b="0" cap="all" spc="-60" dirty="0" smtClean="0">
                        <a:latin typeface="微软雅黑" panose="020B0503020204020204" pitchFamily="34" charset="-122"/>
                        <a:ea typeface="微软雅黑" panose="020B0503020204020204" pitchFamily="34" charset="-122"/>
                        <a:sym typeface="+mn-ea"/>
                      </a:endParaRPr>
                    </a:p>
                  </a:txBody>
                  <a:tcPr anchor="ctr" anchorCtr="0"/>
                </a:tc>
                <a:tc>
                  <a:txBody>
                    <a:bodyPr/>
                    <a:p>
                      <a:pPr marL="342900" indent="-342900" algn="l" eaLnBrk="1" latinLnBrk="0" hangingPunct="1">
                        <a:lnSpc>
                          <a:spcPct val="150000"/>
                        </a:lnSpc>
                        <a:buClrTx/>
                        <a:buSzTx/>
                        <a:buFont typeface="+mj-ea"/>
                        <a:buAutoNum type="circleNumDbPlain"/>
                      </a:pPr>
                      <a:r>
                        <a:rPr lang="zh-CN" altLang="en-US" sz="1200" b="0" cap="all" spc="-60" dirty="0" smtClean="0">
                          <a:solidFill>
                            <a:srgbClr val="000000"/>
                          </a:solidFill>
                          <a:latin typeface="微软雅黑" panose="020B0503020204020204" pitchFamily="34" charset="-122"/>
                          <a:ea typeface="微软雅黑" panose="020B0503020204020204" pitchFamily="34" charset="-122"/>
                        </a:rPr>
                        <a:t>每周周例会，单元经理对当日的新的客户转换情况进行客户盘点。</a:t>
                      </a:r>
                      <a:endParaRPr lang="zh-CN" altLang="en-US" sz="1200" b="0" cap="all" spc="-60" dirty="0" smtClean="0">
                        <a:solidFill>
                          <a:srgbClr val="000000"/>
                        </a:solidFill>
                        <a:latin typeface="微软雅黑" panose="020B0503020204020204" pitchFamily="34" charset="-122"/>
                        <a:ea typeface="微软雅黑" panose="020B0503020204020204" pitchFamily="34" charset="-122"/>
                      </a:endParaRPr>
                    </a:p>
                  </a:txBody>
                  <a:tcPr anchor="ctr" anchorCtr="0"/>
                </a:tc>
                <a:tc>
                  <a:txBody>
                    <a:bodyPr/>
                    <a:p>
                      <a:pPr marL="342900" indent="-342900" algn="l">
                        <a:lnSpc>
                          <a:spcPct val="150000"/>
                        </a:lnSpc>
                        <a:buClrTx/>
                        <a:buSzTx/>
                        <a:buFont typeface="+mj-ea"/>
                        <a:buAutoNum type="circleNumDbPlain"/>
                      </a:pPr>
                      <a:r>
                        <a:rPr lang="zh-CN" altLang="en-US" sz="1200" b="0" cap="all" spc="-60" dirty="0" smtClean="0">
                          <a:solidFill>
                            <a:srgbClr val="000000"/>
                          </a:solidFill>
                          <a:latin typeface="微软雅黑" panose="020B0503020204020204" pitchFamily="34" charset="-122"/>
                          <a:ea typeface="微软雅黑" panose="020B0503020204020204" pitchFamily="34" charset="-122"/>
                        </a:rPr>
                        <a:t>时间为每周一</a:t>
                      </a:r>
                      <a:r>
                        <a:rPr lang="en-US" altLang="zh-CN" sz="1200" b="0" cap="all" spc="-60" dirty="0" smtClean="0">
                          <a:solidFill>
                            <a:srgbClr val="000000"/>
                          </a:solidFill>
                          <a:latin typeface="微软雅黑" panose="020B0503020204020204" pitchFamily="34" charset="-122"/>
                          <a:ea typeface="微软雅黑" panose="020B0503020204020204" pitchFamily="34" charset="-122"/>
                        </a:rPr>
                        <a:t>9</a:t>
                      </a:r>
                      <a:r>
                        <a:rPr lang="zh-CN" altLang="en-US" sz="1200" b="0" cap="all" spc="-60" dirty="0" smtClean="0">
                          <a:solidFill>
                            <a:srgbClr val="000000"/>
                          </a:solidFill>
                          <a:latin typeface="微软雅黑" panose="020B0503020204020204" pitchFamily="34" charset="-122"/>
                          <a:ea typeface="微软雅黑" panose="020B0503020204020204" pitchFamily="34" charset="-122"/>
                        </a:rPr>
                        <a:t>:00-1</a:t>
                      </a:r>
                      <a:r>
                        <a:rPr lang="en-US" altLang="zh-CN" sz="1200" b="0" cap="all" spc="-60" dirty="0" smtClean="0">
                          <a:solidFill>
                            <a:srgbClr val="000000"/>
                          </a:solidFill>
                          <a:latin typeface="微软雅黑" panose="020B0503020204020204" pitchFamily="34" charset="-122"/>
                          <a:ea typeface="微软雅黑" panose="020B0503020204020204" pitchFamily="34" charset="-122"/>
                        </a:rPr>
                        <a:t>0</a:t>
                      </a:r>
                      <a:r>
                        <a:rPr lang="zh-CN" altLang="en-US" sz="1200" b="0" cap="all" spc="-60" dirty="0" smtClean="0">
                          <a:solidFill>
                            <a:srgbClr val="000000"/>
                          </a:solidFill>
                          <a:latin typeface="微软雅黑" panose="020B0503020204020204" pitchFamily="34" charset="-122"/>
                          <a:ea typeface="微软雅黑" panose="020B0503020204020204" pitchFamily="34" charset="-122"/>
                        </a:rPr>
                        <a:t>:00；</a:t>
                      </a:r>
                      <a:endParaRPr lang="zh-CN" altLang="en-US" sz="1200" b="0" cap="all" spc="-60" dirty="0" smtClean="0">
                        <a:solidFill>
                          <a:srgbClr val="000000"/>
                        </a:solidFill>
                        <a:latin typeface="微软雅黑" panose="020B0503020204020204" pitchFamily="34" charset="-122"/>
                        <a:ea typeface="微软雅黑" panose="020B0503020204020204" pitchFamily="34" charset="-122"/>
                      </a:endParaRPr>
                    </a:p>
                    <a:p>
                      <a:pPr marL="342900" indent="-342900" algn="l">
                        <a:lnSpc>
                          <a:spcPct val="150000"/>
                        </a:lnSpc>
                        <a:buClrTx/>
                        <a:buSzTx/>
                        <a:buFont typeface="+mj-ea"/>
                        <a:buAutoNum type="circleNumDbPlain"/>
                      </a:pPr>
                      <a:r>
                        <a:rPr lang="zh-CN" altLang="en-US" sz="1200" b="0" cap="all" spc="-60" dirty="0" smtClean="0">
                          <a:solidFill>
                            <a:srgbClr val="000000"/>
                          </a:solidFill>
                          <a:latin typeface="微软雅黑" panose="020B0503020204020204" pitchFamily="34" charset="-122"/>
                          <a:ea typeface="微软雅黑" panose="020B0503020204020204" pitchFamily="34" charset="-122"/>
                        </a:rPr>
                        <a:t>无法参加需要提前请假。</a:t>
                      </a:r>
                      <a:endParaRPr lang="zh-CN" altLang="en-US" sz="1200" b="0" cap="all" spc="-60" dirty="0" smtClean="0">
                        <a:solidFill>
                          <a:srgbClr val="000000"/>
                        </a:solidFill>
                        <a:latin typeface="微软雅黑" panose="020B0503020204020204" pitchFamily="34" charset="-122"/>
                        <a:ea typeface="微软雅黑" panose="020B0503020204020204" pitchFamily="34" charset="-122"/>
                      </a:endParaRPr>
                    </a:p>
                  </a:txBody>
                  <a:tcPr anchor="ctr" anchorCtr="0"/>
                </a:tc>
              </a:tr>
            </a:tbl>
          </a:graphicData>
        </a:graphic>
      </p:graphicFrame>
      <p:graphicFrame>
        <p:nvGraphicFramePr>
          <p:cNvPr id="151" name="对象 150"/>
          <p:cNvGraphicFramePr/>
          <p:nvPr/>
        </p:nvGraphicFramePr>
        <p:xfrm>
          <a:off x="653415" y="995680"/>
          <a:ext cx="1861820" cy="4789805"/>
        </p:xfrm>
        <a:graphic>
          <a:graphicData uri="http://schemas.openxmlformats.org/presentationml/2006/ole">
            <mc:AlternateContent xmlns:mc="http://schemas.openxmlformats.org/markup-compatibility/2006">
              <mc:Choice xmlns:v="urn:schemas-microsoft-com:vml" Requires="v">
                <p:oleObj spid="_x0000_s152" name="" r:id="rId2" imgW="2847975" imgH="7581900" progId="EdrawMax.EdrawDocument.1">
                  <p:embed/>
                </p:oleObj>
              </mc:Choice>
              <mc:Fallback>
                <p:oleObj name="" r:id="rId2" imgW="2847975" imgH="7581900" progId="EdrawMax.EdrawDocument.1">
                  <p:embed/>
                  <p:pic>
                    <p:nvPicPr>
                      <p:cNvPr id="0" name="图片 5"/>
                      <p:cNvPicPr/>
                      <p:nvPr/>
                    </p:nvPicPr>
                    <p:blipFill>
                      <a:blip r:embed="rId3"/>
                      <a:stretch>
                        <a:fillRect/>
                      </a:stretch>
                    </p:blipFill>
                    <p:spPr>
                      <a:xfrm>
                        <a:off x="653415" y="995680"/>
                        <a:ext cx="1861820" cy="4789805"/>
                      </a:xfrm>
                      <a:prstGeom prst="rect">
                        <a:avLst/>
                      </a:prstGeom>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66775" y="774700"/>
            <a:ext cx="10487025" cy="5307965"/>
          </a:xfrm>
        </p:spPr>
        <p:txBody>
          <a:bodyPr>
            <a:noAutofit/>
          </a:bodyPr>
          <a:lstStyle/>
          <a:p>
            <a:pPr marL="0" indent="457200" algn="l" fontAlgn="auto">
              <a:lnSpc>
                <a:spcPct val="150000"/>
              </a:lnSpc>
              <a:buNone/>
            </a:pPr>
            <a:r>
              <a:rPr lang="zh-CN" altLang="en-US" sz="2800" b="1" dirty="0">
                <a:solidFill>
                  <a:srgbClr val="7030A0"/>
                </a:solidFill>
              </a:rPr>
              <a:t>小结：</a:t>
            </a:r>
            <a:endParaRPr lang="zh-CN" altLang="en-US" sz="2800" b="1" dirty="0">
              <a:solidFill>
                <a:srgbClr val="7030A0"/>
              </a:solidFill>
            </a:endParaRPr>
          </a:p>
          <a:p>
            <a:pPr marL="0" indent="457200" algn="l" fontAlgn="auto">
              <a:lnSpc>
                <a:spcPct val="150000"/>
              </a:lnSpc>
              <a:buNone/>
            </a:pPr>
            <a:r>
              <a:rPr lang="zh-CN" altLang="en-US" sz="2800" b="1" dirty="0">
                <a:solidFill>
                  <a:schemeClr val="tx1"/>
                </a:solidFill>
              </a:rPr>
              <a:t>流程划分为</a:t>
            </a:r>
            <a:r>
              <a:rPr lang="zh-CN" altLang="en-US" sz="2800" b="1" dirty="0">
                <a:solidFill>
                  <a:srgbClr val="00B050"/>
                </a:solidFill>
              </a:rPr>
              <a:t>跨部门流程</a:t>
            </a:r>
            <a:r>
              <a:rPr lang="zh-CN" altLang="en-US" sz="2800" b="1" dirty="0">
                <a:solidFill>
                  <a:schemeClr val="tx1"/>
                </a:solidFill>
              </a:rPr>
              <a:t>、</a:t>
            </a:r>
            <a:r>
              <a:rPr lang="zh-CN" altLang="en-US" sz="2800" b="1" dirty="0">
                <a:solidFill>
                  <a:srgbClr val="00B050"/>
                </a:solidFill>
              </a:rPr>
              <a:t>跨班组流程</a:t>
            </a:r>
            <a:r>
              <a:rPr lang="zh-CN" altLang="en-US" sz="2800" b="1" dirty="0">
                <a:solidFill>
                  <a:schemeClr val="tx1"/>
                </a:solidFill>
              </a:rPr>
              <a:t>及</a:t>
            </a:r>
            <a:r>
              <a:rPr lang="zh-CN" altLang="en-US" sz="2800" b="1" dirty="0">
                <a:solidFill>
                  <a:srgbClr val="00B050"/>
                </a:solidFill>
              </a:rPr>
              <a:t>跨岗位流程</a:t>
            </a:r>
            <a:r>
              <a:rPr lang="zh-CN" altLang="en-US" sz="2800" b="1" dirty="0">
                <a:solidFill>
                  <a:schemeClr val="tx1"/>
                </a:solidFill>
              </a:rPr>
              <a:t>。</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通过</a:t>
            </a:r>
            <a:r>
              <a:rPr lang="zh-CN" altLang="en-US" sz="2800" b="1" dirty="0">
                <a:solidFill>
                  <a:schemeClr val="tx1"/>
                </a:solidFill>
              </a:rPr>
              <a:t>流程设置应该设置的</a:t>
            </a:r>
            <a:r>
              <a:rPr lang="zh-CN" altLang="en-US" sz="2800" b="1" dirty="0">
                <a:solidFill>
                  <a:srgbClr val="00B050"/>
                </a:solidFill>
              </a:rPr>
              <a:t>部门</a:t>
            </a:r>
            <a:r>
              <a:rPr lang="zh-CN" altLang="en-US" sz="2800" b="1" dirty="0">
                <a:solidFill>
                  <a:schemeClr val="tx1"/>
                </a:solidFill>
              </a:rPr>
              <a:t>、</a:t>
            </a:r>
            <a:r>
              <a:rPr lang="zh-CN" altLang="en-US" sz="2800" b="1" dirty="0">
                <a:solidFill>
                  <a:srgbClr val="00B050"/>
                </a:solidFill>
              </a:rPr>
              <a:t>班组</a:t>
            </a:r>
            <a:r>
              <a:rPr lang="zh-CN" altLang="en-US" sz="2800" b="1" dirty="0">
                <a:solidFill>
                  <a:schemeClr val="tx1"/>
                </a:solidFill>
              </a:rPr>
              <a:t>及</a:t>
            </a:r>
            <a:r>
              <a:rPr lang="zh-CN" altLang="en-US" sz="2800" b="1" dirty="0">
                <a:solidFill>
                  <a:srgbClr val="00B050"/>
                </a:solidFill>
              </a:rPr>
              <a:t>岗位</a:t>
            </a:r>
            <a:r>
              <a:rPr lang="zh-CN" altLang="en-US" sz="2800" b="1" dirty="0">
                <a:solidFill>
                  <a:schemeClr val="tx1"/>
                </a:solidFill>
              </a:rPr>
              <a:t>。</a:t>
            </a:r>
            <a:endParaRPr lang="zh-CN" altLang="en-US" sz="2800" b="1" dirty="0">
              <a:solidFill>
                <a:schemeClr val="tx1"/>
              </a:solidFill>
            </a:endParaRPr>
          </a:p>
          <a:p>
            <a:pPr marL="0" indent="457200" algn="l" fontAlgn="auto">
              <a:lnSpc>
                <a:spcPct val="150000"/>
              </a:lnSpc>
              <a:buNone/>
            </a:pPr>
            <a:r>
              <a:rPr lang="zh-CN" altLang="en-US" sz="2800" b="1" dirty="0">
                <a:solidFill>
                  <a:schemeClr val="tx1"/>
                </a:solidFill>
              </a:rPr>
              <a:t>也就是根据一级流程的职能分工合理设置各部门、根据二级流程的职能分工合理设置各班组、根据三级流程的职能分工合理设置各岗位。</a:t>
            </a:r>
            <a:endParaRPr lang="zh-CN" altLang="en-US" sz="2800" b="1" dirty="0">
              <a:solidFill>
                <a:schemeClr val="tx1"/>
              </a:solidFill>
            </a:endParaRPr>
          </a:p>
        </p:txBody>
      </p:sp>
      <p:sp>
        <p:nvSpPr>
          <p:cNvPr id="4" name="灯片编号占位符 3"/>
          <p:cNvSpPr>
            <a:spLocks noGrp="1"/>
          </p:cNvSpPr>
          <p:nvPr>
            <p:ph type="sldNum" sz="quarter" idx="12"/>
          </p:nvPr>
        </p:nvSpPr>
        <p:spPr/>
        <p:txBody>
          <a:bodyPr/>
          <a:lstStyle/>
          <a:p>
            <a:fld id="{2B2480BF-4544-46C3-88FF-29CB4BD8896C}" type="slidenum">
              <a:rPr lang="zh-CN" altLang="en-US" smtClean="0"/>
            </a:fld>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952500" y="741680"/>
            <a:ext cx="10401300" cy="6116320"/>
          </a:xfrm>
        </p:spPr>
        <p:txBody>
          <a:bodyPr>
            <a:noAutofit/>
          </a:bodyPr>
          <a:p>
            <a:pPr marL="0" indent="457200" fontAlgn="auto">
              <a:lnSpc>
                <a:spcPct val="150000"/>
              </a:lnSpc>
              <a:buNone/>
            </a:pPr>
            <a:endParaRPr lang="zh-CN" altLang="en-US" sz="2800" b="1"/>
          </a:p>
          <a:p>
            <a:pPr marL="0" indent="457200" fontAlgn="auto">
              <a:lnSpc>
                <a:spcPct val="150000"/>
              </a:lnSpc>
              <a:buNone/>
            </a:pPr>
            <a:endParaRPr lang="zh-CN" altLang="en-US" sz="2800" b="1"/>
          </a:p>
          <a:p>
            <a:pPr marL="0" indent="457200" fontAlgn="auto">
              <a:lnSpc>
                <a:spcPct val="150000"/>
              </a:lnSpc>
              <a:buNone/>
            </a:pPr>
            <a:endParaRPr lang="zh-CN" altLang="en-US" b="1"/>
          </a:p>
          <a:p>
            <a:pPr marL="0" indent="457200" fontAlgn="auto">
              <a:lnSpc>
                <a:spcPct val="150000"/>
              </a:lnSpc>
              <a:buNone/>
            </a:pPr>
            <a:endParaRPr lang="zh-CN" altLang="en-US" b="1"/>
          </a:p>
          <a:p>
            <a:pPr marL="0" indent="457200" fontAlgn="auto">
              <a:lnSpc>
                <a:spcPct val="150000"/>
              </a:lnSpc>
              <a:buNone/>
            </a:pPr>
            <a:endParaRPr lang="zh-CN" altLang="en-US" b="1"/>
          </a:p>
          <a:p>
            <a:pPr marL="0" indent="457200" fontAlgn="auto">
              <a:lnSpc>
                <a:spcPct val="150000"/>
              </a:lnSpc>
              <a:buNone/>
            </a:pPr>
            <a:r>
              <a:rPr lang="zh-CN" altLang="en-US" b="1"/>
              <a:t>沿着流程管理的实施路线，整个项目的幸福度</a:t>
            </a:r>
            <a:r>
              <a:rPr lang="en-US" altLang="zh-CN" b="1"/>
              <a:t>（</a:t>
            </a:r>
            <a:r>
              <a:rPr lang="zh-CN" altLang="en-US" b="1"/>
              <a:t>企业的</a:t>
            </a:r>
            <a:r>
              <a:rPr lang="zh-CN" altLang="en-US" b="1">
                <a:solidFill>
                  <a:srgbClr val="00B050"/>
                </a:solidFill>
              </a:rPr>
              <a:t>收益度</a:t>
            </a:r>
            <a:r>
              <a:rPr lang="en-US" altLang="zh-CN" b="1"/>
              <a:t>+</a:t>
            </a:r>
            <a:r>
              <a:rPr lang="zh-CN" altLang="en-US" b="1"/>
              <a:t>项目组人员的</a:t>
            </a:r>
            <a:r>
              <a:rPr lang="zh-CN" altLang="en-US" b="1">
                <a:solidFill>
                  <a:srgbClr val="00B050"/>
                </a:solidFill>
              </a:rPr>
              <a:t>满意度</a:t>
            </a:r>
            <a:r>
              <a:rPr lang="en-US" altLang="zh-CN" b="1"/>
              <a:t>）</a:t>
            </a:r>
            <a:r>
              <a:rPr lang="zh-CN" altLang="en-US" b="1"/>
              <a:t>呈现出波动发展趋势，其中也不乏</a:t>
            </a:r>
            <a:r>
              <a:rPr lang="en-US" altLang="zh-CN" b="1"/>
              <a:t>“</a:t>
            </a:r>
            <a:r>
              <a:rPr lang="zh-CN" altLang="en-US" b="1"/>
              <a:t>观望</a:t>
            </a:r>
            <a:r>
              <a:rPr lang="en-US" altLang="zh-CN" b="1"/>
              <a:t>”</a:t>
            </a:r>
            <a:r>
              <a:rPr lang="zh-CN" altLang="en-US" b="1"/>
              <a:t>和</a:t>
            </a:r>
            <a:r>
              <a:rPr lang="en-US" altLang="zh-CN" b="1"/>
              <a:t>“</a:t>
            </a:r>
            <a:r>
              <a:rPr lang="zh-CN" altLang="en-US" b="1"/>
              <a:t>混乱</a:t>
            </a:r>
            <a:r>
              <a:rPr lang="en-US" altLang="zh-CN" b="1"/>
              <a:t>”</a:t>
            </a:r>
            <a:r>
              <a:rPr lang="zh-CN" altLang="en-US" b="1"/>
              <a:t>的时候，但一旦能顺利到达</a:t>
            </a:r>
            <a:r>
              <a:rPr lang="en-US" altLang="zh-CN" b="1"/>
              <a:t>“</a:t>
            </a:r>
            <a:r>
              <a:rPr lang="zh-CN" altLang="en-US" b="1"/>
              <a:t>持续改善</a:t>
            </a:r>
            <a:r>
              <a:rPr lang="en-US" altLang="zh-CN" b="1"/>
              <a:t>”</a:t>
            </a:r>
            <a:r>
              <a:rPr lang="zh-CN" altLang="en-US" b="1"/>
              <a:t>的阶段并一直坚持下去，那么幸福度就能够持续走高了。</a:t>
            </a:r>
            <a:endParaRPr lang="zh-CN" altLang="en-US" b="1"/>
          </a:p>
        </p:txBody>
      </p:sp>
      <p:sp>
        <p:nvSpPr>
          <p:cNvPr id="4" name="灯片编号占位符 3"/>
          <p:cNvSpPr>
            <a:spLocks noGrp="1"/>
          </p:cNvSpPr>
          <p:nvPr>
            <p:ph type="sldNum" sz="quarter" idx="12"/>
          </p:nvPr>
        </p:nvSpPr>
        <p:spPr/>
        <p:txBody>
          <a:bodyPr/>
          <a:p>
            <a:fld id="{2B2480BF-4544-46C3-88FF-29CB4BD8896C}" type="slidenum">
              <a:rPr lang="zh-CN" altLang="en-US" smtClean="0"/>
            </a:fld>
            <a:endParaRPr lang="zh-CN" altLang="en-US"/>
          </a:p>
        </p:txBody>
      </p:sp>
      <p:cxnSp>
        <p:nvCxnSpPr>
          <p:cNvPr id="5" name="直接箭头连接符 4"/>
          <p:cNvCxnSpPr/>
          <p:nvPr/>
        </p:nvCxnSpPr>
        <p:spPr>
          <a:xfrm>
            <a:off x="2700020" y="4110990"/>
            <a:ext cx="7753350" cy="0"/>
          </a:xfrm>
          <a:prstGeom prst="straightConnector1">
            <a:avLst/>
          </a:prstGeom>
          <a:ln w="31750">
            <a:gradFill>
              <a:gsLst>
                <a:gs pos="0">
                  <a:prstClr val="black">
                    <a:hueOff val="-4200000"/>
                  </a:prstClr>
                </a:gs>
                <a:gs pos="100000">
                  <a:prstClr val="black"/>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6" name="直接箭头连接符 5"/>
          <p:cNvCxnSpPr/>
          <p:nvPr/>
        </p:nvCxnSpPr>
        <p:spPr>
          <a:xfrm flipV="1">
            <a:off x="2719070" y="1343660"/>
            <a:ext cx="9525" cy="2757170"/>
          </a:xfrm>
          <a:prstGeom prst="straightConnector1">
            <a:avLst/>
          </a:prstGeom>
          <a:ln w="31750">
            <a:gradFill>
              <a:gsLst>
                <a:gs pos="0">
                  <a:prstClr val="black">
                    <a:hueOff val="-4200000"/>
                  </a:prstClr>
                </a:gs>
                <a:gs pos="100000">
                  <a:prstClr val="black"/>
                </a:gs>
              </a:gsLst>
            </a:gradFill>
            <a:tailEnd type="arrow" w="med" len="med"/>
          </a:ln>
        </p:spPr>
        <p:style>
          <a:lnRef idx="0">
            <a:srgbClr val="FFFFFF"/>
          </a:lnRef>
          <a:fillRef idx="0">
            <a:srgbClr val="FFFFFF"/>
          </a:fillRef>
          <a:effectRef idx="0">
            <a:srgbClr val="FFFFFF"/>
          </a:effectRef>
          <a:fontRef idx="minor">
            <a:schemeClr val="tx1"/>
          </a:fontRef>
        </p:style>
      </p:cxnSp>
      <p:sp>
        <p:nvSpPr>
          <p:cNvPr id="7" name="文本框 6"/>
          <p:cNvSpPr txBox="1"/>
          <p:nvPr/>
        </p:nvSpPr>
        <p:spPr>
          <a:xfrm>
            <a:off x="1474470" y="1233170"/>
            <a:ext cx="1225550" cy="460375"/>
          </a:xfrm>
          <a:prstGeom prst="rect">
            <a:avLst/>
          </a:prstGeom>
          <a:noFill/>
        </p:spPr>
        <p:txBody>
          <a:bodyPr wrap="square" rtlCol="0" anchor="t">
            <a:spAutoFit/>
          </a:bodyPr>
          <a:p>
            <a:r>
              <a:rPr lang="zh-CN" altLang="en-US" sz="2400" b="1">
                <a:latin typeface="微软雅黑" panose="020B0503020204020204" pitchFamily="34" charset="-122"/>
                <a:ea typeface="微软雅黑" panose="020B0503020204020204" pitchFamily="34" charset="-122"/>
                <a:sym typeface="+mn-ea"/>
              </a:rPr>
              <a:t>幸福度</a:t>
            </a:r>
            <a:endParaRPr lang="zh-CN" altLang="en-US" sz="2400" b="1">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420995" y="647065"/>
            <a:ext cx="2433955" cy="583565"/>
          </a:xfrm>
          <a:prstGeom prst="rect">
            <a:avLst/>
          </a:prstGeom>
          <a:noFill/>
        </p:spPr>
        <p:txBody>
          <a:bodyPr wrap="square" rtlCol="0" anchor="t">
            <a:spAutoFit/>
          </a:bodyPr>
          <a:p>
            <a:r>
              <a:rPr lang="zh-CN" altLang="en-US" sz="3200" b="1">
                <a:solidFill>
                  <a:srgbClr val="FF0000"/>
                </a:solidFill>
                <a:latin typeface="微软雅黑" panose="020B0503020204020204" pitchFamily="34" charset="-122"/>
                <a:ea typeface="微软雅黑" panose="020B0503020204020204" pitchFamily="34" charset="-122"/>
                <a:sym typeface="+mn-ea"/>
              </a:rPr>
              <a:t>幸福曲线</a:t>
            </a:r>
            <a:endParaRPr lang="zh-CN" altLang="en-US" sz="3200" b="1">
              <a:solidFill>
                <a:srgbClr val="FF0000"/>
              </a:solidFill>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9551670" y="3569335"/>
            <a:ext cx="1225550" cy="460375"/>
          </a:xfrm>
          <a:prstGeom prst="rect">
            <a:avLst/>
          </a:prstGeom>
          <a:noFill/>
        </p:spPr>
        <p:txBody>
          <a:bodyPr wrap="square" rtlCol="0" anchor="t">
            <a:spAutoFit/>
          </a:bodyPr>
          <a:p>
            <a:r>
              <a:rPr lang="zh-CN" altLang="en-US" sz="2400" b="1">
                <a:latin typeface="微软雅黑" panose="020B0503020204020204" pitchFamily="34" charset="-122"/>
                <a:ea typeface="微软雅黑" panose="020B0503020204020204" pitchFamily="34" charset="-122"/>
                <a:sym typeface="+mn-ea"/>
              </a:rPr>
              <a:t>时间</a:t>
            </a:r>
            <a:endParaRPr lang="zh-CN" altLang="en-US" sz="2400" b="1">
              <a:latin typeface="微软雅黑" panose="020B0503020204020204" pitchFamily="34" charset="-122"/>
              <a:ea typeface="微软雅黑" panose="020B0503020204020204" pitchFamily="34" charset="-122"/>
              <a:sym typeface="+mn-ea"/>
            </a:endParaRPr>
          </a:p>
        </p:txBody>
      </p:sp>
      <p:sp>
        <p:nvSpPr>
          <p:cNvPr id="11" name="任意多边形 10"/>
          <p:cNvSpPr/>
          <p:nvPr/>
        </p:nvSpPr>
        <p:spPr>
          <a:xfrm>
            <a:off x="2727960" y="1018540"/>
            <a:ext cx="8176260" cy="2838450"/>
          </a:xfrm>
          <a:custGeom>
            <a:avLst/>
            <a:gdLst>
              <a:gd name="connisteX0" fmla="*/ 0 w 8241897"/>
              <a:gd name="connsiteY0" fmla="*/ 2009060 h 2838582"/>
              <a:gd name="connisteX1" fmla="*/ 969645 w 8241897"/>
              <a:gd name="connsiteY1" fmla="*/ 935910 h 2838582"/>
              <a:gd name="connisteX2" fmla="*/ 2508250 w 8241897"/>
              <a:gd name="connsiteY2" fmla="*/ 2836465 h 2838582"/>
              <a:gd name="connisteX3" fmla="*/ 4629150 w 8241897"/>
              <a:gd name="connsiteY3" fmla="*/ 573960 h 2838582"/>
              <a:gd name="connisteX4" fmla="*/ 5676265 w 8241897"/>
              <a:gd name="connsiteY4" fmla="*/ 780970 h 2838582"/>
              <a:gd name="connisteX5" fmla="*/ 7938770 w 8241897"/>
              <a:gd name="connsiteY5" fmla="*/ 95170 h 2838582"/>
              <a:gd name="connisteX6" fmla="*/ 8171180 w 8241897"/>
              <a:gd name="connsiteY6" fmla="*/ 17700 h 283858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8241898" h="2838583">
                <a:moveTo>
                  <a:pt x="0" y="2009061"/>
                </a:moveTo>
                <a:cubicBezTo>
                  <a:pt x="163195" y="1756331"/>
                  <a:pt x="467995" y="770176"/>
                  <a:pt x="969645" y="935911"/>
                </a:cubicBezTo>
                <a:cubicBezTo>
                  <a:pt x="1471295" y="1101646"/>
                  <a:pt x="1776095" y="2908856"/>
                  <a:pt x="2508250" y="2836466"/>
                </a:cubicBezTo>
                <a:cubicBezTo>
                  <a:pt x="3240405" y="2764076"/>
                  <a:pt x="3995420" y="984806"/>
                  <a:pt x="4629150" y="573961"/>
                </a:cubicBezTo>
                <a:cubicBezTo>
                  <a:pt x="5262880" y="163116"/>
                  <a:pt x="5014595" y="876856"/>
                  <a:pt x="5676265" y="780971"/>
                </a:cubicBezTo>
                <a:cubicBezTo>
                  <a:pt x="6337935" y="685086"/>
                  <a:pt x="7439660" y="247571"/>
                  <a:pt x="7938770" y="95171"/>
                </a:cubicBezTo>
                <a:cubicBezTo>
                  <a:pt x="8437880" y="-57229"/>
                  <a:pt x="8169910" y="19606"/>
                  <a:pt x="8171180" y="17701"/>
                </a:cubicBezTo>
              </a:path>
            </a:pathLst>
          </a:custGeom>
          <a:no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3013075" y="1445895"/>
            <a:ext cx="1225550" cy="460375"/>
          </a:xfrm>
          <a:prstGeom prst="rect">
            <a:avLst/>
          </a:prstGeom>
          <a:noFill/>
        </p:spPr>
        <p:txBody>
          <a:bodyPr wrap="square" rtlCol="0" anchor="t">
            <a:spAutoFit/>
          </a:bodyPr>
          <a:p>
            <a:pPr algn="ctr"/>
            <a:r>
              <a:rPr lang="zh-CN" altLang="en-US" sz="2400" b="1">
                <a:latin typeface="微软雅黑" panose="020B0503020204020204" pitchFamily="34" charset="-122"/>
                <a:ea typeface="微软雅黑" panose="020B0503020204020204" pitchFamily="34" charset="-122"/>
                <a:sym typeface="+mn-ea"/>
              </a:rPr>
              <a:t>好奇</a:t>
            </a:r>
            <a:endParaRPr lang="zh-CN" altLang="en-US" sz="2400" b="1">
              <a:latin typeface="微软雅黑" panose="020B0503020204020204" pitchFamily="34" charset="-122"/>
              <a:ea typeface="微软雅黑" panose="020B0503020204020204" pitchFamily="34" charset="-122"/>
              <a:sym typeface="+mn-ea"/>
            </a:endParaRPr>
          </a:p>
        </p:txBody>
      </p:sp>
      <p:sp>
        <p:nvSpPr>
          <p:cNvPr id="13" name="文本框 12"/>
          <p:cNvSpPr txBox="1"/>
          <p:nvPr/>
        </p:nvSpPr>
        <p:spPr>
          <a:xfrm>
            <a:off x="4098925" y="2492375"/>
            <a:ext cx="1225550" cy="460375"/>
          </a:xfrm>
          <a:prstGeom prst="rect">
            <a:avLst/>
          </a:prstGeom>
          <a:noFill/>
        </p:spPr>
        <p:txBody>
          <a:bodyPr wrap="square" rtlCol="0" anchor="t">
            <a:spAutoFit/>
          </a:bodyPr>
          <a:p>
            <a:pPr algn="ctr"/>
            <a:r>
              <a:rPr lang="zh-CN" altLang="en-US" sz="2400" b="1">
                <a:latin typeface="微软雅黑" panose="020B0503020204020204" pitchFamily="34" charset="-122"/>
                <a:ea typeface="微软雅黑" panose="020B0503020204020204" pitchFamily="34" charset="-122"/>
                <a:sym typeface="+mn-ea"/>
              </a:rPr>
              <a:t>观望</a:t>
            </a:r>
            <a:endParaRPr lang="zh-CN" altLang="en-US" sz="2400" b="1">
              <a:latin typeface="微软雅黑" panose="020B0503020204020204" pitchFamily="34" charset="-122"/>
              <a:ea typeface="微软雅黑" panose="020B0503020204020204" pitchFamily="34" charset="-122"/>
              <a:sym typeface="+mn-ea"/>
            </a:endParaRPr>
          </a:p>
        </p:txBody>
      </p:sp>
      <p:sp>
        <p:nvSpPr>
          <p:cNvPr id="14" name="文本框 13"/>
          <p:cNvSpPr txBox="1"/>
          <p:nvPr/>
        </p:nvSpPr>
        <p:spPr>
          <a:xfrm>
            <a:off x="4551045" y="3302000"/>
            <a:ext cx="1225550" cy="460375"/>
          </a:xfrm>
          <a:prstGeom prst="rect">
            <a:avLst/>
          </a:prstGeom>
          <a:noFill/>
        </p:spPr>
        <p:txBody>
          <a:bodyPr wrap="square" rtlCol="0" anchor="t">
            <a:spAutoFit/>
          </a:bodyPr>
          <a:p>
            <a:pPr algn="ctr"/>
            <a:r>
              <a:rPr lang="zh-CN" altLang="en-US" sz="2400" b="1">
                <a:latin typeface="微软雅黑" panose="020B0503020204020204" pitchFamily="34" charset="-122"/>
                <a:ea typeface="微软雅黑" panose="020B0503020204020204" pitchFamily="34" charset="-122"/>
                <a:sym typeface="+mn-ea"/>
              </a:rPr>
              <a:t>混乱</a:t>
            </a:r>
            <a:endParaRPr lang="zh-CN" altLang="en-US" sz="2400" b="1">
              <a:latin typeface="微软雅黑" panose="020B0503020204020204" pitchFamily="34" charset="-122"/>
              <a:ea typeface="微软雅黑" panose="020B0503020204020204" pitchFamily="34" charset="-122"/>
              <a:sym typeface="+mn-ea"/>
            </a:endParaRPr>
          </a:p>
        </p:txBody>
      </p:sp>
      <p:sp>
        <p:nvSpPr>
          <p:cNvPr id="15" name="文本框 14"/>
          <p:cNvSpPr txBox="1"/>
          <p:nvPr/>
        </p:nvSpPr>
        <p:spPr>
          <a:xfrm>
            <a:off x="5776595" y="1906270"/>
            <a:ext cx="1225550" cy="460375"/>
          </a:xfrm>
          <a:prstGeom prst="rect">
            <a:avLst/>
          </a:prstGeom>
          <a:noFill/>
        </p:spPr>
        <p:txBody>
          <a:bodyPr wrap="square" rtlCol="0" anchor="t">
            <a:spAutoFit/>
          </a:bodyPr>
          <a:p>
            <a:pPr algn="ctr"/>
            <a:r>
              <a:rPr lang="zh-CN" altLang="en-US" sz="2400" b="1">
                <a:latin typeface="微软雅黑" panose="020B0503020204020204" pitchFamily="34" charset="-122"/>
                <a:ea typeface="微软雅黑" panose="020B0503020204020204" pitchFamily="34" charset="-122"/>
                <a:sym typeface="+mn-ea"/>
              </a:rPr>
              <a:t>控制</a:t>
            </a:r>
            <a:endParaRPr lang="zh-CN" altLang="en-US" sz="2400" b="1">
              <a:latin typeface="微软雅黑" panose="020B0503020204020204" pitchFamily="34" charset="-122"/>
              <a:ea typeface="微软雅黑" panose="020B0503020204020204" pitchFamily="34" charset="-122"/>
              <a:sym typeface="+mn-ea"/>
            </a:endParaRPr>
          </a:p>
        </p:txBody>
      </p:sp>
      <p:sp>
        <p:nvSpPr>
          <p:cNvPr id="16" name="文本框 15"/>
          <p:cNvSpPr txBox="1"/>
          <p:nvPr/>
        </p:nvSpPr>
        <p:spPr>
          <a:xfrm>
            <a:off x="7002145" y="1549400"/>
            <a:ext cx="1225550" cy="460375"/>
          </a:xfrm>
          <a:prstGeom prst="rect">
            <a:avLst/>
          </a:prstGeom>
          <a:noFill/>
        </p:spPr>
        <p:txBody>
          <a:bodyPr wrap="square" rtlCol="0" anchor="t">
            <a:spAutoFit/>
          </a:bodyPr>
          <a:p>
            <a:pPr algn="ctr"/>
            <a:r>
              <a:rPr lang="zh-CN" altLang="en-US" sz="2400" b="1">
                <a:latin typeface="微软雅黑" panose="020B0503020204020204" pitchFamily="34" charset="-122"/>
                <a:ea typeface="微软雅黑" panose="020B0503020204020204" pitchFamily="34" charset="-122"/>
                <a:sym typeface="+mn-ea"/>
              </a:rPr>
              <a:t>满意</a:t>
            </a:r>
            <a:endParaRPr lang="zh-CN" altLang="en-US" sz="2400" b="1">
              <a:latin typeface="微软雅黑" panose="020B0503020204020204" pitchFamily="34" charset="-122"/>
              <a:ea typeface="微软雅黑" panose="020B0503020204020204" pitchFamily="34" charset="-122"/>
              <a:sym typeface="+mn-ea"/>
            </a:endParaRPr>
          </a:p>
        </p:txBody>
      </p:sp>
      <p:sp>
        <p:nvSpPr>
          <p:cNvPr id="17" name="文本框 16"/>
          <p:cNvSpPr txBox="1"/>
          <p:nvPr/>
        </p:nvSpPr>
        <p:spPr>
          <a:xfrm>
            <a:off x="8408670" y="1693545"/>
            <a:ext cx="1225550" cy="460375"/>
          </a:xfrm>
          <a:prstGeom prst="rect">
            <a:avLst/>
          </a:prstGeom>
          <a:noFill/>
        </p:spPr>
        <p:txBody>
          <a:bodyPr wrap="square" rtlCol="0" anchor="t">
            <a:spAutoFit/>
          </a:bodyPr>
          <a:p>
            <a:pPr algn="ctr"/>
            <a:r>
              <a:rPr lang="zh-CN" altLang="en-US" sz="2400" b="1">
                <a:latin typeface="微软雅黑" panose="020B0503020204020204" pitchFamily="34" charset="-122"/>
                <a:ea typeface="微软雅黑" panose="020B0503020204020204" pitchFamily="34" charset="-122"/>
                <a:sym typeface="+mn-ea"/>
              </a:rPr>
              <a:t>稳定</a:t>
            </a:r>
            <a:endParaRPr lang="zh-CN" altLang="en-US" sz="2400" b="1">
              <a:latin typeface="微软雅黑" panose="020B0503020204020204" pitchFamily="34" charset="-122"/>
              <a:ea typeface="微软雅黑" panose="020B0503020204020204" pitchFamily="34" charset="-122"/>
              <a:sym typeface="+mn-ea"/>
            </a:endParaRPr>
          </a:p>
        </p:txBody>
      </p:sp>
      <p:sp>
        <p:nvSpPr>
          <p:cNvPr id="18" name="文本框 17"/>
          <p:cNvSpPr txBox="1"/>
          <p:nvPr/>
        </p:nvSpPr>
        <p:spPr>
          <a:xfrm>
            <a:off x="10218420" y="1089025"/>
            <a:ext cx="1536065" cy="460375"/>
          </a:xfrm>
          <a:prstGeom prst="rect">
            <a:avLst/>
          </a:prstGeom>
          <a:noFill/>
        </p:spPr>
        <p:txBody>
          <a:bodyPr wrap="square" rtlCol="0" anchor="t">
            <a:spAutoFit/>
          </a:bodyPr>
          <a:p>
            <a:pPr algn="ctr"/>
            <a:r>
              <a:rPr lang="zh-CN" altLang="en-US" sz="2400" b="1">
                <a:latin typeface="微软雅黑" panose="020B0503020204020204" pitchFamily="34" charset="-122"/>
                <a:ea typeface="微软雅黑" panose="020B0503020204020204" pitchFamily="34" charset="-122"/>
                <a:sym typeface="+mn-ea"/>
              </a:rPr>
              <a:t>持续改善</a:t>
            </a:r>
            <a:endParaRPr lang="zh-CN" altLang="en-US" sz="2400" b="1">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95350" y="634365"/>
            <a:ext cx="10401300" cy="5681345"/>
          </a:xfrm>
        </p:spPr>
        <p:txBody>
          <a:bodyPr>
            <a:noAutofit/>
          </a:bodyPr>
          <a:p>
            <a:pPr marL="0" indent="457200" fontAlgn="auto">
              <a:lnSpc>
                <a:spcPct val="150000"/>
              </a:lnSpc>
              <a:buNone/>
            </a:pPr>
            <a:r>
              <a:rPr lang="en-US" altLang="zh-CN" b="1"/>
              <a:t>3.</a:t>
            </a:r>
            <a:r>
              <a:rPr lang="zh-CN" altLang="en-US" b="1"/>
              <a:t>流程优化</a:t>
            </a:r>
            <a:endParaRPr lang="zh-CN" altLang="en-US" b="1"/>
          </a:p>
          <a:p>
            <a:pPr marL="0" indent="457200" fontAlgn="auto">
              <a:lnSpc>
                <a:spcPct val="150000"/>
              </a:lnSpc>
              <a:buNone/>
            </a:pPr>
            <a:r>
              <a:rPr lang="zh-CN" altLang="en-US" b="1"/>
              <a:t>何时流程需要进行优化，并不完全受制于时间，而是取决于三个变量：环境变化、竞争者行为的变化和客户需求的变化。</a:t>
            </a:r>
            <a:endParaRPr lang="zh-CN" altLang="en-US" b="1"/>
          </a:p>
          <a:p>
            <a:pPr marL="0" indent="457200" fontAlgn="auto">
              <a:lnSpc>
                <a:spcPct val="150000"/>
              </a:lnSpc>
              <a:buNone/>
            </a:pPr>
            <a:r>
              <a:rPr lang="zh-CN" altLang="en-US" b="1">
                <a:solidFill>
                  <a:srgbClr val="00B050"/>
                </a:solidFill>
              </a:rPr>
              <a:t>环境变化</a:t>
            </a:r>
            <a:r>
              <a:rPr lang="zh-CN" altLang="en-US" b="1"/>
              <a:t>：如果组织引进了新设备、新的信息系统等，那么都将带来流程的改变。伴随着信息系统的普及，很多服务机构都可以扫码点餐，那么原来的人工点餐流程就会逐步退出，取而代之的是服务人员要引导客户学会使用网上点餐或订餐系统。</a:t>
            </a:r>
            <a:endParaRPr lang="zh-CN" altLang="en-US" b="1"/>
          </a:p>
          <a:p>
            <a:pPr marL="0" indent="457200" fontAlgn="auto">
              <a:lnSpc>
                <a:spcPct val="150000"/>
              </a:lnSpc>
              <a:buNone/>
            </a:pPr>
            <a:r>
              <a:rPr lang="zh-CN" altLang="en-US" b="1">
                <a:solidFill>
                  <a:srgbClr val="00B050"/>
                </a:solidFill>
                <a:sym typeface="+mn-ea"/>
              </a:rPr>
              <a:t>竞争者行为的变化</a:t>
            </a:r>
            <a:r>
              <a:rPr lang="zh-CN" altLang="en-US" b="1">
                <a:sym typeface="+mn-ea"/>
              </a:rPr>
              <a:t>：如果竞争者采取更有竞争力的行为，也会导致同行效仿，同样会带来流程的升级。</a:t>
            </a:r>
            <a:endParaRPr lang="zh-CN" altLang="en-US" b="1"/>
          </a:p>
        </p:txBody>
      </p:sp>
      <p:sp>
        <p:nvSpPr>
          <p:cNvPr id="4" name="灯片编号占位符 3"/>
          <p:cNvSpPr>
            <a:spLocks noGrp="1"/>
          </p:cNvSpPr>
          <p:nvPr>
            <p:ph type="sldNum" sz="quarter" idx="12"/>
          </p:nvPr>
        </p:nvSpPr>
        <p:spPr/>
        <p:txBody>
          <a:bodyPr/>
          <a:p>
            <a:fld id="{2B2480BF-4544-46C3-88FF-29CB4BD8896C}" type="slidenum">
              <a:rPr lang="zh-CN" altLang="en-US" smtClean="0"/>
            </a:fld>
            <a:endParaRPr lang="zh-C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029970" y="885190"/>
            <a:ext cx="10401300" cy="5282565"/>
          </a:xfrm>
        </p:spPr>
        <p:txBody>
          <a:bodyPr>
            <a:noAutofit/>
          </a:bodyPr>
          <a:p>
            <a:pPr marL="0" indent="457200" fontAlgn="auto">
              <a:lnSpc>
                <a:spcPct val="150000"/>
              </a:lnSpc>
              <a:buNone/>
            </a:pPr>
            <a:r>
              <a:rPr lang="zh-CN" altLang="en-US" b="1"/>
              <a:t>比如，超市中引进</a:t>
            </a:r>
            <a:r>
              <a:rPr lang="en-US" altLang="zh-CN" b="1"/>
              <a:t>“</a:t>
            </a:r>
            <a:r>
              <a:rPr lang="zh-CN" altLang="en-US" b="1"/>
              <a:t>多点</a:t>
            </a:r>
            <a:r>
              <a:rPr lang="en-US" altLang="zh-CN" b="1"/>
              <a:t>”</a:t>
            </a:r>
            <a:r>
              <a:rPr lang="zh-CN" altLang="en-US" b="1"/>
              <a:t>信息系统，可以精准了解客户的购买偏好，有利于超市进行精准推送产品和服务信息，那么超市的收银流程也需要进行相应的调整。</a:t>
            </a:r>
            <a:endParaRPr lang="zh-CN" altLang="en-US" b="1"/>
          </a:p>
          <a:p>
            <a:pPr marL="0" indent="457200" fontAlgn="auto">
              <a:lnSpc>
                <a:spcPct val="150000"/>
              </a:lnSpc>
              <a:buNone/>
            </a:pPr>
            <a:r>
              <a:rPr lang="zh-CN" altLang="en-US" b="1">
                <a:solidFill>
                  <a:srgbClr val="00B050"/>
                </a:solidFill>
                <a:sym typeface="+mn-ea"/>
              </a:rPr>
              <a:t>客户需求的变化</a:t>
            </a:r>
            <a:r>
              <a:rPr lang="zh-CN" altLang="en-US" b="1">
                <a:sym typeface="+mn-ea"/>
              </a:rPr>
              <a:t>：任何时候，客户都是决定流程是否需要改变的原动力。</a:t>
            </a:r>
            <a:endParaRPr lang="zh-CN" altLang="en-US" b="1"/>
          </a:p>
          <a:p>
            <a:pPr marL="0" indent="457200" fontAlgn="auto">
              <a:lnSpc>
                <a:spcPct val="150000"/>
              </a:lnSpc>
              <a:buNone/>
            </a:pPr>
            <a:r>
              <a:rPr lang="zh-CN" altLang="en-US" b="1">
                <a:sym typeface="+mn-ea"/>
              </a:rPr>
              <a:t>比如，麦当劳针对各城市的夜生活需求，将营业时间延长至全天</a:t>
            </a:r>
            <a:r>
              <a:rPr lang="en-US" altLang="zh-CN" b="1">
                <a:sym typeface="+mn-ea"/>
              </a:rPr>
              <a:t>24</a:t>
            </a:r>
            <a:r>
              <a:rPr lang="zh-CN" altLang="en-US" b="1">
                <a:sym typeface="+mn-ea"/>
              </a:rPr>
              <a:t>小时，那么各连锁店的排班流程、打烊流程都将顺应调整。</a:t>
            </a:r>
            <a:endParaRPr lang="zh-CN" altLang="en-US" b="1"/>
          </a:p>
          <a:p>
            <a:pPr marL="0" indent="457200" fontAlgn="auto">
              <a:lnSpc>
                <a:spcPct val="150000"/>
              </a:lnSpc>
              <a:buNone/>
            </a:pPr>
            <a:r>
              <a:rPr lang="zh-CN" altLang="en-US" b="1">
                <a:sym typeface="+mn-ea"/>
              </a:rPr>
              <a:t>时代在变，技术在升级，</a:t>
            </a:r>
            <a:r>
              <a:rPr lang="zh-CN" altLang="en-US" b="1">
                <a:sym typeface="+mn-ea"/>
              </a:rPr>
              <a:t>竞争者</a:t>
            </a:r>
            <a:r>
              <a:rPr lang="zh-CN" altLang="en-US" b="1">
                <a:sym typeface="+mn-ea"/>
              </a:rPr>
              <a:t>在变，客户也在变，流程也将顺势而变。跟上一个时代最好的方法就是学习和迭代，引导一个时代最好的方式就是学习、思考与创造。</a:t>
            </a:r>
            <a:endParaRPr lang="zh-CN" altLang="en-US" b="1"/>
          </a:p>
        </p:txBody>
      </p:sp>
      <p:sp>
        <p:nvSpPr>
          <p:cNvPr id="4" name="灯片编号占位符 3"/>
          <p:cNvSpPr>
            <a:spLocks noGrp="1"/>
          </p:cNvSpPr>
          <p:nvPr>
            <p:ph type="sldNum" sz="quarter" idx="12"/>
          </p:nvPr>
        </p:nvSpPr>
        <p:spPr/>
        <p:txBody>
          <a:bodyPr/>
          <a:p>
            <a:fld id="{2B2480BF-4544-46C3-88FF-29CB4BD8896C}" type="slidenum">
              <a:rPr lang="zh-CN" altLang="en-US" smtClean="0"/>
            </a:fld>
            <a:endParaRPr lang="zh-CN"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029970" y="1013460"/>
            <a:ext cx="10401300" cy="5471160"/>
          </a:xfrm>
        </p:spPr>
        <p:txBody>
          <a:bodyPr>
            <a:noAutofit/>
          </a:bodyPr>
          <a:p>
            <a:pPr marL="0" indent="457200" fontAlgn="auto">
              <a:lnSpc>
                <a:spcPct val="150000"/>
              </a:lnSpc>
              <a:buNone/>
            </a:pPr>
            <a:r>
              <a:rPr lang="zh-CN" altLang="en-US" sz="3200" b="1">
                <a:solidFill>
                  <a:srgbClr val="00B050"/>
                </a:solidFill>
              </a:rPr>
              <a:t>如何让流程简单高效，落到实处</a:t>
            </a:r>
            <a:r>
              <a:rPr lang="en-US" altLang="zh-CN" sz="3200" b="1">
                <a:solidFill>
                  <a:srgbClr val="00B050"/>
                </a:solidFill>
              </a:rPr>
              <a:t>？</a:t>
            </a:r>
            <a:endParaRPr lang="en-US" altLang="zh-CN" sz="3200" b="1">
              <a:solidFill>
                <a:srgbClr val="00B050"/>
              </a:solidFill>
            </a:endParaRPr>
          </a:p>
          <a:p>
            <a:pPr marL="571500" indent="-571500" fontAlgn="auto">
              <a:lnSpc>
                <a:spcPct val="150000"/>
              </a:lnSpc>
              <a:buFont typeface="Wingdings" panose="05000000000000000000" charset="0"/>
              <a:buChar char="Ø"/>
            </a:pPr>
            <a:r>
              <a:rPr lang="zh-CN" altLang="en-US" sz="3200" b="1"/>
              <a:t>简化流程，减少不必要的环节；</a:t>
            </a:r>
            <a:endParaRPr lang="zh-CN" altLang="en-US" sz="3200" b="1"/>
          </a:p>
          <a:p>
            <a:pPr marL="571500" indent="-571500" fontAlgn="auto">
              <a:lnSpc>
                <a:spcPct val="150000"/>
              </a:lnSpc>
              <a:buFont typeface="Wingdings" panose="05000000000000000000" charset="0"/>
              <a:buChar char="Ø"/>
            </a:pPr>
            <a:r>
              <a:rPr lang="zh-CN" altLang="en-US" sz="3200" b="1"/>
              <a:t>只按流程做事，不按命令做事；</a:t>
            </a:r>
            <a:endParaRPr lang="zh-CN" altLang="en-US" sz="3200" b="1"/>
          </a:p>
          <a:p>
            <a:pPr marL="571500" indent="-571500" fontAlgn="auto">
              <a:lnSpc>
                <a:spcPct val="150000"/>
              </a:lnSpc>
              <a:buFont typeface="Wingdings" panose="05000000000000000000" charset="0"/>
              <a:buChar char="Ø"/>
            </a:pPr>
            <a:r>
              <a:rPr lang="zh-CN" altLang="en-US" sz="3200" b="1"/>
              <a:t>执行人直接负责，领导不过多干预。</a:t>
            </a:r>
            <a:endParaRPr lang="zh-CN" altLang="en-US" sz="3200" b="1"/>
          </a:p>
        </p:txBody>
      </p:sp>
      <p:sp>
        <p:nvSpPr>
          <p:cNvPr id="4" name="灯片编号占位符 3"/>
          <p:cNvSpPr>
            <a:spLocks noGrp="1"/>
          </p:cNvSpPr>
          <p:nvPr>
            <p:ph type="sldNum" sz="quarter" idx="12"/>
          </p:nvPr>
        </p:nvSpPr>
        <p:spPr/>
        <p:txBody>
          <a:bodyPr/>
          <a:p>
            <a:fld id="{2B2480BF-4544-46C3-88FF-29CB4BD8896C}" type="slidenum">
              <a:rPr lang="zh-CN" altLang="en-US" smtClean="0"/>
            </a:fld>
            <a:endParaRPr lang="zh-CN"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178560" y="997585"/>
            <a:ext cx="9875520" cy="5471160"/>
          </a:xfrm>
        </p:spPr>
        <p:txBody>
          <a:bodyPr>
            <a:noAutofit/>
          </a:bodyPr>
          <a:p>
            <a:pPr marL="0" indent="457200" fontAlgn="auto">
              <a:lnSpc>
                <a:spcPct val="150000"/>
              </a:lnSpc>
              <a:buNone/>
            </a:pPr>
            <a:r>
              <a:rPr lang="zh-CN" altLang="en-US" sz="2800" b="1">
                <a:solidFill>
                  <a:schemeClr val="tx1"/>
                </a:solidFill>
              </a:rPr>
              <a:t>总结：</a:t>
            </a:r>
            <a:endParaRPr lang="zh-CN" altLang="en-US" sz="2800" b="1">
              <a:solidFill>
                <a:schemeClr val="tx1"/>
              </a:solidFill>
            </a:endParaRPr>
          </a:p>
          <a:p>
            <a:pPr marL="0" indent="457200" fontAlgn="auto">
              <a:lnSpc>
                <a:spcPct val="150000"/>
              </a:lnSpc>
              <a:buNone/>
            </a:pPr>
            <a:r>
              <a:rPr lang="zh-CN" altLang="en-US" sz="2800" b="1">
                <a:solidFill>
                  <a:schemeClr val="tx1"/>
                </a:solidFill>
              </a:rPr>
              <a:t>人犹如珍珠，散布的珍珠如果想要增值，就得串在一起，而串起珍珠的那条线就是企业的流程</a:t>
            </a:r>
            <a:r>
              <a:rPr lang="en-US" altLang="zh-CN" sz="2800" b="1">
                <a:solidFill>
                  <a:schemeClr val="tx1"/>
                </a:solidFill>
              </a:rPr>
              <a:t>——</a:t>
            </a:r>
            <a:r>
              <a:rPr lang="zh-CN" altLang="en-US" sz="2800" b="1">
                <a:solidFill>
                  <a:srgbClr val="FF0000"/>
                </a:solidFill>
              </a:rPr>
              <a:t>《企业操作系统》</a:t>
            </a:r>
            <a:r>
              <a:rPr lang="zh-CN" altLang="en-US" sz="2800" b="1">
                <a:solidFill>
                  <a:schemeClr val="tx1"/>
                </a:solidFill>
              </a:rPr>
              <a:t>。</a:t>
            </a:r>
            <a:endParaRPr lang="zh-CN" altLang="en-US" sz="2800" b="1">
              <a:solidFill>
                <a:schemeClr val="tx1"/>
              </a:solidFill>
            </a:endParaRPr>
          </a:p>
          <a:p>
            <a:pPr marL="0" indent="457200" fontAlgn="auto">
              <a:lnSpc>
                <a:spcPct val="150000"/>
              </a:lnSpc>
              <a:buNone/>
            </a:pPr>
            <a:r>
              <a:rPr lang="zh-CN" altLang="en-US" sz="2800" b="1">
                <a:solidFill>
                  <a:schemeClr val="tx1"/>
                </a:solidFill>
              </a:rPr>
              <a:t>为什么同样一个人，在管理无序的企业作用不能发挥或者发挥不多，而换了一个管理有序的企业后，却能大展拳脚、大放异彩呢</a:t>
            </a:r>
            <a:r>
              <a:rPr lang="en-US" altLang="zh-CN" sz="2800" b="1">
                <a:solidFill>
                  <a:schemeClr val="tx1"/>
                </a:solidFill>
              </a:rPr>
              <a:t>？</a:t>
            </a:r>
            <a:r>
              <a:rPr lang="zh-CN" altLang="en-US" sz="2800" b="1">
                <a:solidFill>
                  <a:schemeClr val="tx1"/>
                </a:solidFill>
              </a:rPr>
              <a:t>不是人变了，而是流程变了。简洁高效的流程能让人才价值倍增。</a:t>
            </a:r>
            <a:endParaRPr lang="zh-CN" altLang="en-US" sz="2800" b="1">
              <a:solidFill>
                <a:schemeClr val="tx1"/>
              </a:solidFill>
            </a:endParaRPr>
          </a:p>
        </p:txBody>
      </p:sp>
      <p:sp>
        <p:nvSpPr>
          <p:cNvPr id="4" name="灯片编号占位符 3"/>
          <p:cNvSpPr>
            <a:spLocks noGrp="1"/>
          </p:cNvSpPr>
          <p:nvPr>
            <p:ph type="sldNum" sz="quarter" idx="12"/>
          </p:nvPr>
        </p:nvSpPr>
        <p:spPr/>
        <p:txBody>
          <a:bodyPr/>
          <a:p>
            <a:fld id="{2B2480BF-4544-46C3-88FF-29CB4BD8896C}" type="slidenum">
              <a:rPr lang="zh-CN" altLang="en-US" smtClean="0"/>
            </a:fld>
            <a:endParaRPr lang="zh-CN"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900430" y="314960"/>
            <a:ext cx="10634345" cy="869950"/>
          </a:xfrm>
        </p:spPr>
        <p:txBody>
          <a:bodyPr>
            <a:noAutofit/>
          </a:bodyPr>
          <a:p>
            <a:pPr marL="0" indent="457200" fontAlgn="auto">
              <a:lnSpc>
                <a:spcPct val="150000"/>
              </a:lnSpc>
              <a:buNone/>
            </a:pPr>
            <a:r>
              <a:rPr lang="zh-CN" altLang="en-US" sz="3200" b="1">
                <a:solidFill>
                  <a:srgbClr val="FF0000"/>
                </a:solidFill>
              </a:rPr>
              <a:t>复盘</a:t>
            </a:r>
            <a:r>
              <a:rPr lang="zh-CN" altLang="en-US" sz="3200" b="1">
                <a:solidFill>
                  <a:schemeClr val="tx1"/>
                </a:solidFill>
              </a:rPr>
              <a:t>：企业运行系统框架</a:t>
            </a:r>
            <a:endParaRPr lang="zh-CN" altLang="en-US" sz="3200" b="1">
              <a:solidFill>
                <a:schemeClr val="tx1"/>
              </a:solidFill>
            </a:endParaRPr>
          </a:p>
          <a:p>
            <a:pPr marL="0" indent="457200" fontAlgn="auto">
              <a:lnSpc>
                <a:spcPct val="150000"/>
              </a:lnSpc>
              <a:buNone/>
            </a:pPr>
            <a:endParaRPr lang="zh-CN" altLang="en-US" sz="3200" b="1">
              <a:solidFill>
                <a:schemeClr val="tx1"/>
              </a:solidFill>
            </a:endParaRPr>
          </a:p>
        </p:txBody>
      </p:sp>
      <p:sp>
        <p:nvSpPr>
          <p:cNvPr id="4" name="灯片编号占位符 3"/>
          <p:cNvSpPr>
            <a:spLocks noGrp="1"/>
          </p:cNvSpPr>
          <p:nvPr>
            <p:ph type="sldNum" sz="quarter" idx="12"/>
          </p:nvPr>
        </p:nvSpPr>
        <p:spPr/>
        <p:txBody>
          <a:bodyPr/>
          <a:p>
            <a:fld id="{2B2480BF-4544-46C3-88FF-29CB4BD8896C}" type="slidenum">
              <a:rPr lang="zh-CN" altLang="en-US" smtClean="0"/>
            </a:fld>
            <a:endParaRPr lang="zh-CN" altLang="en-US"/>
          </a:p>
        </p:txBody>
      </p:sp>
      <p:sp>
        <p:nvSpPr>
          <p:cNvPr id="2" name="内容占位符 2"/>
          <p:cNvSpPr>
            <a:spLocks noGrp="1"/>
          </p:cNvSpPr>
          <p:nvPr/>
        </p:nvSpPr>
        <p:spPr>
          <a:xfrm>
            <a:off x="6406515" y="4097020"/>
            <a:ext cx="4829175" cy="202057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fontAlgn="auto">
              <a:lnSpc>
                <a:spcPct val="150000"/>
              </a:lnSpc>
              <a:buNone/>
            </a:pPr>
            <a:r>
              <a:rPr lang="zh-CN" altLang="en-US" sz="3200" b="1">
                <a:solidFill>
                  <a:srgbClr val="FF0000"/>
                </a:solidFill>
              </a:rPr>
              <a:t>第二部分</a:t>
            </a:r>
            <a:r>
              <a:rPr lang="en-US" altLang="zh-CN" sz="3200" b="1">
                <a:solidFill>
                  <a:srgbClr val="FF0000"/>
                </a:solidFill>
              </a:rPr>
              <a:t>    </a:t>
            </a:r>
            <a:r>
              <a:rPr lang="zh-CN" altLang="en-US" sz="3200" b="1">
                <a:solidFill>
                  <a:srgbClr val="FF0000"/>
                </a:solidFill>
              </a:rPr>
              <a:t>管控系统</a:t>
            </a:r>
            <a:endParaRPr lang="zh-CN" altLang="en-US" sz="3200" b="1">
              <a:solidFill>
                <a:srgbClr val="FF0000"/>
              </a:solidFill>
            </a:endParaRPr>
          </a:p>
          <a:p>
            <a:pPr marL="0" indent="457200" fontAlgn="auto">
              <a:lnSpc>
                <a:spcPct val="150000"/>
              </a:lnSpc>
              <a:buNone/>
            </a:pPr>
            <a:r>
              <a:rPr lang="zh-CN" altLang="en-US" sz="3200" b="1">
                <a:solidFill>
                  <a:srgbClr val="FF0000"/>
                </a:solidFill>
              </a:rPr>
              <a:t>第三部分</a:t>
            </a:r>
            <a:r>
              <a:rPr lang="en-US" altLang="zh-CN" sz="3200" b="1">
                <a:solidFill>
                  <a:srgbClr val="FF0000"/>
                </a:solidFill>
              </a:rPr>
              <a:t>    </a:t>
            </a:r>
            <a:r>
              <a:rPr lang="zh-CN" altLang="en-US" sz="3200" b="1">
                <a:solidFill>
                  <a:srgbClr val="FF0000"/>
                </a:solidFill>
              </a:rPr>
              <a:t>应用系统</a:t>
            </a:r>
            <a:endParaRPr lang="zh-CN" altLang="en-US" sz="3200" b="1">
              <a:solidFill>
                <a:srgbClr val="FF0000"/>
              </a:solidFill>
            </a:endParaRPr>
          </a:p>
        </p:txBody>
      </p:sp>
      <p:sp>
        <p:nvSpPr>
          <p:cNvPr id="5" name="内容占位符 2"/>
          <p:cNvSpPr>
            <a:spLocks noGrp="1"/>
          </p:cNvSpPr>
          <p:nvPr/>
        </p:nvSpPr>
        <p:spPr>
          <a:xfrm>
            <a:off x="297180" y="3085465"/>
            <a:ext cx="2850515" cy="10115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ct val="100000"/>
              </a:lnSpc>
              <a:buNone/>
            </a:pPr>
            <a:r>
              <a:rPr lang="zh-CN" altLang="en-US" sz="3200" b="1">
                <a:solidFill>
                  <a:srgbClr val="FF0000"/>
                </a:solidFill>
              </a:rPr>
              <a:t>企业运行系统</a:t>
            </a:r>
            <a:endParaRPr lang="zh-CN" altLang="en-US" sz="3200" b="1">
              <a:solidFill>
                <a:srgbClr val="FF0000"/>
              </a:solidFill>
            </a:endParaRPr>
          </a:p>
        </p:txBody>
      </p:sp>
      <p:sp>
        <p:nvSpPr>
          <p:cNvPr id="7" name="内容占位符 2"/>
          <p:cNvSpPr>
            <a:spLocks noGrp="1"/>
          </p:cNvSpPr>
          <p:nvPr/>
        </p:nvSpPr>
        <p:spPr>
          <a:xfrm>
            <a:off x="3633470" y="1895475"/>
            <a:ext cx="2850515" cy="133540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ct val="100000"/>
              </a:lnSpc>
              <a:buNone/>
            </a:pPr>
            <a:r>
              <a:rPr lang="zh-CN" altLang="en-US" sz="3200" b="1">
                <a:solidFill>
                  <a:srgbClr val="00B050"/>
                </a:solidFill>
              </a:rPr>
              <a:t>操作系统构建</a:t>
            </a:r>
            <a:endParaRPr lang="zh-CN" altLang="en-US" sz="3200" b="1">
              <a:solidFill>
                <a:srgbClr val="00B050"/>
              </a:solidFill>
            </a:endParaRPr>
          </a:p>
        </p:txBody>
      </p:sp>
      <p:sp>
        <p:nvSpPr>
          <p:cNvPr id="8" name="内容占位符 2"/>
          <p:cNvSpPr>
            <a:spLocks noGrp="1"/>
          </p:cNvSpPr>
          <p:nvPr/>
        </p:nvSpPr>
        <p:spPr>
          <a:xfrm>
            <a:off x="3633470" y="4351655"/>
            <a:ext cx="2850515" cy="133540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ct val="100000"/>
              </a:lnSpc>
              <a:buNone/>
            </a:pPr>
            <a:r>
              <a:rPr lang="zh-CN" altLang="en-US" sz="3200" b="1">
                <a:solidFill>
                  <a:srgbClr val="FF0000"/>
                </a:solidFill>
              </a:rPr>
              <a:t>运行系统管理</a:t>
            </a:r>
            <a:endParaRPr lang="zh-CN" altLang="en-US" sz="3200" b="1">
              <a:solidFill>
                <a:srgbClr val="FF0000"/>
              </a:solidFill>
            </a:endParaRPr>
          </a:p>
          <a:p>
            <a:pPr marL="0" indent="0" algn="ctr" fontAlgn="auto">
              <a:lnSpc>
                <a:spcPct val="100000"/>
              </a:lnSpc>
              <a:buNone/>
            </a:pPr>
            <a:r>
              <a:rPr lang="zh-CN" altLang="en-US" sz="3200" b="1">
                <a:solidFill>
                  <a:srgbClr val="FF0000"/>
                </a:solidFill>
              </a:rPr>
              <a:t>与实施</a:t>
            </a:r>
            <a:endParaRPr lang="zh-CN" altLang="en-US" sz="3200" b="1">
              <a:solidFill>
                <a:srgbClr val="FF0000"/>
              </a:solidFill>
            </a:endParaRPr>
          </a:p>
        </p:txBody>
      </p:sp>
      <p:sp>
        <p:nvSpPr>
          <p:cNvPr id="9" name="内容占位符 2"/>
          <p:cNvSpPr>
            <a:spLocks noGrp="1"/>
          </p:cNvSpPr>
          <p:nvPr/>
        </p:nvSpPr>
        <p:spPr>
          <a:xfrm>
            <a:off x="6406515" y="1553210"/>
            <a:ext cx="4429125" cy="202057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fontAlgn="auto">
              <a:lnSpc>
                <a:spcPct val="100000"/>
              </a:lnSpc>
              <a:buNone/>
            </a:pPr>
            <a:r>
              <a:rPr lang="zh-CN" altLang="en-US" sz="3200" b="1">
                <a:solidFill>
                  <a:srgbClr val="00B050"/>
                </a:solidFill>
              </a:rPr>
              <a:t>第一部分</a:t>
            </a:r>
            <a:endParaRPr lang="zh-CN" altLang="en-US" sz="3200" b="1">
              <a:solidFill>
                <a:srgbClr val="00B050"/>
              </a:solidFill>
            </a:endParaRPr>
          </a:p>
          <a:p>
            <a:pPr marL="0" indent="457200" fontAlgn="auto">
              <a:lnSpc>
                <a:spcPct val="100000"/>
              </a:lnSpc>
              <a:buNone/>
            </a:pPr>
            <a:r>
              <a:rPr lang="zh-CN" altLang="en-US" sz="3200" b="1">
                <a:solidFill>
                  <a:srgbClr val="00B050"/>
                </a:solidFill>
                <a:sym typeface="+mn-ea"/>
              </a:rPr>
              <a:t>操作</a:t>
            </a:r>
            <a:r>
              <a:rPr lang="zh-CN" altLang="en-US" sz="3200" b="1">
                <a:solidFill>
                  <a:srgbClr val="00B050"/>
                </a:solidFill>
              </a:rPr>
              <a:t>系统</a:t>
            </a:r>
            <a:endParaRPr lang="zh-CN" altLang="en-US" sz="3200" b="1">
              <a:solidFill>
                <a:srgbClr val="00B050"/>
              </a:solidFill>
            </a:endParaRPr>
          </a:p>
        </p:txBody>
      </p:sp>
      <p:sp>
        <p:nvSpPr>
          <p:cNvPr id="11" name="左大括号 10"/>
          <p:cNvSpPr/>
          <p:nvPr/>
        </p:nvSpPr>
        <p:spPr>
          <a:xfrm>
            <a:off x="3271520" y="2303780"/>
            <a:ext cx="361950" cy="2326640"/>
          </a:xfrm>
          <a:prstGeom prst="leftBrace">
            <a:avLst/>
          </a:prstGeom>
          <a:ln w="3810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2" name="左大括号 11"/>
          <p:cNvSpPr/>
          <p:nvPr/>
        </p:nvSpPr>
        <p:spPr>
          <a:xfrm>
            <a:off x="6483985" y="4629785"/>
            <a:ext cx="361950" cy="880745"/>
          </a:xfrm>
          <a:prstGeom prst="leftBrace">
            <a:avLst/>
          </a:prstGeom>
          <a:ln w="3810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左大括号 12"/>
          <p:cNvSpPr/>
          <p:nvPr/>
        </p:nvSpPr>
        <p:spPr>
          <a:xfrm>
            <a:off x="6483985" y="1708150"/>
            <a:ext cx="361950" cy="880745"/>
          </a:xfrm>
          <a:prstGeom prst="leftBrace">
            <a:avLst/>
          </a:prstGeom>
          <a:ln w="38100">
            <a:solidFill>
              <a:srgbClr val="00B05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76918" y="2438400"/>
            <a:ext cx="4956175" cy="1371600"/>
          </a:xfrm>
        </p:spPr>
        <p:txBody>
          <a:bodyPr>
            <a:noAutofit/>
          </a:bodyPr>
          <a:lstStyle/>
          <a:p>
            <a:pPr algn="l">
              <a:buClrTx/>
              <a:buSzTx/>
              <a:buFontTx/>
            </a:pPr>
            <a:r>
              <a:rPr lang="zh-CN" altLang="en-US" sz="6600" b="1" dirty="0" smtClean="0"/>
              <a:t>谢谢</a:t>
            </a:r>
            <a:r>
              <a:rPr lang="en-US" altLang="zh-CN" sz="6600" b="1" dirty="0" smtClean="0"/>
              <a:t> </a:t>
            </a:r>
            <a:r>
              <a:rPr lang="zh-CN" altLang="en-US" sz="6600" b="1" dirty="0" smtClean="0"/>
              <a:t>！</a:t>
            </a:r>
            <a:r>
              <a:rPr lang="en-US" altLang="zh-CN" sz="6600" b="1" dirty="0" smtClean="0"/>
              <a:t> Thanks</a:t>
            </a:r>
            <a:r>
              <a:rPr lang="zh-CN" altLang="en-US" sz="6600" b="1" dirty="0" smtClean="0"/>
              <a:t>!</a:t>
            </a:r>
            <a:endParaRPr lang="zh-CN" altLang="en-US" sz="6600" b="1" dirty="0" smtClean="0"/>
          </a:p>
        </p:txBody>
      </p:sp>
      <p:sp>
        <p:nvSpPr>
          <p:cNvPr id="3" name="灯片编号占位符 2"/>
          <p:cNvSpPr>
            <a:spLocks noGrp="1"/>
          </p:cNvSpPr>
          <p:nvPr>
            <p:ph type="sldNum" sz="quarter" idx="12"/>
          </p:nvPr>
        </p:nvSpPr>
        <p:spPr/>
        <p:txBody>
          <a:bodyPr/>
          <a:p>
            <a:fld id="{F38DF745-7D3F-47F4-83A3-874385CFAA69}" type="slidenum">
              <a:rPr lang="en-US" smtClean="0"/>
            </a:fld>
            <a:endParaRPr lang="en-US"/>
          </a:p>
        </p:txBody>
      </p:sp>
    </p:spTree>
  </p:cSld>
  <p:clrMapOvr>
    <a:masterClrMapping/>
  </p:clrMapOvr>
  <p:transition>
    <p:fade/>
  </p:transition>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TABLE_ENDDRAG_ORIGIN_RECT" val="784*388"/>
  <p:tag name="TABLE_ENDDRAG_RECT" val="104*98*784*388"/>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TABLE_ENDDRAG_ORIGIN_RECT" val="666*405"/>
  <p:tag name="TABLE_ENDDRAG_RECT" val="221*78*666*405"/>
</p:tagLst>
</file>

<file path=ppt/tags/tag6.xml><?xml version="1.0" encoding="utf-8"?>
<p:tagLst xmlns:p="http://schemas.openxmlformats.org/presentationml/2006/main">
  <p:tag name="TABLE_ENDDRAG_ORIGIN_RECT" val="669*375"/>
  <p:tag name="TABLE_ENDDRAG_RECT" val="219*79*669*375"/>
</p:tagLst>
</file>

<file path=ppt/tags/tag7.xml><?xml version="1.0" encoding="utf-8"?>
<p:tagLst xmlns:p="http://schemas.openxmlformats.org/presentationml/2006/main">
  <p:tag name="resource_record_key" val="{&quot;29&quot;:[50000049,5000007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9130</Words>
  <Application>WPS 演示</Application>
  <PresentationFormat>宽屏</PresentationFormat>
  <Paragraphs>821</Paragraphs>
  <Slides>85</Slides>
  <Notes>250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85</vt:i4>
      </vt:variant>
    </vt:vector>
  </HeadingPairs>
  <TitlesOfParts>
    <vt:vector size="99" baseType="lpstr">
      <vt:lpstr>Arial</vt:lpstr>
      <vt:lpstr>宋体</vt:lpstr>
      <vt:lpstr>Wingdings</vt:lpstr>
      <vt:lpstr>微软雅黑</vt:lpstr>
      <vt:lpstr>等线</vt:lpstr>
      <vt:lpstr>Arial Unicode MS</vt:lpstr>
      <vt:lpstr>Wingdings</vt:lpstr>
      <vt:lpstr>汉仪雅酷黑简</vt:lpstr>
      <vt:lpstr>方正公文小标宋</vt:lpstr>
      <vt:lpstr>方正公文黑体</vt:lpstr>
      <vt:lpstr>汉仪黑方简</vt:lpstr>
      <vt:lpstr>Office 主题​​</vt:lpstr>
      <vt:lpstr>EdrawMax.EdrawDocument.1</vt:lpstr>
      <vt:lpstr>EdrawMax.EdrawDocument.1</vt:lpstr>
      <vt:lpstr>PowerPoint 演示文稿</vt:lpstr>
      <vt:lpstr>PowerPoint 演示文稿</vt:lpstr>
      <vt:lpstr>PowerPoint 演示文稿</vt:lpstr>
      <vt:lpstr>PowerPoint 演示文稿</vt:lpstr>
      <vt:lpstr>PowerPoint 演示文稿</vt:lpstr>
      <vt:lpstr>运行系统组成</vt:lpstr>
      <vt:lpstr>运行系统模块</vt:lpstr>
      <vt:lpstr>运行系统标准</vt:lpstr>
      <vt:lpstr>课程内容</vt:lpstr>
      <vt:lpstr>一、认识操作系统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运行系统模块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一级流程示例：营销业务流程</vt:lpstr>
      <vt:lpstr>PowerPoint 演示文稿</vt:lpstr>
      <vt:lpstr>PowerPoint 演示文稿</vt:lpstr>
      <vt:lpstr>PowerPoint 演示文稿</vt:lpstr>
      <vt:lpstr>PowerPoint 演示文稿</vt:lpstr>
      <vt:lpstr>PowerPoint 演示文稿</vt:lpstr>
      <vt:lpstr>PowerPoint 演示文稿</vt:lpstr>
      <vt:lpstr>二级流程示例：线索管理</vt:lpstr>
      <vt:lpstr>二级流程示例：线索管理</vt:lpstr>
      <vt:lpstr>二级流程示例：线索管理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 ！ 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文娅 李</dc:creator>
  <cp:lastModifiedBy>姚霖</cp:lastModifiedBy>
  <cp:revision>663</cp:revision>
  <dcterms:created xsi:type="dcterms:W3CDTF">2024-08-29T03:46:00Z</dcterms:created>
  <dcterms:modified xsi:type="dcterms:W3CDTF">2026-01-07T07:01:09Z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1E58BEE3D563496F8585B2703378D456_12</vt:lpwstr>
  </property>
  <property fmtid="{D5CDD505-2E9C-101B-9397-08002B2CF9AE}" pid="3" name="KSOProductBuildVer">
    <vt:lpwstr>2052-12.1.0.24034</vt:lpwstr>
  </property>
</Properties>
</file>