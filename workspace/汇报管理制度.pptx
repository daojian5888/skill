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27432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4572000"/>
            <a:ext cx="1371600" cy="13716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FFFFFF"/>
                </a:solidFill>
              </a:rPr>
              <a:t>汇报管理制度培训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A90D9"/>
                </a:solidFill>
              </a:rPr>
              <a:t>打造高效执行力团队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道简网络 | 2026年3月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E3A5F"/>
                </a:solidFill>
              </a:rPr>
              <a:t>为什么要做汇报？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51760" cy="1371600"/>
          </a:xfrm>
          <a:prstGeom prst="roundRect">
            <a:avLst/>
          </a:prstGeom>
          <a:solidFill>
            <a:srgbClr val="F5F5F5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63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3A5F"/>
                </a:solidFill>
              </a:rPr>
              <a:t>记录工作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留下痕迹，证明付出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91840" y="1188720"/>
            <a:ext cx="2651760" cy="1371600"/>
          </a:xfrm>
          <a:prstGeom prst="roundRect">
            <a:avLst/>
          </a:prstGeom>
          <a:solidFill>
            <a:srgbClr val="F5F5F5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0" y="1463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3A5F"/>
                </a:solidFill>
              </a:rPr>
              <a:t>梳理思路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474720" y="20116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写的过程是思考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1188720"/>
            <a:ext cx="2651760" cy="1371600"/>
          </a:xfrm>
          <a:prstGeom prst="roundRect">
            <a:avLst/>
          </a:prstGeom>
          <a:solidFill>
            <a:srgbClr val="F5F5F5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0" y="1463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3A5F"/>
                </a:solidFill>
              </a:rPr>
              <a:t>发现问题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309360" y="20116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对比计划与完成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2651760" cy="1371600"/>
          </a:xfrm>
          <a:prstGeom prst="roundRect">
            <a:avLst/>
          </a:prstGeom>
          <a:solidFill>
            <a:srgbClr val="F5F5F5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1089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3A5F"/>
                </a:solidFill>
              </a:rPr>
              <a:t>积累经验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0080" y="3657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把经历变能力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2834640"/>
            <a:ext cx="2651760" cy="1371600"/>
          </a:xfrm>
          <a:prstGeom prst="roundRect">
            <a:avLst/>
          </a:prstGeom>
          <a:solidFill>
            <a:srgbClr val="F5F5F5"/>
          </a:solidFill>
          <a:ln/>
        </p:spPr>
      </p:sp>
      <p:sp>
        <p:nvSpPr>
          <p:cNvPr id="16" name="Text 14"/>
          <p:cNvSpPr/>
          <p:nvPr/>
        </p:nvSpPr>
        <p:spPr>
          <a:xfrm>
            <a:off x="3474720" y="31089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3A5F"/>
                </a:solidFill>
              </a:rPr>
              <a:t>获得指导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474720" y="3657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领导是免费导师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26480" y="2834640"/>
            <a:ext cx="2651760" cy="1371600"/>
          </a:xfrm>
          <a:prstGeom prst="roundRect">
            <a:avLst/>
          </a:prstGeom>
          <a:solidFill>
            <a:srgbClr val="F5F5F5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31089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3A5F"/>
                </a:solidFill>
              </a:rPr>
              <a:t>加速成长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309360" y="3657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反思中进步更快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754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A623"/>
                </a:solidFill>
              </a:rPr>
              <a:t>汇报不是任务，而是习惯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E3A5F"/>
                </a:solidFill>
              </a:rPr>
              <a:t>汇报管理三大系统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371600" y="1371600"/>
            <a:ext cx="5486400" cy="1005840"/>
          </a:xfrm>
          <a:prstGeom prst="roundRect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1554480" y="14630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DJOS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554480" y="1828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操作系统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0" y="16916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教员工怎么干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840480" y="23774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E3A5F"/>
                </a:solidFill>
              </a:rPr>
              <a:t>↓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371600" y="2560320"/>
            <a:ext cx="5486400" cy="1005840"/>
          </a:xfrm>
          <a:prstGeom prst="roundRect">
            <a:avLst/>
          </a:prstGeom>
          <a:solidFill>
            <a:srgbClr val="1E3A5F"/>
          </a:solidFill>
          <a:ln/>
        </p:spPr>
      </p:sp>
      <p:sp>
        <p:nvSpPr>
          <p:cNvPr id="9" name="Text 7"/>
          <p:cNvSpPr/>
          <p:nvPr/>
        </p:nvSpPr>
        <p:spPr>
          <a:xfrm>
            <a:off x="1554480" y="26517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DJMS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554480" y="3017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管控系统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0" y="28803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教管理者怎么管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840480" y="3566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E3A5F"/>
                </a:solidFill>
              </a:rPr>
              <a:t>↓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371600" y="3749040"/>
            <a:ext cx="5486400" cy="1005840"/>
          </a:xfrm>
          <a:prstGeom prst="roundRect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1554480" y="38404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DJAS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554480" y="4206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应用系统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0" y="40690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给员工用什么工具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E3A5F"/>
                </a:solidFill>
              </a:rPr>
              <a:t>汇报管理闭环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1645920" cy="914400"/>
          </a:xfrm>
          <a:prstGeom prst="roundRect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459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填写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80160" y="24688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E3A5F"/>
                </a:solidFill>
              </a:rPr>
              <a:t>↓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834640"/>
            <a:ext cx="1645920" cy="914400"/>
          </a:xfrm>
          <a:prstGeom prst="roundRect">
            <a:avLst/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0175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计划对比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834640" y="1463040"/>
            <a:ext cx="1645920" cy="914400"/>
          </a:xfrm>
          <a:prstGeom prst="roundRect">
            <a:avLst/>
          </a:prstGeom>
          <a:solidFill>
            <a:srgbClr val="4A90D9"/>
          </a:solidFill>
          <a:ln/>
        </p:spPr>
      </p:sp>
      <p:sp>
        <p:nvSpPr>
          <p:cNvPr id="9" name="Text 7"/>
          <p:cNvSpPr/>
          <p:nvPr/>
        </p:nvSpPr>
        <p:spPr>
          <a:xfrm>
            <a:off x="2834640" y="16459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点评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383280" y="24688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E3A5F"/>
                </a:solidFill>
              </a:rPr>
              <a:t>↓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834640" y="2834640"/>
            <a:ext cx="1645920" cy="914400"/>
          </a:xfrm>
          <a:prstGeom prst="roundRect">
            <a:avLst/>
          </a:prstGeom>
          <a:solidFill>
            <a:srgbClr val="1E3A5F"/>
          </a:solidFill>
          <a:ln/>
        </p:spPr>
      </p:sp>
      <p:sp>
        <p:nvSpPr>
          <p:cNvPr id="12" name="Text 10"/>
          <p:cNvSpPr/>
          <p:nvPr/>
        </p:nvSpPr>
        <p:spPr>
          <a:xfrm>
            <a:off x="2834640" y="30175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反馈建议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937760" y="1463040"/>
            <a:ext cx="1645920" cy="914400"/>
          </a:xfrm>
          <a:prstGeom prst="roundRect">
            <a:avLst/>
          </a:prstGeom>
          <a:solidFill>
            <a:srgbClr val="4A90D9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16459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评分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486400" y="24688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E3A5F"/>
                </a:solidFill>
              </a:rPr>
              <a:t>↓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937760" y="2834640"/>
            <a:ext cx="1645920" cy="914400"/>
          </a:xfrm>
          <a:prstGeom prst="roundRect">
            <a:avLst/>
          </a:prstGeom>
          <a:solidFill>
            <a:srgbClr val="1E3A5F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30175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考核评估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040880" y="1463040"/>
            <a:ext cx="1645920" cy="914400"/>
          </a:xfrm>
          <a:prstGeom prst="roundRect">
            <a:avLst/>
          </a:prstGeom>
          <a:solidFill>
            <a:srgbClr val="4A90D9"/>
          </a:solidFill>
          <a:ln/>
        </p:spPr>
      </p:sp>
      <p:sp>
        <p:nvSpPr>
          <p:cNvPr id="19" name="Text 17"/>
          <p:cNvSpPr/>
          <p:nvPr/>
        </p:nvSpPr>
        <p:spPr>
          <a:xfrm>
            <a:off x="7040880" y="16459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汇总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589520" y="24688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E3A5F"/>
                </a:solidFill>
              </a:rPr>
              <a:t>↓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7040880" y="2834640"/>
            <a:ext cx="1645920" cy="914400"/>
          </a:xfrm>
          <a:prstGeom prst="roundRect">
            <a:avLst/>
          </a:prstGeom>
          <a:solidFill>
            <a:srgbClr val="1E3A5F"/>
          </a:solidFill>
          <a:ln/>
        </p:spPr>
      </p:sp>
      <p:sp>
        <p:nvSpPr>
          <p:cNvPr id="22" name="Text 20"/>
          <p:cNvSpPr/>
          <p:nvPr/>
        </p:nvSpPr>
        <p:spPr>
          <a:xfrm>
            <a:off x="7040880" y="30175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决策支持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E3A5F"/>
                </a:solidFill>
              </a:rPr>
              <a:t>日报四大板块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868680"/>
          </a:xfrm>
          <a:prstGeom prst="roundRect">
            <a:avLst/>
          </a:prstGeom>
          <a:solidFill>
            <a:srgbClr val="F5F5F5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5A623"/>
                </a:solidFill>
              </a:rPr>
              <a:t>01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371600" y="1234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3A5F"/>
                </a:solidFill>
              </a:rPr>
              <a:t>今日总结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15544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清晰罗列工作事项，明确完成情况及成果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8229600" cy="868680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2860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5A623"/>
                </a:solidFill>
              </a:rPr>
              <a:t>02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371600" y="2240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3A5F"/>
                </a:solidFill>
              </a:rPr>
              <a:t>经验沉淀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25603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提炼方法、心得、解决思路，突出实用性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108960"/>
            <a:ext cx="8229600" cy="868680"/>
          </a:xfrm>
          <a:prstGeom prst="roundRect">
            <a:avLst/>
          </a:prstGeom>
          <a:solidFill>
            <a:srgbClr val="F5F5F5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2918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5A623"/>
                </a:solidFill>
              </a:rPr>
              <a:t>03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371600" y="3246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3A5F"/>
                </a:solidFill>
              </a:rPr>
              <a:t>明日计划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600" y="35661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明确核心工作，标注目标与时限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4114800"/>
            <a:ext cx="8229600" cy="868680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2976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5A623"/>
                </a:solidFill>
              </a:rPr>
              <a:t>04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371600" y="4251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3A5F"/>
                </a:solidFill>
              </a:rPr>
              <a:t>需要帮助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71600" y="45720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列出需协调支持的事项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E3A5F"/>
                </a:solidFill>
              </a:rPr>
              <a:t>经验沉淀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3A5F"/>
                </a:solidFill>
              </a:rPr>
              <a:t>五大维度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280160" cy="502920"/>
          </a:xfrm>
          <a:prstGeom prst="roundRect">
            <a:avLst/>
          </a:prstGeom>
          <a:solidFill>
            <a:srgbClr val="4A90D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002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成单经验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828800" y="1463040"/>
            <a:ext cx="1280160" cy="502920"/>
          </a:xfrm>
          <a:prstGeom prst="roundRect">
            <a:avLst/>
          </a:prstGeom>
          <a:solidFill>
            <a:srgbClr val="4A90D9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0" y="16002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踩坑教训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463040"/>
            <a:ext cx="1280160" cy="502920"/>
          </a:xfrm>
          <a:prstGeom prst="roundRect">
            <a:avLst/>
          </a:prstGeom>
          <a:solidFill>
            <a:srgbClr val="4A90D9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0" y="16002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技巧分享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103120"/>
            <a:ext cx="1280160" cy="502920"/>
          </a:xfrm>
          <a:prstGeom prst="roundRect">
            <a:avLst/>
          </a:prstGeom>
          <a:solidFill>
            <a:srgbClr val="4A90D9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2402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行业洞察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828800" y="2103120"/>
            <a:ext cx="1280160" cy="502920"/>
          </a:xfrm>
          <a:prstGeom prst="roundRect">
            <a:avLst/>
          </a:prstGeom>
          <a:solidFill>
            <a:srgbClr val="4A90D9"/>
          </a:solidFill>
          <a:ln/>
        </p:spPr>
      </p:sp>
      <p:sp>
        <p:nvSpPr>
          <p:cNvPr id="13" name="Text 11"/>
          <p:cNvSpPr/>
          <p:nvPr/>
        </p:nvSpPr>
        <p:spPr>
          <a:xfrm>
            <a:off x="1828800" y="22402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产品心得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0" y="10058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3A5F"/>
                </a:solidFill>
              </a:rPr>
              <a:t>写作技巧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029200" y="1463040"/>
            <a:ext cx="3657600" cy="2011680"/>
          </a:xfrm>
          <a:prstGeom prst="roundRect">
            <a:avLst/>
          </a:prstGeom>
          <a:solidFill>
            <a:srgbClr val="F5F5F5"/>
          </a:solidFill>
          <a:ln/>
        </p:spPr>
      </p:sp>
      <p:sp>
        <p:nvSpPr>
          <p:cNvPr id="16" name="Text 14"/>
          <p:cNvSpPr/>
          <p:nvPr/>
        </p:nvSpPr>
        <p:spPr>
          <a:xfrm>
            <a:off x="5212080" y="16002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具体化：不要写要细心，而是写发现问题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212080" y="21488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可操作：不要写要加强学习，而是写每天30分钟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212080" y="2697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有反思：不仅写成功，还要写如果重来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E3A5F"/>
                </a:solidFill>
              </a:rPr>
              <a:t>明日计划 - SMART原则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554480" cy="2011680"/>
          </a:xfrm>
          <a:prstGeom prst="roundRect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</a:rPr>
              <a:t>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具体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5603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明确具体动作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94560" y="1188720"/>
            <a:ext cx="1554480" cy="2011680"/>
          </a:xfrm>
          <a:prstGeom prst="roundRect">
            <a:avLst/>
          </a:prstGeom>
          <a:solidFill>
            <a:srgbClr val="4A90D9"/>
          </a:solidFill>
          <a:ln/>
        </p:spPr>
      </p:sp>
      <p:sp>
        <p:nvSpPr>
          <p:cNvPr id="8" name="Text 6"/>
          <p:cNvSpPr/>
          <p:nvPr/>
        </p:nvSpPr>
        <p:spPr>
          <a:xfrm>
            <a:off x="2194560" y="137160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</a:rPr>
              <a:t>M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194560" y="20116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可衡量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286000" y="25603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有量化标准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931920" y="1188720"/>
            <a:ext cx="1554480" cy="2011680"/>
          </a:xfrm>
          <a:prstGeom prst="roundRect">
            <a:avLst/>
          </a:prstGeom>
          <a:solidFill>
            <a:srgbClr val="4A90D9"/>
          </a:solidFill>
          <a:ln/>
        </p:spPr>
      </p:sp>
      <p:sp>
        <p:nvSpPr>
          <p:cNvPr id="12" name="Text 10"/>
          <p:cNvSpPr/>
          <p:nvPr/>
        </p:nvSpPr>
        <p:spPr>
          <a:xfrm>
            <a:off x="3931920" y="137160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</a:rPr>
              <a:t>A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931920" y="20116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可达成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023360" y="25603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合理可实现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69280" y="1188720"/>
            <a:ext cx="1554480" cy="2011680"/>
          </a:xfrm>
          <a:prstGeom prst="roundRect">
            <a:avLst/>
          </a:prstGeom>
          <a:solidFill>
            <a:srgbClr val="4A90D9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0" y="137160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</a:rPr>
              <a:t>R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5669280" y="20116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相关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760720" y="25603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与目标相关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406640" y="1188720"/>
            <a:ext cx="1554480" cy="2011680"/>
          </a:xfrm>
          <a:prstGeom prst="roundRect">
            <a:avLst/>
          </a:prstGeom>
          <a:solidFill>
            <a:srgbClr val="4A90D9"/>
          </a:solidFill>
          <a:ln/>
        </p:spPr>
      </p:sp>
      <p:sp>
        <p:nvSpPr>
          <p:cNvPr id="20" name="Text 18"/>
          <p:cNvSpPr/>
          <p:nvPr/>
        </p:nvSpPr>
        <p:spPr>
          <a:xfrm>
            <a:off x="7406640" y="137160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</a:rPr>
              <a:t>T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7406640" y="20116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有时限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498080" y="25603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明确时间节点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474720"/>
          <a:ext cx="8229600" cy="109728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36576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类型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数量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说明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核心工作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2-3项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必须完成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常规工作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3-5项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日常事务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临时安排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视情况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突发任务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E3A5F"/>
                </a:solidFill>
              </a:rPr>
              <a:t>点评四原则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1554480"/>
          </a:xfrm>
          <a:prstGeom prst="roundRect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鼓励与鞭策各50%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肯定成绩的同时指出不足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846320" y="1097280"/>
            <a:ext cx="4114800" cy="1554480"/>
          </a:xfrm>
          <a:prstGeom prst="roundRect">
            <a:avLst/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5120640" y="13716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以事实为依据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120640" y="20116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引用原文，有据可查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4114800" cy="1554480"/>
          </a:xfrm>
          <a:prstGeom prst="round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2004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建设性为主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31520" y="3840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提出具体改进建议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846320" y="2926080"/>
            <a:ext cx="4114800" cy="1554480"/>
          </a:xfrm>
          <a:prstGeom prst="roundRect">
            <a:avLst/>
          </a:prstGeom>
          <a:solidFill>
            <a:srgbClr val="4A90D9"/>
          </a:solidFill>
          <a:ln/>
        </p:spPr>
      </p:sp>
      <p:sp>
        <p:nvSpPr>
          <p:cNvPr id="13" name="Text 11"/>
          <p:cNvSpPr/>
          <p:nvPr/>
        </p:nvSpPr>
        <p:spPr>
          <a:xfrm>
            <a:off x="5120640" y="32004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及时反馈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120640" y="3840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当日或次日完成点评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E3A5F"/>
                </a:solidFill>
              </a:rPr>
              <a:t>评分标准（满分100分）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1828800"/>
        </p:xfrm>
        <a:graphic>
          <a:graphicData uri="http://schemas.openxmlformats.org/drawingml/2006/table">
            <a:tbl>
              <a:tblPr/>
              <a:tblGrid>
                <a:gridCol w="2286000"/>
                <a:gridCol w="1371600"/>
                <a:gridCol w="45720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评分项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分值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评分标准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计划完成度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30分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对比明日计划与今日完成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经验沉淀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20分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有深度思考、有可复用价值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计划质量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20分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具体动作+预期结果+时间安排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汇报质量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30分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内容完整、条理清晰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32004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3A5F"/>
                </a:solidFill>
              </a:rPr>
              <a:t>评分周期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457200" y="3749040"/>
            <a:ext cx="1463040" cy="457200"/>
          </a:xfrm>
          <a:prstGeom prst="roundRect">
            <a:avLst/>
          </a:prstGeom>
          <a:solidFill>
            <a:srgbClr val="F5A623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38404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日评分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103120" y="3749040"/>
            <a:ext cx="1463040" cy="457200"/>
          </a:xfrm>
          <a:prstGeom prst="roundRect">
            <a:avLst/>
          </a:prstGeom>
          <a:solidFill>
            <a:srgbClr val="4A90D9"/>
          </a:solidFill>
          <a:ln/>
        </p:spPr>
      </p:sp>
      <p:sp>
        <p:nvSpPr>
          <p:cNvPr id="8" name="Text 5"/>
          <p:cNvSpPr/>
          <p:nvPr/>
        </p:nvSpPr>
        <p:spPr>
          <a:xfrm>
            <a:off x="2103120" y="38404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周评分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749040" y="3749040"/>
            <a:ext cx="1463040" cy="457200"/>
          </a:xfrm>
          <a:prstGeom prst="roundRect">
            <a:avLst/>
          </a:prstGeom>
          <a:solidFill>
            <a:srgbClr val="4A90D9"/>
          </a:solidFill>
          <a:ln/>
        </p:spPr>
      </p:sp>
      <p:sp>
        <p:nvSpPr>
          <p:cNvPr id="10" name="Text 7"/>
          <p:cNvSpPr/>
          <p:nvPr/>
        </p:nvSpPr>
        <p:spPr>
          <a:xfrm>
            <a:off x="3749040" y="38404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月评分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394960" y="3749040"/>
            <a:ext cx="1463040" cy="457200"/>
          </a:xfrm>
          <a:prstGeom prst="roundRect">
            <a:avLst/>
          </a:prstGeom>
          <a:solidFill>
            <a:srgbClr val="4A90D9"/>
          </a:solidFill>
          <a:ln/>
        </p:spPr>
      </p:sp>
      <p:sp>
        <p:nvSpPr>
          <p:cNvPr id="12" name="Text 9"/>
          <p:cNvSpPr/>
          <p:nvPr/>
        </p:nvSpPr>
        <p:spPr>
          <a:xfrm>
            <a:off x="5394960" y="38404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季评分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040880" y="3749040"/>
            <a:ext cx="1463040" cy="457200"/>
          </a:xfrm>
          <a:prstGeom prst="roundRect">
            <a:avLst/>
          </a:prstGeom>
          <a:solidFill>
            <a:srgbClr val="4A90D9"/>
          </a:solidFill>
          <a:ln/>
        </p:spPr>
      </p:sp>
      <p:sp>
        <p:nvSpPr>
          <p:cNvPr id="14" name="Text 11"/>
          <p:cNvSpPr/>
          <p:nvPr/>
        </p:nvSpPr>
        <p:spPr>
          <a:xfrm>
            <a:off x="7040880" y="38404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年评分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日评分 → 周评分 → 月评分 → 季评分 → 年评分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E3A5F"/>
                </a:solidFill>
              </a:rPr>
              <a:t>外勤管理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3A5F"/>
                </a:solidFill>
              </a:rPr>
              <a:t>有效外勤标准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657600" cy="548640"/>
          </a:xfrm>
          <a:prstGeom prst="roundRect">
            <a:avLst/>
          </a:prstGeom>
          <a:solidFill>
            <a:srgbClr val="F5F5F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544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✓ 地理位置精确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3657600" cy="548640"/>
          </a:xfrm>
          <a:prstGeom prst="roundRect">
            <a:avLst/>
          </a:prstGeom>
          <a:solidFill>
            <a:srgbClr val="F5F5F5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1945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✓ 现场照片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743200"/>
            <a:ext cx="3657600" cy="548640"/>
          </a:xfrm>
          <a:prstGeom prst="roundRect">
            <a:avLst/>
          </a:prstGeom>
          <a:solidFill>
            <a:srgbClr val="F5F5F5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8346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✓ 客户联系人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383280"/>
            <a:ext cx="3657600" cy="548640"/>
          </a:xfrm>
          <a:prstGeom prst="roundRect">
            <a:avLst/>
          </a:prstGeom>
          <a:solidFill>
            <a:srgbClr val="F5F5F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4747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✓ 沟通记录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10058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3A5F"/>
                </a:solidFill>
              </a:rPr>
              <a:t>外勤考核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029200" y="1463040"/>
            <a:ext cx="3657600" cy="2286000"/>
          </a:xfrm>
          <a:prstGeom prst="roundRect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18288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50次/月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029200" y="23774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= 1000元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029200" y="2926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按实际次数比例计算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E3A5F"/>
                </a:solidFill>
              </a:rPr>
              <a:t>晨会与夕会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3200400"/>
          </a:xfrm>
          <a:prstGeom prst="roundRect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晨会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9:00</a:t>
            </a:r>
            <a:endParaRPr lang="en-US" sz="1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286000"/>
          <a:ext cx="3566160" cy="1097280"/>
        </p:xfrm>
        <a:graphic>
          <a:graphicData uri="http://schemas.openxmlformats.org/drawingml/2006/table">
            <a:tbl>
              <a:tblPr/>
              <a:tblGrid>
                <a:gridCol w="1783080"/>
                <a:gridCol w="17830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签到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2分钟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计划汇报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8分钟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主管总结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5分钟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38404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参加：销售顾问 | 15分钟内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54880" y="1097280"/>
            <a:ext cx="3931920" cy="3200400"/>
          </a:xfrm>
          <a:prstGeom prst="roundRect">
            <a:avLst/>
          </a:prstGeom>
          <a:solidFill>
            <a:srgbClr val="1E3A5F"/>
          </a:solidFill>
          <a:ln/>
        </p:spPr>
      </p:sp>
      <p:sp>
        <p:nvSpPr>
          <p:cNvPr id="9" name="Text 6"/>
          <p:cNvSpPr/>
          <p:nvPr/>
        </p:nvSpPr>
        <p:spPr>
          <a:xfrm>
            <a:off x="4754880" y="12801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夕会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4754880" y="18288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17:00</a:t>
            </a:r>
            <a:endParaRPr lang="en-US" sz="16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2286000"/>
          <a:ext cx="3566160" cy="1097280"/>
        </p:xfrm>
        <a:graphic>
          <a:graphicData uri="http://schemas.openxmlformats.org/drawingml/2006/table">
            <a:tbl>
              <a:tblPr/>
              <a:tblGrid>
                <a:gridCol w="1783080"/>
                <a:gridCol w="17830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今日复盘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10分钟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问题讨论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5分钟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主管点评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5分钟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4754880" y="38404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参加：销售顾问 | 20分钟内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E3A5F"/>
                </a:solidFill>
              </a:rPr>
              <a:t>汇报管理核心原则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114800" cy="914400"/>
          </a:xfrm>
          <a:prstGeom prst="roundRect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真实性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103120" y="12801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实事求是，不夸大不缩小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846320" y="1005840"/>
            <a:ext cx="4114800" cy="914400"/>
          </a:xfrm>
          <a:prstGeom prst="roundRect">
            <a:avLst/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5120640" y="11887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及时性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92240" y="12801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当日事当日毕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103120"/>
            <a:ext cx="4114800" cy="914400"/>
          </a:xfrm>
          <a:prstGeom prst="roundRect">
            <a:avLst/>
          </a:prstGeom>
          <a:solidFill>
            <a:srgbClr val="4A90D9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2860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完整性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103120" y="23774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四大板块都要填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46320" y="2103120"/>
            <a:ext cx="4114800" cy="914400"/>
          </a:xfrm>
          <a:prstGeom prst="roundRect">
            <a:avLst/>
          </a:prstGeom>
          <a:solidFill>
            <a:srgbClr val="1E3A5F"/>
          </a:solidFill>
          <a:ln/>
        </p:spPr>
      </p:sp>
      <p:sp>
        <p:nvSpPr>
          <p:cNvPr id="13" name="Text 11"/>
          <p:cNvSpPr/>
          <p:nvPr/>
        </p:nvSpPr>
        <p:spPr>
          <a:xfrm>
            <a:off x="5120640" y="22860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思考性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92240" y="23774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用脑思考，不写流水账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474720"/>
            <a:ext cx="4114800" cy="914400"/>
          </a:xfrm>
          <a:prstGeom prst="roundRect">
            <a:avLst/>
          </a:prstGeom>
          <a:solidFill>
            <a:srgbClr val="F5A623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6576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闭环性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103120" y="37490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有计划有结果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4754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A623"/>
                </a:solidFill>
              </a:rPr>
              <a:t>从今天开始，认真对待每一次汇报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FFFFFF"/>
                </a:solidFill>
              </a:rPr>
              <a:t>感谢聆听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90D9"/>
                </a:solidFill>
              </a:rPr>
              <a:t>汇报好了，工作就好了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4A90D9"/>
                </a:solidFill>
              </a:rPr>
              <a:t>工作好了，回报就来了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4A90D9"/>
                </a:solidFill>
              </a:rPr>
              <a:t>回报来了，人生就好了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5A623"/>
                </a:solidFill>
              </a:rPr>
              <a:t>Q&amp;A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2026-03-18T14:43:41Z</dcterms:created>
  <dcterms:modified xsi:type="dcterms:W3CDTF">2026-03-18T14:43:41Z</dcterms:modified>
</cp:coreProperties>
</file>